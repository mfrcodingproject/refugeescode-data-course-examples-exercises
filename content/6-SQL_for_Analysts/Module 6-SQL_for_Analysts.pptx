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</p:sldIdLst>
  <p:sldSz cy="5143500" cx="9144000"/>
  <p:notesSz cx="6858000" cy="9144000"/>
  <p:embeddedFontLst>
    <p:embeddedFont>
      <p:font typeface="Maven Pro"/>
      <p:regular r:id="rId152"/>
      <p:bold r:id="rId1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153" Type="http://schemas.openxmlformats.org/officeDocument/2006/relationships/font" Target="fonts/MavenPro-bold.fntdata"/><Relationship Id="rId152" Type="http://schemas.openxmlformats.org/officeDocument/2006/relationships/font" Target="fonts/MavenPro-regular.fntdata"/><Relationship Id="rId151" Type="http://schemas.openxmlformats.org/officeDocument/2006/relationships/slide" Target="slides/slide14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71d826d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71d826d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1d826d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1d826d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7fe8cb09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7fe8cb09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7fe8cb09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7fe8cb09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7fe8cb09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7fe8cb09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7fe8cb09d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7fe8cb09d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7fe8cb09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7fe8cb09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7fe8cb09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7fe8cb09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7fe8cb09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7fe8cb09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7fe8cb09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7fe8cb09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7fe8cb09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7fe8cb09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7fe8cb09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7fe8cb09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7fe8cb09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7fe8cb09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28f9d26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28f9d26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7fe8cb09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7fe8cb09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7fe8cb09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7fe8cb09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7fe8cb09d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7fe8cb09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7fe8cb09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7fe8cb09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7fe8cb09d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7fe8cb09d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7fe8cb09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7fe8cb09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5854b897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5854b897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5854b897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5854b897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71d826d3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71d826d3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7fe8cb09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7fe8cb09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7fe8cb09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7fe8cb09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7fe8cb09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7fe8cb09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7fe8cb09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7fe8cb09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71d826d3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71d826d3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7fe8cb09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7fe8cb09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7fe8cb09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7fe8cb09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5854b897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5854b897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5854b897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5854b897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7fe8cb09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7fe8cb09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5854b89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5854b89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7fe8cb09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7fe8cb09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7fe8cb09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7fe8cb09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7fe8cb09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7fe8cb09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7fe8cb09d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7fe8cb09d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7fe8cb09d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7fe8cb09d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7fe8cb09d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7fe8cb09d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7fe8cb09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7fe8cb09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7fe8cb09d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7fe8cb09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5854b897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5854b897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7fe8cb09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c7fe8cb09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71d826d3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71d826d3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7fe8cb09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c7fe8cb09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7fe8cb09d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c7fe8cb09d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7fe8cb09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c7fe8cb0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7fe8cb09d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c7fe8cb09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7fe8cb09d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7fe8cb09d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7fe8cb09d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c7fe8cb09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7fe8cb09d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c7fe8cb09d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7fe8cb09d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c7fe8cb09d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5854b897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95854b897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7fe8cb09d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c7fe8cb09d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414f1af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9414f1af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414f1af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414f1af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7fe8cb09d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c7fe8cb09d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c7fe8cb09d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c7fe8cb09d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7fe8cb09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c7fe8cb09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5854b897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95854b897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9414f1afc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9414f1af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9414f1afc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9414f1afc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414f1afc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9414f1afc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9414f1afc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9414f1afc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9414f1afc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9414f1afc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414f1afca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9414f1afc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414f1afca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9414f1afca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9414f1afc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9414f1afc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9414f1afca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9414f1afca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95854b897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95854b897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9414f1afca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9414f1afca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414f1afca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9414f1afca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414f1afca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9414f1afca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414f1afca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414f1afca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9414f1afca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9414f1afca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9414f1afca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9414f1afca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9414f1afca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9414f1afca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9414f1afca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9414f1afca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9414f1afca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9414f1afca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9414f1afca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9414f1afca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9414f1afca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9414f1afca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9414f1afca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9414f1afc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9414f1afca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9414f1afc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9414f1afca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9414f1afca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414f1afc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9414f1afc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9414f1afca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9414f1afc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9414f1afca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9414f1afca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9414f1afca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9414f1afca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9414f1afca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9414f1afca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9414f1afca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9414f1afca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9414f1afca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9414f1afca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9414f1afca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9414f1afca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9414f1afc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9414f1afc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c7fe8cb09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c7fe8cb0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9414f1afc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9414f1afc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9414f1afca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9414f1afc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9414f1afca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9414f1afc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9414f1afc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9414f1afc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9414f1afca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9414f1afca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9414f1afca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9414f1afca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9414f1afca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9414f1afca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9414f1afc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9414f1afc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9414f1afca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9414f1afca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95854b897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95854b897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9414f1afc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9414f1afc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95854b897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95854b897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95854b897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95854b897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95854b897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95854b897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95854b897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95854b897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9414f1afc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9414f1afc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9414f1afc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9414f1afc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95854b897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95854b897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5854b897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95854b897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95854b897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95854b897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9414f1afc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9414f1afc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95854b897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95854b897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95854b897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95854b897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95854b897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95854b897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95854b897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95854b897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9414f1afc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9414f1afc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9414f1afc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9414f1afc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c7fe8cb09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c7fe8cb09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9414f1afc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9414f1afc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ca15b8bd33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ca15b8bd3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ca15b8bd33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ca15b8bd33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ca15b8bd33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ca15b8bd33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ca15b8bd3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ca15b8bd3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ca15b8bd33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ca15b8bd33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9414f1afc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9414f1afc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ca15b8bd33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ca15b8bd33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ca15b8bd33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ca15b8bd33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9414f1afc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9414f1afc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ca15b8bd33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ca15b8bd33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9414f1afca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9414f1afca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ca15b8bd33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ca15b8bd33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ca15b8bd33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ca15b8bd33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a15b8bd33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a15b8bd33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9414f1afc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9414f1afc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ca15b8bd33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ca15b8bd33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9414f1afc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9414f1afc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ca15b8bd33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ca15b8bd33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9414f1afc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9414f1afc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c7fe8cb09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c7fe8cb09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9414f1afc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9414f1afc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c7fe8cb09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c7fe8cb09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Font typeface="Maven Pro"/>
              <a:buChar char="●"/>
              <a:defRPr>
                <a:latin typeface="Maven Pro"/>
                <a:ea typeface="Maven Pro"/>
                <a:cs typeface="Maven Pro"/>
                <a:sym typeface="Maven Pro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○"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Maven Pro"/>
              <a:buChar char="■"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○"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■"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○"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■"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43434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B383EC"/>
              </a:buClr>
              <a:buSzPts val="3000"/>
              <a:buFont typeface="Maven Pro"/>
              <a:buNone/>
              <a:defRPr sz="3000">
                <a:solidFill>
                  <a:srgbClr val="B383EC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100"/>
              <a:buFont typeface="Maven Pro"/>
              <a:buChar char="●"/>
              <a:defRPr sz="2100"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Maven Pro"/>
              <a:buChar char="○"/>
              <a:defRPr sz="1800"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Font typeface="Maven Pro"/>
              <a:buChar char="■"/>
              <a:defRPr sz="1600"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Maven Pro"/>
              <a:buChar char="●"/>
              <a:defRPr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Maven Pro"/>
              <a:buChar char="○"/>
              <a:defRPr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Maven Pro"/>
              <a:buChar char="■"/>
              <a:defRPr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Maven Pro"/>
              <a:buChar char="●"/>
              <a:defRPr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Maven Pro"/>
              <a:buChar char="○"/>
              <a:defRPr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Maven Pro"/>
              <a:buChar char="■"/>
              <a:defRPr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db-fiddle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teamkaliyona/vtu-dbms-lab/blob/main/DBMS-04-College%20Database/College-Create%20Table%20Scripts.sql" TargetMode="External"/><Relationship Id="rId4" Type="http://schemas.openxmlformats.org/officeDocument/2006/relationships/hyperlink" Target="https://github.com/teamkaliyona/vtu-dbms-lab/blob/main/DBMS-04-College%20Database/College-Insert%20Scripts.sql" TargetMode="External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w3schools.com/sql/sql_exercises.asp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sqlbolt.com/lesson/filtering_sorting_query_results" TargetMode="External"/><Relationship Id="rId4" Type="http://schemas.openxmlformats.org/officeDocument/2006/relationships/hyperlink" Target="https://sqlzoo.net/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hyperlink" Target="https://www.thedataschool.co.uk/le-luu/sql-joins/" TargetMode="Externa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hyperlink" Target="https://www.codechef.com/learn/course/sql-intermediate/SQ00BS01/problems/ASQL01D" TargetMode="Externa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hyperlink" Target="https://www.codechef.com/learn/course/sql-intermediate/SQ00BS01/problems/ASQL01D" TargetMode="Externa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hyperlink" Target="https://www.codecademy.com/resources/docs/sql/window-functions" TargetMode="Externa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hyperlink" Target="https://www.codechef.com/learn/course/sql-intermediate/SQ00BS01/problems/ASQL01D" TargetMode="Externa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6-SQL_for_Analysts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1: Intro to SQL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SQL?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= Structured query language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SQL is a programming language used for storing and processing information in a relational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relational database?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relational database contains at least two tables.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tables have rows and columns, like a table in excel.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table has 1 or more primary keys, which are columns of values that can be used to identify specific rows in the dataset.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tables are related to each other, and can be joined based on the primary keys.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Database Example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a store has two tables: Sales and Products.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Sales contains the information about sales, including time, date, payment method, and product_id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Products contains information about the products, including price, weight, description, and product_id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Sales and Products tables can be joined on the product_id key.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A Relational Database?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the example of the store with sales and products.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Imagine they only had one table, where they kept track of sales and information about the product sold.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would be the problem with this?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A Relational Database?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means that for every single sale made, they have to add a row to the table not only of the sale information, but also including all the product details, since they do not have any other table with the product details saved.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Imagine the store has a total of 10 products, but makes 1000s of sales daily.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would be repetitive and would also waste a lot of storage space.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practice as we learn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going to practice queries online.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First, go to this website: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https://www.db-fiddle.com/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practice as we learn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674200" cy="16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add the schema in order to run queries.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 to these two links and copy and paste the code into the left side of the db-fiddle page. Do not run it yet.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https://github.com/teamkaliyona/vtu-dbms-lab/blob/main/DBMS-04-College%20Database/College-Create%20Table%20Scripts.sql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https://github.com/teamkaliyona/vtu-dbms-lab/blob/main/DBMS-04-College%20Database/College-Insert%20Scripts.sql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1375" y="3082000"/>
            <a:ext cx="5169350" cy="19554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" name="Google Shape;104;p21"/>
          <p:cNvSpPr/>
          <p:nvPr/>
        </p:nvSpPr>
        <p:spPr>
          <a:xfrm>
            <a:off x="3173000" y="3210575"/>
            <a:ext cx="2466000" cy="1221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practice as we learn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the database in the left corner to sqlite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50" y="1607928"/>
            <a:ext cx="283595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practice as we learn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all lines that begin with DESC (ex: DESC STUDENT;)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practice as we learn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click run. You will find it on the top left of the page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05926"/>
            <a:ext cx="8069899" cy="133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4"/>
          <p:cNvSpPr/>
          <p:nvPr/>
        </p:nvSpPr>
        <p:spPr>
          <a:xfrm>
            <a:off x="2350975" y="1895350"/>
            <a:ext cx="610800" cy="4227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practice as we learn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Important: Do not delete the code on the left side of db-fiddle.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tables are not actually saved on the website, so if you delete the create table and insert statements, there will be no tables to query.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&amp; FROM are the building blocks of all SQL queries.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tells SQL which columns you want to view.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tells SQL which table you want to work with.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Does anyone know what a basic SELECT + FROM statement looks like?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we want to view the columns </a:t>
            </a:r>
            <a:r>
              <a:rPr lang="en"/>
              <a:t>sname and address from the student table.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would we do that?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the columns sname and address from the student table: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sname, address FROM student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 this statement into the right side of db-fiddle.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Click run in the top left of the page to run the statement and check your work. 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925" y="3269300"/>
            <a:ext cx="6801450" cy="16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/>
          <p:nvPr/>
        </p:nvSpPr>
        <p:spPr>
          <a:xfrm>
            <a:off x="6789900" y="3727275"/>
            <a:ext cx="2042400" cy="446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if we want to view all the columns from the student table? How would we do that?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want to view all the columns from the student table? How would we do that?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SELECT * FROM student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want to view the column sname, but we want to call it first_name. How would we do that?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want to view the column sname, but we want to call it first_name. How would we do that?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SELECT sname </a:t>
            </a:r>
            <a:r>
              <a:rPr lang="en">
                <a:highlight>
                  <a:srgbClr val="674EA7"/>
                </a:highlight>
              </a:rPr>
              <a:t>as</a:t>
            </a:r>
            <a:r>
              <a:rPr lang="en"/>
              <a:t> first_name FROM student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 is very important if you have a large dataset.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LIMIT sets the maximum number of rows that will be displayed from your query.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Always put LIMIT on the last line of the query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</a:t>
            </a:r>
            <a:endParaRPr/>
          </a:p>
        </p:txBody>
      </p:sp>
      <p:sp>
        <p:nvSpPr>
          <p:cNvPr id="187" name="Google Shape;18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display 2 rows from the student table: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student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LIMIT 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</a:t>
            </a:r>
            <a:endParaRPr/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SELECT and FROM, WHERE is one of the most common SQL commands.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is the purpose of WHERE?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</a:t>
            </a:r>
            <a:endParaRPr/>
          </a:p>
        </p:txBody>
      </p:sp>
      <p:sp>
        <p:nvSpPr>
          <p:cNvPr id="199" name="Google Shape;19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is a filter.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Imagine you want to view all </a:t>
            </a:r>
            <a:r>
              <a:rPr lang="en"/>
              <a:t>columns from the subject table, but only view the rows which have 3 credits. How would you do that?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</a:t>
            </a:r>
            <a:endParaRPr/>
          </a:p>
        </p:txBody>
      </p:sp>
      <p:sp>
        <p:nvSpPr>
          <p:cNvPr id="205" name="Google Shape;20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subject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 credits =3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</a:t>
            </a:r>
            <a:endParaRPr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imagine you want to view the title and sem (rename the column as semester) from the subject table, but only view the rows which have semester of 4 or more.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would you do that?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</a:t>
            </a:r>
            <a:endParaRPr/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title, sem AS semester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subject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 sem &gt;=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</a:t>
            </a:r>
            <a:endParaRPr/>
          </a:p>
        </p:txBody>
      </p:sp>
      <p:sp>
        <p:nvSpPr>
          <p:cNvPr id="223" name="Google Shape;22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 tells SQL the order you want to use to view rows.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ORDER BY can take a column, or a list of columns.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</a:t>
            </a:r>
            <a:endParaRPr/>
          </a:p>
        </p:txBody>
      </p:sp>
      <p:sp>
        <p:nvSpPr>
          <p:cNvPr id="229" name="Google Shape;22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want to see the student table, with the names ordered alphabetically.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would you do that?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</a:t>
            </a:r>
            <a:endParaRPr/>
          </a:p>
        </p:txBody>
      </p:sp>
      <p:sp>
        <p:nvSpPr>
          <p:cNvPr id="235" name="Google Shape;23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want to see the student table, with the names ordered alphabetically. How would you do that?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*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student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ORDER BY sname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</a:t>
            </a:r>
            <a:endParaRPr/>
          </a:p>
        </p:txBody>
      </p:sp>
      <p:sp>
        <p:nvSpPr>
          <p:cNvPr id="241" name="Google Shape;24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you want to see the names alphabetically, but from z to 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do you need to add to the query?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</a:t>
            </a:r>
            <a:endParaRPr/>
          </a:p>
        </p:txBody>
      </p:sp>
      <p:sp>
        <p:nvSpPr>
          <p:cNvPr id="247" name="Google Shape;24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you want to see the names alphabetically, but from z to 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do you need to add to the query? DESC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*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student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ORDER BY sname </a:t>
            </a:r>
            <a:r>
              <a:rPr lang="en">
                <a:solidFill>
                  <a:srgbClr val="B383EC"/>
                </a:solidFill>
              </a:rPr>
              <a:t>DESC</a:t>
            </a:r>
            <a:endParaRPr>
              <a:solidFill>
                <a:srgbClr val="B383EC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</a:t>
            </a:r>
            <a:endParaRPr/>
          </a:p>
        </p:txBody>
      </p:sp>
      <p:sp>
        <p:nvSpPr>
          <p:cNvPr id="253" name="Google Shape;25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you want to see the iamarks table ordered by both test1 and test2, with test1 the priority order.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would you do that?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</a:t>
            </a:r>
            <a:endParaRPr/>
          </a:p>
        </p:txBody>
      </p:sp>
      <p:sp>
        <p:nvSpPr>
          <p:cNvPr id="259" name="Google Shape;259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you want to see the iamarks table ordered by both test1 and test2, with test1 the priority order.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would you do that?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*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iamarks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ORDER BY test1, test2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</a:t>
            </a:r>
            <a:endParaRPr/>
          </a:p>
        </p:txBody>
      </p:sp>
      <p:sp>
        <p:nvSpPr>
          <p:cNvPr id="265" name="Google Shape;265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 can take the column name, or it can take the number in the order in the select statement.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So, these two statements are the same: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sname, </a:t>
            </a:r>
            <a:r>
              <a:rPr lang="en"/>
              <a:t>address</a:t>
            </a:r>
            <a:r>
              <a:rPr lang="en"/>
              <a:t> from student order by sname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sname, address from student order by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wanted to order by address using the number notation, what would the </a:t>
            </a:r>
            <a:r>
              <a:rPr lang="en"/>
              <a:t>statement</a:t>
            </a:r>
            <a:r>
              <a:rPr lang="en"/>
              <a:t> be?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</a:t>
            </a:r>
            <a:endParaRPr/>
          </a:p>
        </p:txBody>
      </p:sp>
      <p:sp>
        <p:nvSpPr>
          <p:cNvPr id="271" name="Google Shape;27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wanted to order by address using the number notation, what would the statement be?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Select sname, address from student order by 2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COUNT, MIN, MAX, AVG</a:t>
            </a:r>
            <a:endParaRPr/>
          </a:p>
        </p:txBody>
      </p:sp>
      <p:sp>
        <p:nvSpPr>
          <p:cNvPr id="277" name="Google Shape;27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commands are placed within the select statement, in order to count values, or to find the minimum, maximum, or average value.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would we find the count of total rows in the student table?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COUNT, MIN, MAX, AVG</a:t>
            </a:r>
            <a:endParaRPr/>
          </a:p>
        </p:txBody>
      </p:sp>
      <p:sp>
        <p:nvSpPr>
          <p:cNvPr id="283" name="Google Shape;28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would we find the count of total rows in the student table?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COUNT(*) AS total_rows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FROM student.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COUNT, MIN, MAX, AVG</a:t>
            </a:r>
            <a:endParaRPr/>
          </a:p>
        </p:txBody>
      </p:sp>
      <p:sp>
        <p:nvSpPr>
          <p:cNvPr id="289" name="Google Shape;28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would we find the count of unique addresses in the student table?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COUNT, MIN, MAX, AVG</a:t>
            </a:r>
            <a:endParaRPr/>
          </a:p>
        </p:txBody>
      </p:sp>
      <p:sp>
        <p:nvSpPr>
          <p:cNvPr id="295" name="Google Shape;29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we find the count of unique addresses in the student table? Using </a:t>
            </a:r>
            <a:r>
              <a:rPr b="1" lang="en"/>
              <a:t>DISTINCT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COUNT (</a:t>
            </a:r>
            <a:r>
              <a:rPr lang="en">
                <a:highlight>
                  <a:srgbClr val="674EA7"/>
                </a:highlight>
              </a:rPr>
              <a:t>DISTINCT</a:t>
            </a:r>
            <a:r>
              <a:rPr lang="en"/>
              <a:t> address)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FROM student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COUNT, MIN, MAX, AVG</a:t>
            </a:r>
            <a:endParaRPr/>
          </a:p>
        </p:txBody>
      </p:sp>
      <p:sp>
        <p:nvSpPr>
          <p:cNvPr id="301" name="Google Shape;30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would we find the maximum semester in the subject table?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MAX(sem) AS top_semester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FROM subject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COUNT, MIN, MAX, AVG</a:t>
            </a:r>
            <a:endParaRPr/>
          </a:p>
        </p:txBody>
      </p:sp>
      <p:sp>
        <p:nvSpPr>
          <p:cNvPr id="307" name="Google Shape;30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the </a:t>
            </a:r>
            <a:r>
              <a:rPr lang="en"/>
              <a:t>minimum</a:t>
            </a:r>
            <a:r>
              <a:rPr lang="en"/>
              <a:t> or average semester?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COUNT, MIN, MAX, AVG</a:t>
            </a:r>
            <a:endParaRPr/>
          </a:p>
        </p:txBody>
      </p:sp>
      <p:sp>
        <p:nvSpPr>
          <p:cNvPr id="313" name="Google Shape;31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the minimum or average semester?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MIN(sem) AS top_semester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subject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AVG(sem) AS top_semester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subject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1 Review</a:t>
            </a:r>
            <a:endParaRPr/>
          </a:p>
        </p:txBody>
      </p:sp>
      <p:sp>
        <p:nvSpPr>
          <p:cNvPr id="319" name="Google Shape;31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relevant topics from this list of quizzes: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https://www.w3schools.com/sql/sql_exercises.asp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325" name="Google Shape;32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https://sqlbolt.com/lesson/filtering_sorting_query_results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https://sqlzoo.net/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Homework</a:t>
            </a:r>
            <a:endParaRPr/>
          </a:p>
        </p:txBody>
      </p:sp>
      <p:sp>
        <p:nvSpPr>
          <p:cNvPr id="331" name="Google Shape;33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Complete 3 SQL SELECT exercises from Mode tutorial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9"/>
          <p:cNvSpPr txBox="1"/>
          <p:nvPr>
            <p:ph type="title"/>
          </p:nvPr>
        </p:nvSpPr>
        <p:spPr>
          <a:xfrm>
            <a:off x="1587675" y="1754425"/>
            <a:ext cx="5848200" cy="12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BY, aggregations, and calculations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2</a:t>
            </a:r>
            <a:endParaRPr/>
          </a:p>
        </p:txBody>
      </p:sp>
      <p:sp>
        <p:nvSpPr>
          <p:cNvPr id="342" name="Google Shape;342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e. RESOURCES: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i. SQL Aggregation Functions Reference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ii. Practice SQL Aggregation Queries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Homework</a:t>
            </a:r>
            <a:endParaRPr/>
          </a:p>
        </p:txBody>
      </p:sp>
      <p:sp>
        <p:nvSpPr>
          <p:cNvPr id="348" name="Google Shape;348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and run some of our queries.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354" name="Google Shape;354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 groups one or more sets of data and calculates the aggregate based on the group or groups defined in the GROUP BY statement.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will make more </a:t>
            </a:r>
            <a:r>
              <a:rPr lang="en"/>
              <a:t>sense with an example.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360" name="Google Shape;360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want to view the total count of students names for each address. How would you do it?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366" name="Google Shape;366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want to view the total count of students names for each address. How would you do it?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</a:t>
            </a:r>
            <a:r>
              <a:rPr lang="en"/>
              <a:t>address,</a:t>
            </a:r>
            <a:r>
              <a:rPr lang="en"/>
              <a:t> COUNT(sname) from student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 BY address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372" name="Google Shape;372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GROUP BY, you can find the count, max, min, and other aggregations.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 sure you aggregate all the data which is not being used by the group by. If not, you will usually get an error. (but in db-fiddle, it does not cause an error).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would you fix the query below?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gender, COUNT(DISTINCT sname), address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student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GROUP BY gender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378" name="Google Shape;378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you fix the query below?</a:t>
            </a:r>
            <a:endParaRPr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Remove ,address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gender, COUNT(DISTINCT sname)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student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GROUP BY gender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384" name="Google Shape;384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group by more than one value, and can show aggregations of more than one value too.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MAX(phone), MIN(phone), SUM</a:t>
            </a:r>
            <a:r>
              <a:rPr lang="en"/>
              <a:t>(phone), COUNT(DISTINCT</a:t>
            </a:r>
            <a:r>
              <a:rPr lang="en"/>
              <a:t> sname), address, gender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student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GROUP BY address, gender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Aggregations</a:t>
            </a:r>
            <a:endParaRPr/>
          </a:p>
        </p:txBody>
      </p:sp>
      <p:sp>
        <p:nvSpPr>
          <p:cNvPr id="390" name="Google Shape;390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are the aggregations you can do after a group by?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Aggregations</a:t>
            </a:r>
            <a:endParaRPr/>
          </a:p>
        </p:txBody>
      </p:sp>
      <p:sp>
        <p:nvSpPr>
          <p:cNvPr id="396" name="Google Shape;396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aggregations you can do after a group by?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Count, sum, avg, min, max, count distinct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Note: You can also run these aggregations on a single column, like this: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MAX(date)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FROM sales_data_table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and Customers Datasets</a:t>
            </a:r>
            <a:endParaRPr/>
          </a:p>
        </p:txBody>
      </p:sp>
      <p:sp>
        <p:nvSpPr>
          <p:cNvPr id="402" name="Google Shape;402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a few minutes and explore them using SQL and find some insights.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Share what you found with your classmates.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408" name="Google Shape;408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Write 2 GROUP BY queries on mock dataset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3</a:t>
            </a:r>
            <a:endParaRPr/>
          </a:p>
        </p:txBody>
      </p:sp>
      <p:sp>
        <p:nvSpPr>
          <p:cNvPr id="414" name="Google Shape;414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 Theory (Short summary)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i. JOINs: INNER, LEFT, RIGHT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c. Main things (Objectives)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i. Combine tables using SQL joins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ii. Write JOIN queries across 2–3 tables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d. For next day (Homework)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i. Join tables in a mock eCommerce database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e. RESOURCES: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i. SQL JOIN Cheatsheet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ii. JOIN Practice Exercises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3"/>
          <p:cNvSpPr txBox="1"/>
          <p:nvPr>
            <p:ph type="title"/>
          </p:nvPr>
        </p:nvSpPr>
        <p:spPr>
          <a:xfrm>
            <a:off x="311700" y="1695700"/>
            <a:ext cx="8520600" cy="15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11"/>
              <a:t>JOINS</a:t>
            </a:r>
            <a:endParaRPr sz="271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Homework</a:t>
            </a:r>
            <a:endParaRPr/>
          </a:p>
        </p:txBody>
      </p:sp>
      <p:sp>
        <p:nvSpPr>
          <p:cNvPr id="425" name="Google Shape;425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Review the queries we made for homework.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</a:t>
            </a:r>
            <a:endParaRPr/>
          </a:p>
        </p:txBody>
      </p:sp>
      <p:sp>
        <p:nvSpPr>
          <p:cNvPr id="431" name="Google Shape;431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type of joins exist in SQL?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</a:t>
            </a:r>
            <a:endParaRPr/>
          </a:p>
        </p:txBody>
      </p:sp>
      <p:sp>
        <p:nvSpPr>
          <p:cNvPr id="437" name="Google Shape;437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type of joins exist in SQL?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Inner, left, outer, and right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right joins are almost never used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joins</a:t>
            </a:r>
            <a:endParaRPr/>
          </a:p>
        </p:txBody>
      </p:sp>
      <p:sp>
        <p:nvSpPr>
          <p:cNvPr id="443" name="Google Shape;443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the purpose of joins?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joins</a:t>
            </a:r>
            <a:endParaRPr/>
          </a:p>
        </p:txBody>
      </p:sp>
      <p:sp>
        <p:nvSpPr>
          <p:cNvPr id="449" name="Google Shape;449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purpose of joins?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Join two or more tables in order to discover insights about the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</a:t>
            </a:r>
            <a:endParaRPr/>
          </a:p>
        </p:txBody>
      </p:sp>
      <p:sp>
        <p:nvSpPr>
          <p:cNvPr id="455" name="Google Shape;455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about joining two tables. What do you need in order to join tables?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Think about this 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have a table of customer names, ids, and addresses, could you join it with a table of recipe titles, main ingredients, and cooking times?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</a:t>
            </a:r>
            <a:endParaRPr/>
          </a:p>
        </p:txBody>
      </p:sp>
      <p:sp>
        <p:nvSpPr>
          <p:cNvPr id="461" name="Google Shape;461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want to join two tables, what do they both need?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</a:t>
            </a:r>
            <a:endParaRPr/>
          </a:p>
        </p:txBody>
      </p:sp>
      <p:sp>
        <p:nvSpPr>
          <p:cNvPr id="467" name="Google Shape;467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join tables, there must be a column with shared values in both tables.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column with an identifying value is called a primary key. A primary key could be, for example, a unique id.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/>
              <a:t>foreign</a:t>
            </a:r>
            <a:r>
              <a:rPr lang="en"/>
              <a:t> key is a primary key placed in another table, for example, product_id is the primary key in the product table, and the foreign key in the sales table.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Often, tables are joined on primary and foreign keys, although they can be joined on other columns too. 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Join</a:t>
            </a:r>
            <a:endParaRPr/>
          </a:p>
        </p:txBody>
      </p:sp>
      <p:sp>
        <p:nvSpPr>
          <p:cNvPr id="473" name="Google Shape;473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an inner join?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Join</a:t>
            </a:r>
            <a:endParaRPr/>
          </a:p>
        </p:txBody>
      </p:sp>
      <p:sp>
        <p:nvSpPr>
          <p:cNvPr id="479" name="Google Shape;479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inner join?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Join only the values that are in both tables.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Join</a:t>
            </a:r>
            <a:endParaRPr/>
          </a:p>
        </p:txBody>
      </p:sp>
      <p:sp>
        <p:nvSpPr>
          <p:cNvPr id="485" name="Google Shape;485;p84"/>
          <p:cNvSpPr txBox="1"/>
          <p:nvPr>
            <p:ph idx="1" type="body"/>
          </p:nvPr>
        </p:nvSpPr>
        <p:spPr>
          <a:xfrm>
            <a:off x="311700" y="1152475"/>
            <a:ext cx="263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Which countryIDs (ID in the right </a:t>
            </a:r>
            <a:r>
              <a:rPr lang="en"/>
              <a:t>table</a:t>
            </a:r>
            <a:r>
              <a:rPr lang="en"/>
              <a:t>) will be in the inner join merged table?</a:t>
            </a:r>
            <a:r>
              <a:rPr lang="en"/>
              <a:t> </a:t>
            </a:r>
            <a:endParaRPr/>
          </a:p>
        </p:txBody>
      </p:sp>
      <p:pic>
        <p:nvPicPr>
          <p:cNvPr id="486" name="Google Shape;486;p84"/>
          <p:cNvPicPr preferRelativeResize="0"/>
          <p:nvPr/>
        </p:nvPicPr>
        <p:blipFill rotWithShape="1">
          <a:blip r:embed="rId3">
            <a:alphaModFix/>
          </a:blip>
          <a:srcRect b="19238" l="0" r="0" t="0"/>
          <a:stretch/>
        </p:blipFill>
        <p:spPr>
          <a:xfrm>
            <a:off x="2949900" y="1017725"/>
            <a:ext cx="6023125" cy="3204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Join</a:t>
            </a:r>
            <a:endParaRPr/>
          </a:p>
        </p:txBody>
      </p:sp>
      <p:sp>
        <p:nvSpPr>
          <p:cNvPr id="492" name="Google Shape;492;p85"/>
          <p:cNvSpPr txBox="1"/>
          <p:nvPr>
            <p:ph idx="1" type="body"/>
          </p:nvPr>
        </p:nvSpPr>
        <p:spPr>
          <a:xfrm>
            <a:off x="311700" y="1152475"/>
            <a:ext cx="294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you join two tables using an inner join, the resulting table will have only rows in which the join key value is in both tables. </a:t>
            </a:r>
            <a:endParaRPr/>
          </a:p>
        </p:txBody>
      </p:sp>
      <p:pic>
        <p:nvPicPr>
          <p:cNvPr id="493" name="Google Shape;49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1279" y="1211203"/>
            <a:ext cx="5571750" cy="36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Join</a:t>
            </a:r>
            <a:endParaRPr/>
          </a:p>
        </p:txBody>
      </p:sp>
      <p:sp>
        <p:nvSpPr>
          <p:cNvPr id="499" name="Google Shape;499;p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a left join?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Join</a:t>
            </a:r>
            <a:endParaRPr/>
          </a:p>
        </p:txBody>
      </p:sp>
      <p:sp>
        <p:nvSpPr>
          <p:cNvPr id="505" name="Google Shape;505;p87"/>
          <p:cNvSpPr txBox="1"/>
          <p:nvPr>
            <p:ph idx="1" type="body"/>
          </p:nvPr>
        </p:nvSpPr>
        <p:spPr>
          <a:xfrm>
            <a:off x="311700" y="1152475"/>
            <a:ext cx="171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Which IDs will be in the resulting table after the left join?</a:t>
            </a:r>
            <a:endParaRPr/>
          </a:p>
        </p:txBody>
      </p:sp>
      <p:pic>
        <p:nvPicPr>
          <p:cNvPr id="506" name="Google Shape;506;p87"/>
          <p:cNvPicPr preferRelativeResize="0"/>
          <p:nvPr/>
        </p:nvPicPr>
        <p:blipFill rotWithShape="1">
          <a:blip r:embed="rId3">
            <a:alphaModFix/>
          </a:blip>
          <a:srcRect b="44324" l="0" r="0" t="0"/>
          <a:stretch/>
        </p:blipFill>
        <p:spPr>
          <a:xfrm>
            <a:off x="2163100" y="1086325"/>
            <a:ext cx="6864099" cy="218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Join</a:t>
            </a:r>
            <a:endParaRPr/>
          </a:p>
        </p:txBody>
      </p:sp>
      <p:sp>
        <p:nvSpPr>
          <p:cNvPr id="512" name="Google Shape;512;p88"/>
          <p:cNvSpPr txBox="1"/>
          <p:nvPr>
            <p:ph idx="1" type="body"/>
          </p:nvPr>
        </p:nvSpPr>
        <p:spPr>
          <a:xfrm>
            <a:off x="311700" y="1152475"/>
            <a:ext cx="171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All values on the table written first (the left) are preserved.</a:t>
            </a:r>
            <a:endParaRPr/>
          </a:p>
        </p:txBody>
      </p:sp>
      <p:pic>
        <p:nvPicPr>
          <p:cNvPr id="513" name="Google Shape;51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100" y="1086325"/>
            <a:ext cx="6864099" cy="39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Outer Join</a:t>
            </a:r>
            <a:endParaRPr/>
          </a:p>
        </p:txBody>
      </p:sp>
      <p:sp>
        <p:nvSpPr>
          <p:cNvPr id="519" name="Google Shape;519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an outer join?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Outer Join</a:t>
            </a:r>
            <a:endParaRPr/>
          </a:p>
        </p:txBody>
      </p:sp>
      <p:sp>
        <p:nvSpPr>
          <p:cNvPr id="525" name="Google Shape;525;p90"/>
          <p:cNvSpPr txBox="1"/>
          <p:nvPr>
            <p:ph idx="1" type="body"/>
          </p:nvPr>
        </p:nvSpPr>
        <p:spPr>
          <a:xfrm>
            <a:off x="311700" y="1152475"/>
            <a:ext cx="195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will the merged table look like?</a:t>
            </a:r>
            <a:endParaRPr/>
          </a:p>
        </p:txBody>
      </p:sp>
      <p:pic>
        <p:nvPicPr>
          <p:cNvPr id="526" name="Google Shape;526;p90"/>
          <p:cNvPicPr preferRelativeResize="0"/>
          <p:nvPr/>
        </p:nvPicPr>
        <p:blipFill rotWithShape="1">
          <a:blip r:embed="rId3">
            <a:alphaModFix/>
          </a:blip>
          <a:srcRect b="37245" l="0" r="0" t="0"/>
          <a:stretch/>
        </p:blipFill>
        <p:spPr>
          <a:xfrm>
            <a:off x="2409525" y="1152475"/>
            <a:ext cx="6582075" cy="35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Outer Join</a:t>
            </a:r>
            <a:endParaRPr/>
          </a:p>
        </p:txBody>
      </p:sp>
      <p:sp>
        <p:nvSpPr>
          <p:cNvPr id="532" name="Google Shape;532;p91"/>
          <p:cNvSpPr txBox="1"/>
          <p:nvPr>
            <p:ph idx="1" type="body"/>
          </p:nvPr>
        </p:nvSpPr>
        <p:spPr>
          <a:xfrm>
            <a:off x="311700" y="1152475"/>
            <a:ext cx="401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an outer join, all rows are preserved. </a:t>
            </a:r>
            <a:endParaRPr/>
          </a:p>
        </p:txBody>
      </p:sp>
      <p:pic>
        <p:nvPicPr>
          <p:cNvPr id="533" name="Google Shape;53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7238" y="1017725"/>
            <a:ext cx="4574363" cy="39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 Join</a:t>
            </a:r>
            <a:endParaRPr/>
          </a:p>
        </p:txBody>
      </p:sp>
      <p:sp>
        <p:nvSpPr>
          <p:cNvPr id="539" name="Google Shape;539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a right join?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 Join</a:t>
            </a:r>
            <a:endParaRPr/>
          </a:p>
        </p:txBody>
      </p:sp>
      <p:sp>
        <p:nvSpPr>
          <p:cNvPr id="545" name="Google Shape;545;p93"/>
          <p:cNvSpPr txBox="1"/>
          <p:nvPr>
            <p:ph idx="1" type="body"/>
          </p:nvPr>
        </p:nvSpPr>
        <p:spPr>
          <a:xfrm>
            <a:off x="119775" y="1152475"/>
            <a:ext cx="2043300" cy="3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All values on the second table in the join statement (the table written on the right) are preserved.</a:t>
            </a:r>
            <a:endParaRPr/>
          </a:p>
        </p:txBody>
      </p:sp>
      <p:pic>
        <p:nvPicPr>
          <p:cNvPr id="546" name="Google Shape;54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265" y="1152475"/>
            <a:ext cx="6958284" cy="389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 Join</a:t>
            </a:r>
            <a:endParaRPr/>
          </a:p>
        </p:txBody>
      </p:sp>
      <p:sp>
        <p:nvSpPr>
          <p:cNvPr id="552" name="Google Shape;552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 joins are almost never used by programmers. They prefer left joins.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right join and a left join can do the same thing - all you have to do is switch the order you write the tables in to change a right join to a left join. 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59" name="Google Shape;55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875" y="125875"/>
            <a:ext cx="6270851" cy="493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Resources</a:t>
            </a:r>
            <a:endParaRPr/>
          </a:p>
        </p:txBody>
      </p:sp>
      <p:sp>
        <p:nvSpPr>
          <p:cNvPr id="565" name="Google Shape;565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more information about joins, read this article, which discusses other more complex types of joins and how to do them in 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https://www.thedataschool.co.uk/le-luu/sql-joins/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questions</a:t>
            </a:r>
            <a:endParaRPr/>
          </a:p>
        </p:txBody>
      </p:sp>
      <p:sp>
        <p:nvSpPr>
          <p:cNvPr id="571" name="Google Shape;571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use this website to practice joins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https://www.codechef.com/learn/course/sql-intermediate/SQ00BS01/problems/ASQL01D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website has exercises, but first let's do some queries together. (The website will say the answer is wrong, but that is okay, we can still see the results)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Queries</a:t>
            </a:r>
            <a:endParaRPr/>
          </a:p>
        </p:txBody>
      </p:sp>
      <p:sp>
        <p:nvSpPr>
          <p:cNvPr id="577" name="Google Shape;577;p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 to see the ids and names of only the </a:t>
            </a:r>
            <a:r>
              <a:rPr lang="en"/>
              <a:t>customers who made orders.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would we write the query?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Queries</a:t>
            </a:r>
            <a:endParaRPr/>
          </a:p>
        </p:txBody>
      </p:sp>
      <p:sp>
        <p:nvSpPr>
          <p:cNvPr id="583" name="Google Shape;583;p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 to see the ids and names of only the customers who made orders. How would we write the query?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r>
              <a:rPr lang="en"/>
              <a:t> customers.customer_id, customer_name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customers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383EC"/>
                </a:solidFill>
              </a:rPr>
              <a:t>INNER JOIN</a:t>
            </a:r>
            <a:r>
              <a:rPr lang="en"/>
              <a:t> orders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383EC"/>
                </a:solidFill>
              </a:rPr>
              <a:t>ON</a:t>
            </a:r>
            <a:r>
              <a:rPr lang="en"/>
              <a:t> orders.customer_id=customers.customer_id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we have to write the table name before the column name if the column name appears in both tables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Queries</a:t>
            </a:r>
            <a:endParaRPr/>
          </a:p>
        </p:txBody>
      </p:sp>
      <p:sp>
        <p:nvSpPr>
          <p:cNvPr id="589" name="Google Shape;589;p10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r>
              <a:rPr lang="en"/>
              <a:t> </a:t>
            </a:r>
            <a:r>
              <a:rPr lang="en">
                <a:highlight>
                  <a:srgbClr val="674EA7"/>
                </a:highlight>
              </a:rPr>
              <a:t>cust</a:t>
            </a:r>
            <a:r>
              <a:rPr lang="en"/>
              <a:t>.customer_id, customer_name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customers </a:t>
            </a:r>
            <a:r>
              <a:rPr lang="en">
                <a:highlight>
                  <a:srgbClr val="674EA7"/>
                </a:highlight>
              </a:rPr>
              <a:t>cust</a:t>
            </a:r>
            <a:endParaRPr>
              <a:highlight>
                <a:srgbClr val="674EA7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JOIN orders </a:t>
            </a:r>
            <a:r>
              <a:rPr lang="en">
                <a:highlight>
                  <a:srgbClr val="674EA7"/>
                </a:highlight>
              </a:rPr>
              <a:t>o</a:t>
            </a:r>
            <a:endParaRPr>
              <a:highlight>
                <a:srgbClr val="674EA7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</a:t>
            </a:r>
            <a:r>
              <a:rPr lang="en">
                <a:highlight>
                  <a:srgbClr val="674EA7"/>
                </a:highlight>
              </a:rPr>
              <a:t>o</a:t>
            </a:r>
            <a:r>
              <a:rPr lang="en"/>
              <a:t>.customer_id=</a:t>
            </a:r>
            <a:r>
              <a:rPr lang="en">
                <a:highlight>
                  <a:srgbClr val="674EA7"/>
                </a:highlight>
              </a:rPr>
              <a:t>cust</a:t>
            </a:r>
            <a:r>
              <a:rPr lang="en"/>
              <a:t>.customer_id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also substitute the table name with a letter or abbreviation.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Queries</a:t>
            </a:r>
            <a:endParaRPr/>
          </a:p>
        </p:txBody>
      </p:sp>
      <p:sp>
        <p:nvSpPr>
          <p:cNvPr id="595" name="Google Shape;595;p10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you write the query to find all product_names, and the total quantity of each product ordered?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Queries</a:t>
            </a:r>
            <a:endParaRPr/>
          </a:p>
        </p:txBody>
      </p:sp>
      <p:sp>
        <p:nvSpPr>
          <p:cNvPr id="601" name="Google Shape;601;p102"/>
          <p:cNvSpPr txBox="1"/>
          <p:nvPr>
            <p:ph idx="1" type="body"/>
          </p:nvPr>
        </p:nvSpPr>
        <p:spPr>
          <a:xfrm>
            <a:off x="248950" y="1017725"/>
            <a:ext cx="8520600" cy="38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Find all product_names, and the total quantity of each product ordered: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r>
              <a:rPr lang="en"/>
              <a:t> products.product_name,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SUM(orders.quantity) AS total_orders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products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JOIN orders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orders.product_name=products.product_name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it says </a:t>
            </a:r>
            <a:r>
              <a:rPr lang="en"/>
              <a:t>GROUP BY</a:t>
            </a:r>
            <a:r>
              <a:rPr lang="en"/>
              <a:t> 1.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</a:t>
            </a:r>
            <a:r>
              <a:rPr lang="en"/>
              <a:t>could</a:t>
            </a:r>
            <a:r>
              <a:rPr lang="en"/>
              <a:t> also say </a:t>
            </a:r>
            <a:r>
              <a:rPr lang="en"/>
              <a:t>GROUP BY</a:t>
            </a:r>
            <a:r>
              <a:rPr lang="en"/>
              <a:t> </a:t>
            </a:r>
            <a:r>
              <a:rPr lang="en"/>
              <a:t>products.product_name.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Queries</a:t>
            </a:r>
            <a:endParaRPr/>
          </a:p>
        </p:txBody>
      </p:sp>
      <p:sp>
        <p:nvSpPr>
          <p:cNvPr id="607" name="Google Shape;607;p1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 to see all </a:t>
            </a:r>
            <a:r>
              <a:rPr lang="en"/>
              <a:t>products</a:t>
            </a:r>
            <a:r>
              <a:rPr lang="en"/>
              <a:t>, and all orders.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Queries</a:t>
            </a:r>
            <a:endParaRPr/>
          </a:p>
        </p:txBody>
      </p:sp>
      <p:sp>
        <p:nvSpPr>
          <p:cNvPr id="613" name="Google Shape;613;p10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 to see all products, and all orders.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* from products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outer join orders 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orders.product_name=products.</a:t>
            </a:r>
            <a:r>
              <a:rPr lang="en"/>
              <a:t>product_name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Queries</a:t>
            </a:r>
            <a:endParaRPr/>
          </a:p>
        </p:txBody>
      </p:sp>
      <p:sp>
        <p:nvSpPr>
          <p:cNvPr id="619" name="Google Shape;619;p10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let's practice doing the exercises on the website. 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Homework: Joins</a:t>
            </a:r>
            <a:endParaRPr/>
          </a:p>
        </p:txBody>
      </p:sp>
      <p:sp>
        <p:nvSpPr>
          <p:cNvPr id="625" name="Google Shape;625;p1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business scenario where your boss asks you a question related to data, and you need to use joins to answer it.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two scenarios, and create the answers for them.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can use the free online dataset we looked at in class. 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4</a:t>
            </a:r>
            <a:endParaRPr/>
          </a:p>
        </p:txBody>
      </p:sp>
      <p:sp>
        <p:nvSpPr>
          <p:cNvPr id="631" name="Google Shape;631;p10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Homework</a:t>
            </a:r>
            <a:endParaRPr/>
          </a:p>
        </p:txBody>
      </p:sp>
      <p:sp>
        <p:nvSpPr>
          <p:cNvPr id="637" name="Google Shape;637;p10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Review Joins Homework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</a:t>
            </a:r>
            <a:endParaRPr/>
          </a:p>
        </p:txBody>
      </p:sp>
      <p:sp>
        <p:nvSpPr>
          <p:cNvPr id="643" name="Google Shape;643;p10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a subquery?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</a:t>
            </a:r>
            <a:endParaRPr/>
          </a:p>
        </p:txBody>
      </p:sp>
      <p:sp>
        <p:nvSpPr>
          <p:cNvPr id="649" name="Google Shape;649;p1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subquery is a helper query written within a main query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</a:t>
            </a:r>
            <a:endParaRPr/>
          </a:p>
        </p:txBody>
      </p:sp>
      <p:sp>
        <p:nvSpPr>
          <p:cNvPr id="655" name="Google Shape;655;p1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use the data on this </a:t>
            </a:r>
            <a:r>
              <a:rPr lang="en"/>
              <a:t>website</a:t>
            </a:r>
            <a:r>
              <a:rPr lang="en"/>
              <a:t> again: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https://www.codechef.com/learn/course/sql-intermediate/SQ00BS01/problems/ASQL01D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query below finding?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r>
              <a:rPr lang="en"/>
              <a:t> *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products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WHERE price = </a:t>
            </a:r>
            <a:r>
              <a:rPr lang="en">
                <a:highlight>
                  <a:srgbClr val="674EA7"/>
                </a:highlight>
              </a:rPr>
              <a:t>(SELECT MAX(price) FROM products)</a:t>
            </a:r>
            <a:endParaRPr>
              <a:highlight>
                <a:srgbClr val="674EA7"/>
              </a:highlight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</a:t>
            </a:r>
            <a:endParaRPr/>
          </a:p>
        </p:txBody>
      </p:sp>
      <p:sp>
        <p:nvSpPr>
          <p:cNvPr id="661" name="Google Shape;661;p1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query below finding?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*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products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 price = </a:t>
            </a:r>
            <a:r>
              <a:rPr lang="en">
                <a:highlight>
                  <a:srgbClr val="674EA7"/>
                </a:highlight>
              </a:rPr>
              <a:t>(SELECT MAX(price) FROM products)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-&gt; All product information about the highest priced products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</a:t>
            </a:r>
            <a:endParaRPr/>
          </a:p>
        </p:txBody>
      </p:sp>
      <p:sp>
        <p:nvSpPr>
          <p:cNvPr id="667" name="Google Shape;667;p1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query below finding?</a:t>
            </a:r>
            <a:endParaRPr>
              <a:highlight>
                <a:srgbClr val="674EA7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product_name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products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WHERE product_name IN </a:t>
            </a:r>
            <a:r>
              <a:rPr lang="en">
                <a:highlight>
                  <a:srgbClr val="674EA7"/>
                </a:highlight>
              </a:rPr>
              <a:t>(SELECT</a:t>
            </a:r>
            <a:r>
              <a:rPr lang="en">
                <a:highlight>
                  <a:srgbClr val="674EA7"/>
                </a:highlight>
              </a:rPr>
              <a:t> product_name FROM orders WHERE quantity = 1)</a:t>
            </a:r>
            <a:endParaRPr>
              <a:highlight>
                <a:srgbClr val="674EA7"/>
              </a:highlight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</a:t>
            </a:r>
            <a:endParaRPr/>
          </a:p>
        </p:txBody>
      </p:sp>
      <p:sp>
        <p:nvSpPr>
          <p:cNvPr id="673" name="Google Shape;673;p1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query below finding?</a:t>
            </a:r>
            <a:endParaRPr>
              <a:highlight>
                <a:srgbClr val="674EA7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product_name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products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 product_name IN </a:t>
            </a:r>
            <a:r>
              <a:rPr lang="en">
                <a:highlight>
                  <a:srgbClr val="674EA7"/>
                </a:highlight>
              </a:rPr>
              <a:t>(SELECT product_name FROM orders WHERE quantity =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-&gt; It is finding the names of the products which had an order quantity of 1.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</a:t>
            </a:r>
            <a:endParaRPr/>
          </a:p>
        </p:txBody>
      </p:sp>
      <p:sp>
        <p:nvSpPr>
          <p:cNvPr id="679" name="Google Shape;679;p1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Now try one yourself - Can you find the price of the item ordered most recently?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</a:t>
            </a:r>
            <a:endParaRPr/>
          </a:p>
        </p:txBody>
      </p:sp>
      <p:sp>
        <p:nvSpPr>
          <p:cNvPr id="685" name="Google Shape;685;p1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try one yourself - Can you find the price of the item ordered most recently?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r>
              <a:rPr lang="en"/>
              <a:t> price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products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WHERE product_name IN (</a:t>
            </a:r>
            <a:r>
              <a:rPr lang="en"/>
              <a:t>SELECT</a:t>
            </a:r>
            <a:r>
              <a:rPr lang="en"/>
              <a:t> product_name FROM orders </a:t>
            </a:r>
            <a:r>
              <a:rPr lang="en"/>
              <a:t>WHERE</a:t>
            </a:r>
            <a:r>
              <a:rPr lang="en"/>
              <a:t> order_date = (SELECT MAX(order_date) FROM orders))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Subqueries, Nested Queries</a:t>
            </a:r>
            <a:endParaRPr/>
          </a:p>
        </p:txBody>
      </p:sp>
      <p:sp>
        <p:nvSpPr>
          <p:cNvPr id="691" name="Google Shape;691;p1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subquery we looked at on the last slide is an example of a nested query: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price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products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 product_name IN (SELECT product_name </a:t>
            </a:r>
            <a:endParaRPr/>
          </a:p>
          <a:p>
            <a:pPr indent="457200" lvl="0" marL="2743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orders </a:t>
            </a:r>
            <a:endParaRPr/>
          </a:p>
          <a:p>
            <a:pPr indent="457200" lvl="0" marL="2743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 order_date = </a:t>
            </a:r>
            <a:endParaRPr/>
          </a:p>
          <a:p>
            <a:pPr indent="457200" lvl="0" marL="2743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B383EC"/>
                </a:highlight>
              </a:rPr>
              <a:t>(SELECT MAX(order_date) FROM orders)</a:t>
            </a:r>
            <a:endParaRPr>
              <a:highlight>
                <a:srgbClr val="B383E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Table Expression (CTE)</a:t>
            </a:r>
            <a:endParaRPr/>
          </a:p>
        </p:txBody>
      </p:sp>
      <p:sp>
        <p:nvSpPr>
          <p:cNvPr id="697" name="Google Shape;697;p1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Link multiple table logics together in order to get what you want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Table Expression (CTE): Example</a:t>
            </a:r>
            <a:endParaRPr/>
          </a:p>
        </p:txBody>
      </p:sp>
      <p:sp>
        <p:nvSpPr>
          <p:cNvPr id="703" name="Google Shape;703;p1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customer_orders AS 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SELECT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customer_id,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SUM(quantity) AS total_quantity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FROM orders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GROUP BY customer_id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c.customer_id,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c.customer_name,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customer_orders.total_quantity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customers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customer_orders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ON c.customer_id = customer_orders.customer_id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 total_quantity DESC;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CTE</a:t>
            </a:r>
            <a:endParaRPr/>
          </a:p>
        </p:txBody>
      </p:sp>
      <p:sp>
        <p:nvSpPr>
          <p:cNvPr id="709" name="Google Shape;709;p1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SQL query using a CTE to find the total amount spent by each customer on Electronics products only.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Display: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ustomer_id , customer_name, total_spent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Order the results from highest to lowest total spent.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CTE Solution</a:t>
            </a:r>
            <a:endParaRPr/>
          </a:p>
        </p:txBody>
      </p:sp>
      <p:sp>
        <p:nvSpPr>
          <p:cNvPr id="715" name="Google Shape;715;p121"/>
          <p:cNvSpPr txBox="1"/>
          <p:nvPr>
            <p:ph idx="1" type="body"/>
          </p:nvPr>
        </p:nvSpPr>
        <p:spPr>
          <a:xfrm>
            <a:off x="311700" y="1152475"/>
            <a:ext cx="8520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electronics_spending AS 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SELECT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o.customer_id,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SUM(o.quantity * p.price) AS total_spent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FROM orders 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JOIN products p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ON o.product_name = p.product_name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JOIN categories c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ON p.category_id = c.category_id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WHERE c.category_name = 'Electronics'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GROUP BY o.customer_id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cu.customer_id,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cu.customer_name,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electronics_spending.total_spent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customers cu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electronics_spending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ON cu.customer_id = electronics_spending.customer_id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 total_spent DESC;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CTE</a:t>
            </a:r>
            <a:endParaRPr/>
          </a:p>
        </p:txBody>
      </p:sp>
      <p:sp>
        <p:nvSpPr>
          <p:cNvPr id="721" name="Google Shape;721;p1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stack many tables, like this: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table1 AS 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SELECT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),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table2 AS 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SELECT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),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table3 AS 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SELECT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…..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FROM table3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logic in SQL: CASE WHEN</a:t>
            </a:r>
            <a:endParaRPr/>
          </a:p>
        </p:txBody>
      </p:sp>
      <p:sp>
        <p:nvSpPr>
          <p:cNvPr id="727" name="Google Shape;727;p1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WHEN condition1 THEN result1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WHEN condition2 THEN result2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WHEN conditionN THEN resultN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ELSE result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END;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WHEN: Example</a:t>
            </a:r>
            <a:endParaRPr/>
          </a:p>
        </p:txBody>
      </p:sp>
      <p:sp>
        <p:nvSpPr>
          <p:cNvPr id="733" name="Google Shape;733;p1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first_name, department_id, salary,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CASE department_id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WHEN 50 THEN 1.5 * salary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WHEN 12 THEN 2.0 * salary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ELSE salary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END AS "REVISED SALARY"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FROM Employee;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WHEN Exercise</a:t>
            </a:r>
            <a:endParaRPr/>
          </a:p>
        </p:txBody>
      </p:sp>
      <p:sp>
        <p:nvSpPr>
          <p:cNvPr id="739" name="Google Shape;739;p1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Write a SQL query that shows customer_name, total_spent, and a  spending category based on total spent, according to the table in the next slide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WHEN exercise</a:t>
            </a:r>
            <a:endParaRPr/>
          </a:p>
        </p:txBody>
      </p:sp>
      <p:sp>
        <p:nvSpPr>
          <p:cNvPr id="745" name="Google Shape;745;p1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Condition               | Category       |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| ------------------ | ------------  |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| total_spent ≥ 2000 | 'VIP'             |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| total_spent ≥ 1000 | 'Regular'      |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| total_spent &lt; 1000 | 'Occasional' |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| No orders                | 'No Orders'  |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WHEN Solution</a:t>
            </a:r>
            <a:endParaRPr/>
          </a:p>
        </p:txBody>
      </p:sp>
      <p:sp>
        <p:nvSpPr>
          <p:cNvPr id="751" name="Google Shape;751;p1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c.customer_name,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SUM(o.quantity * p.price) AS total_spent,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CASE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WHEN SUM(o.quantity * p.price) &gt;= 2000 THEN 'VIP'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WHEN SUM(o.quantity * p.price) &gt;= 1000 THEN 'Regular'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WHEN SUM(o.quantity * p.price) &gt; 0 THEN 'Occasional'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ELSE 'No Orders'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END AS spending_category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customers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JOIN orders 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ON c.customer_id = o.customer_id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JOIN products p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ON o.product_name = p.product_name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 c.customer_name;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COALESCE</a:t>
            </a:r>
            <a:endParaRPr/>
          </a:p>
        </p:txBody>
      </p:sp>
      <p:sp>
        <p:nvSpPr>
          <p:cNvPr id="757" name="Google Shape;757;p1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COALESCE Function in 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COALESCE function returns the first non-null argument. It is particularly useful for handling NULL values and substituting them with a default value.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Syntax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COALESCE(value1, value2, ..., valueN)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COALESCE</a:t>
            </a:r>
            <a:endParaRPr/>
          </a:p>
        </p:txBody>
      </p:sp>
      <p:sp>
        <p:nvSpPr>
          <p:cNvPr id="763" name="Google Shape;763;p1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Query: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COALESCE(last_name, '- NA -')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Employee;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will this return if last_name is Null?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COALESCE</a:t>
            </a:r>
            <a:endParaRPr/>
          </a:p>
        </p:txBody>
      </p:sp>
      <p:sp>
        <p:nvSpPr>
          <p:cNvPr id="769" name="Google Shape;769;p1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Query: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COALESCE(last_name, '- NA -')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Employee;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will this return if last_name is Null?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will return </a:t>
            </a:r>
            <a:r>
              <a:rPr lang="en"/>
              <a:t>- NA 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COALESCE exercise</a:t>
            </a:r>
            <a:endParaRPr/>
          </a:p>
        </p:txBody>
      </p:sp>
      <p:sp>
        <p:nvSpPr>
          <p:cNvPr id="775" name="Google Shape;775;p1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back to the CASE WHEN exercise and rewrite it using coalesce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WHEN with COALESCE Solution</a:t>
            </a:r>
            <a:endParaRPr/>
          </a:p>
        </p:txBody>
      </p:sp>
      <p:sp>
        <p:nvSpPr>
          <p:cNvPr id="781" name="Google Shape;781;p1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c.customer_name,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COALESCE(SUM(o.quantity * p.price), 0) AS total_spent,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CASE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WHEN COALESCE(SUM(o.quantity * p.price), 0) &gt;= 2000 THEN 'VIP'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WHEN COALESCE(SUM(o.quantity * p.price), 0) &gt;= 1000 THEN 'Regular'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WHEN COALESCE(SUM(o.quantity * p.price), 0) &gt; 0 THEN 'Occasional'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ELSE 'No Orders'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END AS spending_category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customers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JOIN orders 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ON c.customer_id = o.customer_id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JOIN products p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ON o.product_name = p.product_name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 c.customer_name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 total_spent DESC;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Calculated fields</a:t>
            </a:r>
            <a:endParaRPr/>
          </a:p>
        </p:txBody>
      </p:sp>
      <p:sp>
        <p:nvSpPr>
          <p:cNvPr id="787" name="Google Shape;787;p1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create a new column based on an operation done on existing columns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SELECT field1+field2 AS fields_sum FROM table…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793" name="Google Shape;793;p1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Create</a:t>
            </a:r>
            <a:r>
              <a:rPr lang="en"/>
              <a:t> 2 CASE WHEN queries and 1 subquery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5</a:t>
            </a:r>
            <a:endParaRPr/>
          </a:p>
        </p:txBody>
      </p:sp>
      <p:sp>
        <p:nvSpPr>
          <p:cNvPr id="799" name="Google Shape;799;p1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functions: ROW_NUMBER, RANK, OVER()</a:t>
            </a:r>
            <a:endParaRPr/>
          </a:p>
        </p:txBody>
      </p:sp>
      <p:sp>
        <p:nvSpPr>
          <p:cNvPr id="805" name="Google Shape;805;p1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a window function?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functions: ROW_NUMBER, RANK, OVER()</a:t>
            </a:r>
            <a:endParaRPr/>
          </a:p>
        </p:txBody>
      </p:sp>
      <p:sp>
        <p:nvSpPr>
          <p:cNvPr id="811" name="Google Shape;811;p1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</a:t>
            </a:r>
            <a:r>
              <a:rPr lang="en"/>
              <a:t> SQL Window Function performs calculations across a set of rows that are related to the current row without "collapsing" them.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Think of it as looking through a "window" at a specific group of rows while still keeping every individual row in your final list. 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functions versus group by</a:t>
            </a:r>
            <a:endParaRPr/>
          </a:p>
        </p:txBody>
      </p:sp>
      <p:sp>
        <p:nvSpPr>
          <p:cNvPr id="817" name="Google Shape;817;p1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to GROUP BY, however: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 BY: Fuses many rows into one single summary row. You lose the individual details.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Window Function: Keeps every row as it is. It just adds a new column next to them containing the calculation result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 syntax</a:t>
            </a:r>
            <a:endParaRPr/>
          </a:p>
        </p:txBody>
      </p:sp>
      <p:sp>
        <p:nvSpPr>
          <p:cNvPr id="823" name="Google Shape;823;p1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Syntax: OVER()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OVER() clause is what tells SQL you are using a window function. It has three optional parts: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PARTITION BY: Splits your data into groups (like "windows" for each department or category).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ORDER BY: Sets the order of rows within those groups (essential for things like running totals or rankings).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Rows/Range (Frame): Defines exactly which rows around the current one to look at (e.g., "the 3 rows before this one").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 syntax</a:t>
            </a:r>
            <a:endParaRPr/>
          </a:p>
        </p:txBody>
      </p:sp>
      <p:sp>
        <p:nvSpPr>
          <p:cNvPr id="829" name="Google Shape;829;p1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function_name(expression) OVER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[PARTITION BY column]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[ORDER BY column]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[ROWS/RANGE frame_specification]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Window functions</a:t>
            </a:r>
            <a:endParaRPr/>
          </a:p>
        </p:txBody>
      </p:sp>
      <p:sp>
        <p:nvSpPr>
          <p:cNvPr id="835" name="Google Shape;835;p1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Types of Window Functions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Aggregate Functions: Use standard math like SUM(), AVG(), or COUNT() but across a window.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Calculate a "running total" of sales as you go down the list.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Ranking Functions: Assign a number to each row based on its position.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ROW_NUMBER() gives each row a unique number; RANK() can handle 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Value (Offset) Functions: Let you "peek" at other rows without using a join.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Example: LAG() looks at the row above (useful for comparing today's price to yesterday's); LEAD() looks at the row below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functions: ROW_NUMBER, RANK, OVER()</a:t>
            </a:r>
            <a:endParaRPr/>
          </a:p>
        </p:txBody>
      </p:sp>
      <p:sp>
        <p:nvSpPr>
          <p:cNvPr id="841" name="Google Shape;841;p1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resource: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https://www.codecademy.com/resources/docs/sql/window-functions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functions practice</a:t>
            </a:r>
            <a:endParaRPr/>
          </a:p>
        </p:txBody>
      </p:sp>
      <p:sp>
        <p:nvSpPr>
          <p:cNvPr id="847" name="Google Shape;847;p1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to: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https://www.codechef.com/learn/course/sql-intermediate/SQ00BS01/problems/ASQL01D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Group the orders table by the order date. Show the product, the order date, and the total quantity of orders on that day.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functions practice</a:t>
            </a:r>
            <a:endParaRPr/>
          </a:p>
        </p:txBody>
      </p:sp>
      <p:sp>
        <p:nvSpPr>
          <p:cNvPr id="853" name="Google Shape;853;p1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the orders table by the order date. Show the product, the order date, and the total quantity of orders on that day.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product_name, order_date,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sum(quantity) OVER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PARTITION BY order_date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ORDER BY order_date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from orders</a:t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ROW_NUMBER</a:t>
            </a:r>
            <a:endParaRPr/>
          </a:p>
        </p:txBody>
      </p:sp>
      <p:sp>
        <p:nvSpPr>
          <p:cNvPr id="859" name="Google Shape;859;p1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From the products table, group the products by category id, and put the categories in order based on average price. Add a row number.</a:t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ROW_NUMBER</a:t>
            </a:r>
            <a:endParaRPr/>
          </a:p>
        </p:txBody>
      </p:sp>
      <p:sp>
        <p:nvSpPr>
          <p:cNvPr id="865" name="Google Shape;865;p1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products table, group the products by category id, and put the categories in order based on average price. Add a row number.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category_id,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AVG(price) AS avg_price,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ROW_NUMBER() OVER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ORDER BY AVG(price)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) as category_rank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products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GROUP BY category_id;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ROW_NUMBER</a:t>
            </a:r>
            <a:endParaRPr/>
          </a:p>
        </p:txBody>
      </p:sp>
      <p:sp>
        <p:nvSpPr>
          <p:cNvPr id="871" name="Google Shape;871;p1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From the orders table, group the products by product name, and put the categories in order based on average quantity. Add a row number.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ROW_NUMBER</a:t>
            </a:r>
            <a:endParaRPr/>
          </a:p>
        </p:txBody>
      </p:sp>
      <p:sp>
        <p:nvSpPr>
          <p:cNvPr id="877" name="Google Shape;877;p1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orders table, group the products by product name, and put the categories in order based on average quantity. Add a row number.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product_name,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AVG(quantity) AS avg_quantity,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ROW_NUMBER() OVER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ORDER BY AVG(quantity)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) as quantity_rank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orders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 BY product_name;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ROW_NUMBER</a:t>
            </a:r>
            <a:endParaRPr/>
          </a:p>
        </p:txBody>
      </p:sp>
      <p:sp>
        <p:nvSpPr>
          <p:cNvPr id="883" name="Google Shape;883;p1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orders table, group the products by product name, and put the categories in order based on average quantity. Add a row number.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Notice that the row number goes from 1 to 4, even though the avg quantity stays the same.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if we wanted the row number to stay the same if the quantity is not increasing? (So if two products have 3 average orders, both would have the same row number)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</a:t>
            </a:r>
            <a:endParaRPr/>
          </a:p>
        </p:txBody>
      </p:sp>
      <p:sp>
        <p:nvSpPr>
          <p:cNvPr id="889" name="Google Shape;889;p1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wanted the row number to stay the same if the quantity is not increasing? (So if two products have 3 average orders, both would have the same row number)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Change row_number to rank in the last query and see what happens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Multiple window functions</a:t>
            </a:r>
            <a:endParaRPr/>
          </a:p>
        </p:txBody>
      </p:sp>
      <p:sp>
        <p:nvSpPr>
          <p:cNvPr id="895" name="Google Shape;895;p1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put multiple windows functions in the same query.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want to </a:t>
            </a:r>
            <a:r>
              <a:rPr lang="en"/>
              <a:t>display</a:t>
            </a:r>
            <a:r>
              <a:rPr lang="en"/>
              <a:t> the min and max order date for each product from the orders table. How?</a:t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Multiple window functions</a:t>
            </a:r>
            <a:endParaRPr/>
          </a:p>
        </p:txBody>
      </p:sp>
      <p:sp>
        <p:nvSpPr>
          <p:cNvPr id="901" name="Google Shape;901;p1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want to display the min and max order date for each product from the orders table: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distinct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product_name,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max(order_date)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OVER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partition by product_name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) as max_date,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min(order_date)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OVER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partition by product_name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) as min_date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orders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SQL to perform calculations across partitions</a:t>
            </a:r>
            <a:endParaRPr/>
          </a:p>
        </p:txBody>
      </p:sp>
      <p:sp>
        <p:nvSpPr>
          <p:cNvPr id="907" name="Google Shape;907;p1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Add a column, price_diff, which is the max price minus the min price. </a:t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SQL to perform calculations across partitions</a:t>
            </a:r>
            <a:endParaRPr/>
          </a:p>
        </p:txBody>
      </p:sp>
      <p:sp>
        <p:nvSpPr>
          <p:cNvPr id="913" name="Google Shape;913;p1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column, price_diff, which is the max price minus the min price.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SELECT DISTINCT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category_id,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MAX(price) OVER w AS max_price,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MIN(price) OVER w AS min_price,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MAX(price) OVER w - MIN(price) OVER w AS price_diff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products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WINDOW w AS (PARTITION BY category_id);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919" name="Google Shape;919;p1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Practice 3 window function problems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6</a:t>
            </a:r>
            <a:endParaRPr/>
          </a:p>
        </p:txBody>
      </p:sp>
      <p:sp>
        <p:nvSpPr>
          <p:cNvPr id="925" name="Google Shape;925;p156"/>
          <p:cNvSpPr txBox="1"/>
          <p:nvPr>
            <p:ph idx="1" type="body"/>
          </p:nvPr>
        </p:nvSpPr>
        <p:spPr>
          <a:xfrm>
            <a:off x="523075" y="1316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mini-project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Homework</a:t>
            </a:r>
            <a:endParaRPr/>
          </a:p>
        </p:txBody>
      </p:sp>
      <p:sp>
        <p:nvSpPr>
          <p:cNvPr id="931" name="Google Shape;931;p1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Window function solutions</a:t>
            </a:r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In-class </a:t>
            </a:r>
            <a:r>
              <a:rPr lang="en"/>
              <a:t>assignment</a:t>
            </a:r>
            <a:endParaRPr/>
          </a:p>
        </p:txBody>
      </p:sp>
      <p:sp>
        <p:nvSpPr>
          <p:cNvPr id="937" name="Google Shape;937;p1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Mini-project: Write a SQL report for business KPIs using a mock database (PostgreSQL or SQLite) - You choose the data.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 we work, we will stop and share what we have created so far.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