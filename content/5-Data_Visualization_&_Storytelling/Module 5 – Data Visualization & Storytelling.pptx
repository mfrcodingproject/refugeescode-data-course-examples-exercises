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88.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Lst>
  <p:sldSz cy="5143500" cx="9144000"/>
  <p:notesSz cx="6858000" cy="9144000"/>
  <p:embeddedFontLst>
    <p:embeddedFont>
      <p:font typeface="Maven Pro"/>
      <p:regular r:id="rId94"/>
      <p:bold r:id="rId9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slide" Target="slides/slide83.xml"/><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95" Type="http://schemas.openxmlformats.org/officeDocument/2006/relationships/font" Target="fonts/MavenPro-bold.fntdata"/><Relationship Id="rId50" Type="http://schemas.openxmlformats.org/officeDocument/2006/relationships/slide" Target="slides/slide45.xml"/><Relationship Id="rId94" Type="http://schemas.openxmlformats.org/officeDocument/2006/relationships/font" Target="fonts/MavenPro-regular.fntdata"/><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28f9d26a6_0_8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28f9d26a6_0_8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c2b1f6ba11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c2b1f6ba11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c28f9d26a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c28f9d26a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c28f9d26a6_0_9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c28f9d26a6_0_9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8f9d26a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8f9d26a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28f9d26a6_0_9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c28f9d26a6_0_9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c2b1f6ba11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c2b1f6ba11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c2b1f6ba11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c2b1f6ba11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c2b1f6ba11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c2b1f6ba11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c28f9d26a6_0_9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c28f9d26a6_0_9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c28f9d26a6_0_9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c28f9d26a6_0_9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c2b1f6ba11_0_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c2b1f6ba11_0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c2b1f6ba11_0_2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c2b1f6ba11_0_2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2b1f6ba11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2b1f6ba1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c2b1f6ba11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c2b1f6ba11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c2b1f6ba11_0_2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c2b1f6ba11_0_2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c2b1f6ba11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c2b1f6ba11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2b1f6ba11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2b1f6ba11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2b1f6ba11_0_1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2b1f6ba11_0_1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c2b1f6ba11_0_1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c2b1f6ba11_0_1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c2b1f6ba11_0_1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c2b1f6ba11_0_1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c2b1f6ba11_0_1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c2b1f6ba11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b1f6ba11_0_2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b1f6ba11_0_2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c2b1f6ba11_0_2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3c2b1f6ba11_0_2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c2b1f6ba11_0_2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c2b1f6ba11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c2b1f6ba11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c2b1f6ba11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2b1f6ba11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2b1f6ba11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c2b1f6ba11_0_2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3c2b1f6ba11_0_2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c2b1f6ba11_0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3c2b1f6ba11_0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c2b1f6ba11_0_2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c2b1f6ba11_0_2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c2b1f6ba11_0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c2b1f6ba11_0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b1f6ba11_0_2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b1f6ba11_0_2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c2b1f6ba11_0_2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c2b1f6ba11_0_2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c2b1f6ba11_0_2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c2b1f6ba11_0_2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c2b1f6ba11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c2b1f6ba11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c2b1f6ba11_0_3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c2b1f6ba11_0_3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c2b1f6ba11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3c2b1f6ba11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c2b1f6ba11_0_3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c2b1f6ba11_0_3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c2b1f6ba11_0_3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c2b1f6ba11_0_3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c2b1f6ba11_0_3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c2b1f6ba11_0_3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c2b1f6ba11_0_3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c2b1f6ba11_0_3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c2b1f6ba11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c2b1f6ba11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c2b1f6ba11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c2b1f6ba11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c2b1f6ba11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c2b1f6ba11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c2b1f6ba11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c2b1f6ba11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c2b1f6ba11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c2b1f6ba11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c2b1f6ba11_0_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3c2b1f6ba11_0_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c28f9d26a6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c28f9d26a6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c28f9d26a6_0_9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0" name="Google Shape;360;g3c28f9d26a6_0_9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c28f9d26a6_0_9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c28f9d26a6_0_9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c2b1f6ba11_0_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2" name="Google Shape;372;g3c2b1f6ba11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3c2b1f6ba11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8" name="Google Shape;378;g3c2b1f6ba11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c28f9d26a6_0_9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3c28f9d26a6_0_9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c28f9d26a6_0_9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0" name="Google Shape;390;g3c28f9d26a6_0_9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c2b1f6ba11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c2b1f6ba11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c2b1f6ba11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2" name="Google Shape;402;g3c2b1f6ba11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c28f9d26a6_0_9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g3c28f9d26a6_0_9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g3c2b1f6ba11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4" name="Google Shape;414;g3c2b1f6ba11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c2b1f6ba11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3c2b1f6ba11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c2b1f6ba11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g3c2b1f6ba11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g3c2b1f6ba11_0_1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2" name="Google Shape;432;g3c2b1f6ba11_0_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g3c2b1f6ba11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8" name="Google Shape;438;g3c2b1f6ba11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3c2b1f6ba11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4" name="Google Shape;444;g3c2b1f6ba11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c2b1f6ba11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0" name="Google Shape;450;g3c2b1f6ba11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c2b1f6ba11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3c2b1f6ba11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c2b1f6ba11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c2b1f6ba11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g3c2b1f6ba11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8" name="Google Shape;468;g3c2b1f6ba11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g3c2b1f6ba11_0_3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4" name="Google Shape;474;g3c2b1f6ba11_0_3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c2b1f6ba11_0_3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9" name="Google Shape;479;g3c2b1f6ba11_0_3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c2b1f6ba11_0_3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g3c2b1f6ba11_0_3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c2b1f6ba11_0_3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1" name="Google Shape;491;g3c2b1f6ba11_0_3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g3c2b1f6ba11_0_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7" name="Google Shape;497;g3c2b1f6ba11_0_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c2b1f6ba11_0_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3" name="Google Shape;503;g3c2b1f6ba11_0_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3c2b1f6ba11_0_3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3c2b1f6ba11_0_3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c28f9d26a6_0_8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5" name="Google Shape;515;g3c28f9d26a6_0_8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3c28f9d26a6_0_8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0" name="Google Shape;520;g3c28f9d26a6_0_8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c28f9d26a6_0_8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6" name="Google Shape;526;g3c28f9d26a6_0_8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c28f9d26a6_0_8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1" name="Google Shape;531;g3c28f9d26a6_0_8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3c28f9d26a6_0_8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3c28f9d26a6_0_8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3c28f9d26a6_0_8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3c28f9d26a6_0_8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c28f9d26a6_0_8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8" name="Google Shape;548;g3c28f9d26a6_0_8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c28f9d26a6_0_9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4" name="Google Shape;554;g3c28f9d26a6_0_9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g3c28f9d26a6_0_9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9" name="Google Shape;559;g3c28f9d26a6_0_9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g3c28f9d26a6_0_9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7" name="Google Shape;567;g3c28f9d26a6_0_9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g3c28f9d26a6_0_9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g3c28f9d26a6_0_9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c28f9d26a6_0_9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c28f9d26a6_0_9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g3c28f9d26a6_0_9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5" name="Google Shape;585;g3c28f9d26a6_0_9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Font typeface="Maven Pro"/>
              <a:buNone/>
              <a:defRPr>
                <a:latin typeface="Maven Pro"/>
                <a:ea typeface="Maven Pro"/>
                <a:cs typeface="Maven Pro"/>
                <a:sym typeface="Maven Pro"/>
              </a:defRPr>
            </a:lvl1pPr>
            <a:lvl2pPr lvl="1">
              <a:spcBef>
                <a:spcPts val="0"/>
              </a:spcBef>
              <a:spcAft>
                <a:spcPts val="0"/>
              </a:spcAft>
              <a:buSzPts val="3000"/>
              <a:buFont typeface="Maven Pro"/>
              <a:buNone/>
              <a:defRPr>
                <a:latin typeface="Maven Pro"/>
                <a:ea typeface="Maven Pro"/>
                <a:cs typeface="Maven Pro"/>
                <a:sym typeface="Maven Pro"/>
              </a:defRPr>
            </a:lvl2pPr>
            <a:lvl3pPr lvl="2">
              <a:spcBef>
                <a:spcPts val="0"/>
              </a:spcBef>
              <a:spcAft>
                <a:spcPts val="0"/>
              </a:spcAft>
              <a:buSzPts val="3000"/>
              <a:buFont typeface="Maven Pro"/>
              <a:buNone/>
              <a:defRPr>
                <a:latin typeface="Maven Pro"/>
                <a:ea typeface="Maven Pro"/>
                <a:cs typeface="Maven Pro"/>
                <a:sym typeface="Maven Pro"/>
              </a:defRPr>
            </a:lvl3pPr>
            <a:lvl4pPr lvl="3">
              <a:spcBef>
                <a:spcPts val="0"/>
              </a:spcBef>
              <a:spcAft>
                <a:spcPts val="0"/>
              </a:spcAft>
              <a:buSzPts val="3000"/>
              <a:buFont typeface="Maven Pro"/>
              <a:buNone/>
              <a:defRPr>
                <a:latin typeface="Maven Pro"/>
                <a:ea typeface="Maven Pro"/>
                <a:cs typeface="Maven Pro"/>
                <a:sym typeface="Maven Pro"/>
              </a:defRPr>
            </a:lvl4pPr>
            <a:lvl5pPr lvl="4">
              <a:spcBef>
                <a:spcPts val="0"/>
              </a:spcBef>
              <a:spcAft>
                <a:spcPts val="0"/>
              </a:spcAft>
              <a:buSzPts val="3000"/>
              <a:buFont typeface="Maven Pro"/>
              <a:buNone/>
              <a:defRPr>
                <a:latin typeface="Maven Pro"/>
                <a:ea typeface="Maven Pro"/>
                <a:cs typeface="Maven Pro"/>
                <a:sym typeface="Maven Pro"/>
              </a:defRPr>
            </a:lvl5pPr>
            <a:lvl6pPr lvl="5">
              <a:spcBef>
                <a:spcPts val="0"/>
              </a:spcBef>
              <a:spcAft>
                <a:spcPts val="0"/>
              </a:spcAft>
              <a:buSzPts val="3000"/>
              <a:buFont typeface="Maven Pro"/>
              <a:buNone/>
              <a:defRPr>
                <a:latin typeface="Maven Pro"/>
                <a:ea typeface="Maven Pro"/>
                <a:cs typeface="Maven Pro"/>
                <a:sym typeface="Maven Pro"/>
              </a:defRPr>
            </a:lvl6pPr>
            <a:lvl7pPr lvl="6">
              <a:spcBef>
                <a:spcPts val="0"/>
              </a:spcBef>
              <a:spcAft>
                <a:spcPts val="0"/>
              </a:spcAft>
              <a:buSzPts val="3000"/>
              <a:buFont typeface="Maven Pro"/>
              <a:buNone/>
              <a:defRPr>
                <a:latin typeface="Maven Pro"/>
                <a:ea typeface="Maven Pro"/>
                <a:cs typeface="Maven Pro"/>
                <a:sym typeface="Maven Pro"/>
              </a:defRPr>
            </a:lvl7pPr>
            <a:lvl8pPr lvl="7">
              <a:spcBef>
                <a:spcPts val="0"/>
              </a:spcBef>
              <a:spcAft>
                <a:spcPts val="0"/>
              </a:spcAft>
              <a:buSzPts val="3000"/>
              <a:buFont typeface="Maven Pro"/>
              <a:buNone/>
              <a:defRPr>
                <a:latin typeface="Maven Pro"/>
                <a:ea typeface="Maven Pro"/>
                <a:cs typeface="Maven Pro"/>
                <a:sym typeface="Maven Pro"/>
              </a:defRPr>
            </a:lvl8pPr>
            <a:lvl9pPr lvl="8">
              <a:spcBef>
                <a:spcPts val="0"/>
              </a:spcBef>
              <a:spcAft>
                <a:spcPts val="0"/>
              </a:spcAft>
              <a:buSzPts val="3000"/>
              <a:buFont typeface="Maven Pro"/>
              <a:buNone/>
              <a:defRPr>
                <a:latin typeface="Maven Pro"/>
                <a:ea typeface="Maven Pro"/>
                <a:cs typeface="Maven Pro"/>
                <a:sym typeface="Maven Pro"/>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61950" lvl="0" marL="457200">
              <a:spcBef>
                <a:spcPts val="0"/>
              </a:spcBef>
              <a:spcAft>
                <a:spcPts val="0"/>
              </a:spcAft>
              <a:buSzPts val="2100"/>
              <a:buFont typeface="Maven Pro"/>
              <a:buChar char="●"/>
              <a:defRPr>
                <a:latin typeface="Maven Pro"/>
                <a:ea typeface="Maven Pro"/>
                <a:cs typeface="Maven Pro"/>
                <a:sym typeface="Maven Pro"/>
              </a:defRPr>
            </a:lvl1pPr>
            <a:lvl2pPr indent="-342900" lvl="1" marL="914400">
              <a:spcBef>
                <a:spcPts val="0"/>
              </a:spcBef>
              <a:spcAft>
                <a:spcPts val="0"/>
              </a:spcAft>
              <a:buSzPts val="1800"/>
              <a:buFont typeface="Maven Pro"/>
              <a:buChar char="○"/>
              <a:defRPr>
                <a:latin typeface="Maven Pro"/>
                <a:ea typeface="Maven Pro"/>
                <a:cs typeface="Maven Pro"/>
                <a:sym typeface="Maven Pro"/>
              </a:defRPr>
            </a:lvl2pPr>
            <a:lvl3pPr indent="-330200" lvl="2" marL="1371600">
              <a:spcBef>
                <a:spcPts val="0"/>
              </a:spcBef>
              <a:spcAft>
                <a:spcPts val="0"/>
              </a:spcAft>
              <a:buSzPts val="1600"/>
              <a:buFont typeface="Maven Pro"/>
              <a:buChar char="■"/>
              <a:defRPr>
                <a:latin typeface="Maven Pro"/>
                <a:ea typeface="Maven Pro"/>
                <a:cs typeface="Maven Pro"/>
                <a:sym typeface="Maven Pro"/>
              </a:defRPr>
            </a:lvl3pPr>
            <a:lvl4pPr indent="-317500" lvl="3" marL="1828800">
              <a:spcBef>
                <a:spcPts val="0"/>
              </a:spcBef>
              <a:spcAft>
                <a:spcPts val="0"/>
              </a:spcAft>
              <a:buSzPts val="1400"/>
              <a:buFont typeface="Maven Pro"/>
              <a:buChar char="●"/>
              <a:defRPr>
                <a:latin typeface="Maven Pro"/>
                <a:ea typeface="Maven Pro"/>
                <a:cs typeface="Maven Pro"/>
                <a:sym typeface="Maven Pro"/>
              </a:defRPr>
            </a:lvl4pPr>
            <a:lvl5pPr indent="-317500" lvl="4" marL="2286000">
              <a:spcBef>
                <a:spcPts val="0"/>
              </a:spcBef>
              <a:spcAft>
                <a:spcPts val="0"/>
              </a:spcAft>
              <a:buSzPts val="1400"/>
              <a:buFont typeface="Maven Pro"/>
              <a:buChar char="○"/>
              <a:defRPr>
                <a:latin typeface="Maven Pro"/>
                <a:ea typeface="Maven Pro"/>
                <a:cs typeface="Maven Pro"/>
                <a:sym typeface="Maven Pro"/>
              </a:defRPr>
            </a:lvl5pPr>
            <a:lvl6pPr indent="-317500" lvl="5" marL="2743200">
              <a:spcBef>
                <a:spcPts val="0"/>
              </a:spcBef>
              <a:spcAft>
                <a:spcPts val="0"/>
              </a:spcAft>
              <a:buSzPts val="1400"/>
              <a:buFont typeface="Maven Pro"/>
              <a:buChar char="■"/>
              <a:defRPr>
                <a:latin typeface="Maven Pro"/>
                <a:ea typeface="Maven Pro"/>
                <a:cs typeface="Maven Pro"/>
                <a:sym typeface="Maven Pro"/>
              </a:defRPr>
            </a:lvl6pPr>
            <a:lvl7pPr indent="-317500" lvl="6" marL="3200400">
              <a:spcBef>
                <a:spcPts val="0"/>
              </a:spcBef>
              <a:spcAft>
                <a:spcPts val="0"/>
              </a:spcAft>
              <a:buSzPts val="1400"/>
              <a:buFont typeface="Maven Pro"/>
              <a:buChar char="●"/>
              <a:defRPr>
                <a:latin typeface="Maven Pro"/>
                <a:ea typeface="Maven Pro"/>
                <a:cs typeface="Maven Pro"/>
                <a:sym typeface="Maven Pro"/>
              </a:defRPr>
            </a:lvl7pPr>
            <a:lvl8pPr indent="-317500" lvl="7" marL="3657600">
              <a:spcBef>
                <a:spcPts val="0"/>
              </a:spcBef>
              <a:spcAft>
                <a:spcPts val="0"/>
              </a:spcAft>
              <a:buSzPts val="1400"/>
              <a:buFont typeface="Maven Pro"/>
              <a:buChar char="○"/>
              <a:defRPr>
                <a:latin typeface="Maven Pro"/>
                <a:ea typeface="Maven Pro"/>
                <a:cs typeface="Maven Pro"/>
                <a:sym typeface="Maven Pro"/>
              </a:defRPr>
            </a:lvl8pPr>
            <a:lvl9pPr indent="-317500" lvl="8" marL="4114800">
              <a:spcBef>
                <a:spcPts val="0"/>
              </a:spcBef>
              <a:spcAft>
                <a:spcPts val="0"/>
              </a:spcAft>
              <a:buSzPts val="1400"/>
              <a:buFont typeface="Maven Pro"/>
              <a:buChar char="■"/>
              <a:defRPr>
                <a:latin typeface="Maven Pro"/>
                <a:ea typeface="Maven Pro"/>
                <a:cs typeface="Maven Pro"/>
                <a:sym typeface="Maven Pro"/>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61950" lvl="0" marL="457200">
              <a:spcBef>
                <a:spcPts val="0"/>
              </a:spcBef>
              <a:spcAft>
                <a:spcPts val="0"/>
              </a:spcAft>
              <a:buClr>
                <a:schemeClr val="dk1"/>
              </a:buClr>
              <a:buSzPts val="2100"/>
              <a:buChar char="●"/>
              <a:defRPr>
                <a:solidFill>
                  <a:schemeClr val="dk1"/>
                </a:solidFill>
              </a:defRPr>
            </a:lvl1pPr>
            <a:lvl2pPr indent="-342900" lvl="1" marL="914400">
              <a:spcBef>
                <a:spcPts val="0"/>
              </a:spcBef>
              <a:spcAft>
                <a:spcPts val="0"/>
              </a:spcAft>
              <a:buClr>
                <a:schemeClr val="dk1"/>
              </a:buClr>
              <a:buSzPts val="1800"/>
              <a:buChar char="○"/>
              <a:defRPr>
                <a:solidFill>
                  <a:schemeClr val="dk1"/>
                </a:solidFill>
              </a:defRPr>
            </a:lvl2pPr>
            <a:lvl3pPr indent="-330200" lvl="2" marL="1371600">
              <a:spcBef>
                <a:spcPts val="0"/>
              </a:spcBef>
              <a:spcAft>
                <a:spcPts val="0"/>
              </a:spcAft>
              <a:buClr>
                <a:schemeClr val="dk1"/>
              </a:buClr>
              <a:buSzPts val="16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1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61950" lvl="0" marL="457200" algn="ctr">
              <a:spcBef>
                <a:spcPts val="0"/>
              </a:spcBef>
              <a:spcAft>
                <a:spcPts val="0"/>
              </a:spcAft>
              <a:buSzPts val="2100"/>
              <a:buChar char="●"/>
              <a:defRPr/>
            </a:lvl1pPr>
            <a:lvl2pPr indent="-342900" lvl="1" marL="914400" algn="ctr">
              <a:spcBef>
                <a:spcPts val="0"/>
              </a:spcBef>
              <a:spcAft>
                <a:spcPts val="0"/>
              </a:spcAft>
              <a:buSzPts val="1800"/>
              <a:buChar char="○"/>
              <a:defRPr/>
            </a:lvl2pPr>
            <a:lvl3pPr indent="-330200" lvl="2" marL="1371600" algn="ctr">
              <a:spcBef>
                <a:spcPts val="0"/>
              </a:spcBef>
              <a:spcAft>
                <a:spcPts val="0"/>
              </a:spcAft>
              <a:buSzPts val="16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solidFill>
          <a:srgbClr val="434343"/>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ctr">
              <a:spcBef>
                <a:spcPts val="0"/>
              </a:spcBef>
              <a:spcAft>
                <a:spcPts val="0"/>
              </a:spcAft>
              <a:buClr>
                <a:schemeClr val="accent5"/>
              </a:buClr>
              <a:buSzPts val="3000"/>
              <a:buFont typeface="Maven Pro"/>
              <a:buNone/>
              <a:defRPr sz="3000">
                <a:solidFill>
                  <a:schemeClr val="accent5"/>
                </a:solidFill>
                <a:latin typeface="Maven Pro"/>
                <a:ea typeface="Maven Pro"/>
                <a:cs typeface="Maven Pro"/>
                <a:sym typeface="Maven Pro"/>
              </a:defRPr>
            </a:lvl1pPr>
            <a:lvl2pPr lvl="1" algn="ctr">
              <a:spcBef>
                <a:spcPts val="0"/>
              </a:spcBef>
              <a:spcAft>
                <a:spcPts val="0"/>
              </a:spcAft>
              <a:buClr>
                <a:schemeClr val="dk1"/>
              </a:buClr>
              <a:buSzPts val="3000"/>
              <a:buNone/>
              <a:defRPr sz="3000">
                <a:solidFill>
                  <a:schemeClr val="dk1"/>
                </a:solidFill>
              </a:defRPr>
            </a:lvl2pPr>
            <a:lvl3pPr lvl="2" algn="ctr">
              <a:spcBef>
                <a:spcPts val="0"/>
              </a:spcBef>
              <a:spcAft>
                <a:spcPts val="0"/>
              </a:spcAft>
              <a:buClr>
                <a:schemeClr val="dk1"/>
              </a:buClr>
              <a:buSzPts val="3000"/>
              <a:buNone/>
              <a:defRPr sz="3000">
                <a:solidFill>
                  <a:schemeClr val="dk1"/>
                </a:solidFill>
              </a:defRPr>
            </a:lvl3pPr>
            <a:lvl4pPr lvl="3" algn="ctr">
              <a:spcBef>
                <a:spcPts val="0"/>
              </a:spcBef>
              <a:spcAft>
                <a:spcPts val="0"/>
              </a:spcAft>
              <a:buClr>
                <a:schemeClr val="dk1"/>
              </a:buClr>
              <a:buSzPts val="3000"/>
              <a:buNone/>
              <a:defRPr sz="3000">
                <a:solidFill>
                  <a:schemeClr val="dk1"/>
                </a:solidFill>
              </a:defRPr>
            </a:lvl4pPr>
            <a:lvl5pPr lvl="4" algn="ctr">
              <a:spcBef>
                <a:spcPts val="0"/>
              </a:spcBef>
              <a:spcAft>
                <a:spcPts val="0"/>
              </a:spcAft>
              <a:buClr>
                <a:schemeClr val="dk1"/>
              </a:buClr>
              <a:buSzPts val="3000"/>
              <a:buNone/>
              <a:defRPr sz="3000">
                <a:solidFill>
                  <a:schemeClr val="dk1"/>
                </a:solidFill>
              </a:defRPr>
            </a:lvl5pPr>
            <a:lvl6pPr lvl="5" algn="ctr">
              <a:spcBef>
                <a:spcPts val="0"/>
              </a:spcBef>
              <a:spcAft>
                <a:spcPts val="0"/>
              </a:spcAft>
              <a:buClr>
                <a:schemeClr val="dk1"/>
              </a:buClr>
              <a:buSzPts val="3000"/>
              <a:buNone/>
              <a:defRPr sz="3000">
                <a:solidFill>
                  <a:schemeClr val="dk1"/>
                </a:solidFill>
              </a:defRPr>
            </a:lvl6pPr>
            <a:lvl7pPr lvl="6" algn="ctr">
              <a:spcBef>
                <a:spcPts val="0"/>
              </a:spcBef>
              <a:spcAft>
                <a:spcPts val="0"/>
              </a:spcAft>
              <a:buClr>
                <a:schemeClr val="dk1"/>
              </a:buClr>
              <a:buSzPts val="3000"/>
              <a:buNone/>
              <a:defRPr sz="3000">
                <a:solidFill>
                  <a:schemeClr val="dk1"/>
                </a:solidFill>
              </a:defRPr>
            </a:lvl7pPr>
            <a:lvl8pPr lvl="7" algn="ctr">
              <a:spcBef>
                <a:spcPts val="0"/>
              </a:spcBef>
              <a:spcAft>
                <a:spcPts val="0"/>
              </a:spcAft>
              <a:buClr>
                <a:schemeClr val="dk1"/>
              </a:buClr>
              <a:buSzPts val="3000"/>
              <a:buNone/>
              <a:defRPr sz="3000">
                <a:solidFill>
                  <a:schemeClr val="dk1"/>
                </a:solidFill>
              </a:defRPr>
            </a:lvl8pPr>
            <a:lvl9pPr lvl="8" algn="ctr">
              <a:spcBef>
                <a:spcPts val="0"/>
              </a:spcBef>
              <a:spcAft>
                <a:spcPts val="0"/>
              </a:spcAft>
              <a:buClr>
                <a:schemeClr val="dk1"/>
              </a:buClr>
              <a:buSzPts val="3000"/>
              <a:buNone/>
              <a:defRPr sz="30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61950" lvl="0" marL="457200">
              <a:lnSpc>
                <a:spcPct val="115000"/>
              </a:lnSpc>
              <a:spcBef>
                <a:spcPts val="0"/>
              </a:spcBef>
              <a:spcAft>
                <a:spcPts val="0"/>
              </a:spcAft>
              <a:buClr>
                <a:srgbClr val="D9D9D9"/>
              </a:buClr>
              <a:buSzPts val="2100"/>
              <a:buFont typeface="Maven Pro"/>
              <a:buChar char="●"/>
              <a:defRPr sz="2100">
                <a:solidFill>
                  <a:srgbClr val="D9D9D9"/>
                </a:solidFill>
                <a:latin typeface="Maven Pro"/>
                <a:ea typeface="Maven Pro"/>
                <a:cs typeface="Maven Pro"/>
                <a:sym typeface="Maven Pro"/>
              </a:defRPr>
            </a:lvl1pPr>
            <a:lvl2pPr indent="-342900" lvl="1" marL="914400">
              <a:lnSpc>
                <a:spcPct val="115000"/>
              </a:lnSpc>
              <a:spcBef>
                <a:spcPts val="0"/>
              </a:spcBef>
              <a:spcAft>
                <a:spcPts val="0"/>
              </a:spcAft>
              <a:buClr>
                <a:srgbClr val="D9D9D9"/>
              </a:buClr>
              <a:buSzPts val="1800"/>
              <a:buFont typeface="Maven Pro"/>
              <a:buChar char="○"/>
              <a:defRPr sz="1800">
                <a:solidFill>
                  <a:srgbClr val="D9D9D9"/>
                </a:solidFill>
                <a:latin typeface="Maven Pro"/>
                <a:ea typeface="Maven Pro"/>
                <a:cs typeface="Maven Pro"/>
                <a:sym typeface="Maven Pro"/>
              </a:defRPr>
            </a:lvl2pPr>
            <a:lvl3pPr indent="-330200" lvl="2" marL="1371600">
              <a:lnSpc>
                <a:spcPct val="115000"/>
              </a:lnSpc>
              <a:spcBef>
                <a:spcPts val="0"/>
              </a:spcBef>
              <a:spcAft>
                <a:spcPts val="0"/>
              </a:spcAft>
              <a:buClr>
                <a:srgbClr val="D9D9D9"/>
              </a:buClr>
              <a:buSzPts val="1600"/>
              <a:buFont typeface="Maven Pro"/>
              <a:buChar char="■"/>
              <a:defRPr sz="1600">
                <a:solidFill>
                  <a:srgbClr val="D9D9D9"/>
                </a:solidFill>
                <a:latin typeface="Maven Pro"/>
                <a:ea typeface="Maven Pro"/>
                <a:cs typeface="Maven Pro"/>
                <a:sym typeface="Maven Pro"/>
              </a:defRPr>
            </a:lvl3pPr>
            <a:lvl4pPr indent="-317500" lvl="3" marL="1828800">
              <a:lnSpc>
                <a:spcPct val="115000"/>
              </a:lnSpc>
              <a:spcBef>
                <a:spcPts val="0"/>
              </a:spcBef>
              <a:spcAft>
                <a:spcPts val="0"/>
              </a:spcAft>
              <a:buClr>
                <a:srgbClr val="D9D9D9"/>
              </a:buClr>
              <a:buSzPts val="1400"/>
              <a:buFont typeface="Maven Pro"/>
              <a:buChar char="●"/>
              <a:defRPr>
                <a:solidFill>
                  <a:srgbClr val="D9D9D9"/>
                </a:solidFill>
                <a:latin typeface="Maven Pro"/>
                <a:ea typeface="Maven Pro"/>
                <a:cs typeface="Maven Pro"/>
                <a:sym typeface="Maven Pro"/>
              </a:defRPr>
            </a:lvl4pPr>
            <a:lvl5pPr indent="-317500" lvl="4" marL="2286000">
              <a:lnSpc>
                <a:spcPct val="115000"/>
              </a:lnSpc>
              <a:spcBef>
                <a:spcPts val="0"/>
              </a:spcBef>
              <a:spcAft>
                <a:spcPts val="0"/>
              </a:spcAft>
              <a:buClr>
                <a:srgbClr val="D9D9D9"/>
              </a:buClr>
              <a:buSzPts val="1400"/>
              <a:buFont typeface="Maven Pro"/>
              <a:buChar char="○"/>
              <a:defRPr>
                <a:solidFill>
                  <a:srgbClr val="D9D9D9"/>
                </a:solidFill>
                <a:latin typeface="Maven Pro"/>
                <a:ea typeface="Maven Pro"/>
                <a:cs typeface="Maven Pro"/>
                <a:sym typeface="Maven Pro"/>
              </a:defRPr>
            </a:lvl5pPr>
            <a:lvl6pPr indent="-317500" lvl="5" marL="2743200">
              <a:lnSpc>
                <a:spcPct val="115000"/>
              </a:lnSpc>
              <a:spcBef>
                <a:spcPts val="0"/>
              </a:spcBef>
              <a:spcAft>
                <a:spcPts val="0"/>
              </a:spcAft>
              <a:buClr>
                <a:srgbClr val="D9D9D9"/>
              </a:buClr>
              <a:buSzPts val="1400"/>
              <a:buFont typeface="Maven Pro"/>
              <a:buChar char="■"/>
              <a:defRPr>
                <a:solidFill>
                  <a:srgbClr val="D9D9D9"/>
                </a:solidFill>
                <a:latin typeface="Maven Pro"/>
                <a:ea typeface="Maven Pro"/>
                <a:cs typeface="Maven Pro"/>
                <a:sym typeface="Maven Pro"/>
              </a:defRPr>
            </a:lvl6pPr>
            <a:lvl7pPr indent="-317500" lvl="6" marL="3200400">
              <a:lnSpc>
                <a:spcPct val="115000"/>
              </a:lnSpc>
              <a:spcBef>
                <a:spcPts val="0"/>
              </a:spcBef>
              <a:spcAft>
                <a:spcPts val="0"/>
              </a:spcAft>
              <a:buClr>
                <a:srgbClr val="D9D9D9"/>
              </a:buClr>
              <a:buSzPts val="1400"/>
              <a:buFont typeface="Maven Pro"/>
              <a:buChar char="●"/>
              <a:defRPr>
                <a:solidFill>
                  <a:srgbClr val="D9D9D9"/>
                </a:solidFill>
                <a:latin typeface="Maven Pro"/>
                <a:ea typeface="Maven Pro"/>
                <a:cs typeface="Maven Pro"/>
                <a:sym typeface="Maven Pro"/>
              </a:defRPr>
            </a:lvl7pPr>
            <a:lvl8pPr indent="-317500" lvl="7" marL="3657600">
              <a:lnSpc>
                <a:spcPct val="115000"/>
              </a:lnSpc>
              <a:spcBef>
                <a:spcPts val="0"/>
              </a:spcBef>
              <a:spcAft>
                <a:spcPts val="0"/>
              </a:spcAft>
              <a:buClr>
                <a:srgbClr val="D9D9D9"/>
              </a:buClr>
              <a:buSzPts val="1400"/>
              <a:buFont typeface="Maven Pro"/>
              <a:buChar char="○"/>
              <a:defRPr>
                <a:solidFill>
                  <a:srgbClr val="D9D9D9"/>
                </a:solidFill>
                <a:latin typeface="Maven Pro"/>
                <a:ea typeface="Maven Pro"/>
                <a:cs typeface="Maven Pro"/>
                <a:sym typeface="Maven Pro"/>
              </a:defRPr>
            </a:lvl8pPr>
            <a:lvl9pPr indent="-317500" lvl="8" marL="4114800">
              <a:lnSpc>
                <a:spcPct val="115000"/>
              </a:lnSpc>
              <a:spcBef>
                <a:spcPts val="0"/>
              </a:spcBef>
              <a:spcAft>
                <a:spcPts val="0"/>
              </a:spcAft>
              <a:buClr>
                <a:srgbClr val="D9D9D9"/>
              </a:buClr>
              <a:buSzPts val="1400"/>
              <a:buFont typeface="Maven Pro"/>
              <a:buChar char="■"/>
              <a:defRPr>
                <a:solidFill>
                  <a:srgbClr val="D9D9D9"/>
                </a:solidFill>
                <a:latin typeface="Maven Pro"/>
                <a:ea typeface="Maven Pro"/>
                <a:cs typeface="Maven Pro"/>
                <a:sym typeface="Maven Pr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hyperlink" Target="https://www.tylervigen.com/spurious-correlations"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 Id="rId3" Type="http://schemas.openxmlformats.org/officeDocument/2006/relationships/image" Target="../media/image1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 Id="rId3"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Module 6 – Data Visualization &amp; Storytelling</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1613500"/>
            <a:ext cx="8520600" cy="13791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
              <a:t>Charts &amp; Plots </a:t>
            </a:r>
            <a:endParaRPr/>
          </a:p>
          <a:p>
            <a:pPr indent="0" lvl="0" marL="0" rtl="0" algn="ctr">
              <a:spcBef>
                <a:spcPts val="0"/>
              </a:spcBef>
              <a:spcAft>
                <a:spcPts val="0"/>
              </a:spcAft>
              <a:buNone/>
            </a:pPr>
            <a:r>
              <a:rPr lang="en"/>
              <a:t>matplotlib, seaborn, plotly</a:t>
            </a:r>
            <a:endParaRPr/>
          </a:p>
          <a:p>
            <a:pPr indent="0" lvl="0" marL="0" rtl="0" algn="l">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5"/>
          <p:cNvSpPr txBox="1"/>
          <p:nvPr>
            <p:ph type="title"/>
          </p:nvPr>
        </p:nvSpPr>
        <p:spPr>
          <a:xfrm>
            <a:off x="311700" y="1190750"/>
            <a:ext cx="8520600" cy="22077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b="1" lang="en"/>
              <a:t>Class 1</a:t>
            </a:r>
            <a:endParaRPr b="1"/>
          </a:p>
          <a:p>
            <a:pPr indent="0" lvl="0" marL="0" rtl="0" algn="ctr">
              <a:spcBef>
                <a:spcPts val="0"/>
              </a:spcBef>
              <a:spcAft>
                <a:spcPts val="0"/>
              </a:spcAft>
              <a:buNone/>
            </a:pPr>
            <a:r>
              <a:t/>
            </a:r>
            <a:endParaRPr/>
          </a:p>
          <a:p>
            <a:pPr indent="-434340" lvl="0" marL="457200" rtl="0" algn="ctr">
              <a:spcBef>
                <a:spcPts val="0"/>
              </a:spcBef>
              <a:spcAft>
                <a:spcPts val="0"/>
              </a:spcAft>
              <a:buSzPct val="100000"/>
              <a:buChar char="-"/>
            </a:pPr>
            <a:r>
              <a:rPr lang="en"/>
              <a:t>Line plots, bar charts, and histograms</a:t>
            </a:r>
            <a:endParaRPr/>
          </a:p>
          <a:p>
            <a:pPr indent="0" lvl="0" marL="0" rtl="0" algn="ctr">
              <a:spcBef>
                <a:spcPts val="0"/>
              </a:spcBef>
              <a:spcAft>
                <a:spcPts val="0"/>
              </a:spcAft>
              <a:buNone/>
            </a:pPr>
            <a:r>
              <a:rPr lang="en"/>
              <a:t>- Label plots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Visualization libraries in Python</a:t>
            </a:r>
            <a:endParaRPr/>
          </a:p>
        </p:txBody>
      </p:sp>
      <p:sp>
        <p:nvSpPr>
          <p:cNvPr id="71" name="Google Shape;71;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61950" lvl="0" marL="457200" rtl="0" algn="l">
              <a:spcBef>
                <a:spcPts val="0"/>
              </a:spcBef>
              <a:spcAft>
                <a:spcPts val="0"/>
              </a:spcAft>
              <a:buSzPts val="2100"/>
              <a:buChar char="-"/>
            </a:pPr>
            <a:r>
              <a:rPr lang="en"/>
              <a:t>Matplotlib (from matplotlib import pyplot as plt)</a:t>
            </a:r>
            <a:endParaRPr/>
          </a:p>
          <a:p>
            <a:pPr indent="-342900" lvl="1" marL="914400" rtl="0" algn="l">
              <a:spcBef>
                <a:spcPts val="0"/>
              </a:spcBef>
              <a:spcAft>
                <a:spcPts val="0"/>
              </a:spcAft>
              <a:buSzPts val="1800"/>
              <a:buChar char="-"/>
            </a:pPr>
            <a:r>
              <a:rPr lang="en"/>
              <a:t>Use plt.</a:t>
            </a:r>
            <a:endParaRPr/>
          </a:p>
          <a:p>
            <a:pPr indent="-361950" lvl="0" marL="457200" rtl="0" algn="l">
              <a:spcBef>
                <a:spcPts val="0"/>
              </a:spcBef>
              <a:spcAft>
                <a:spcPts val="0"/>
              </a:spcAft>
              <a:buSzPts val="2100"/>
              <a:buChar char="-"/>
            </a:pPr>
            <a:r>
              <a:rPr lang="en"/>
              <a:t>Seaborn (import seaborn as sns)</a:t>
            </a:r>
            <a:endParaRPr/>
          </a:p>
          <a:p>
            <a:pPr indent="-342900" lvl="1" marL="914400" rtl="0" algn="l">
              <a:spcBef>
                <a:spcPts val="0"/>
              </a:spcBef>
              <a:spcAft>
                <a:spcPts val="0"/>
              </a:spcAft>
              <a:buSzPts val="1800"/>
              <a:buChar char="-"/>
            </a:pPr>
            <a:r>
              <a:rPr lang="en"/>
              <a:t>Use sns.</a:t>
            </a:r>
            <a:endParaRPr/>
          </a:p>
          <a:p>
            <a:pPr indent="-361950" lvl="0" marL="457200" rtl="0" algn="l">
              <a:spcBef>
                <a:spcPts val="0"/>
              </a:spcBef>
              <a:spcAft>
                <a:spcPts val="0"/>
              </a:spcAft>
              <a:buSzPts val="2100"/>
              <a:buChar char="-"/>
            </a:pPr>
            <a:r>
              <a:rPr lang="en"/>
              <a:t>Plotly (import plotly.express as px)</a:t>
            </a:r>
            <a:endParaRPr/>
          </a:p>
          <a:p>
            <a:pPr indent="-342900" lvl="1" marL="914400" rtl="0" algn="l">
              <a:spcBef>
                <a:spcPts val="0"/>
              </a:spcBef>
              <a:spcAft>
                <a:spcPts val="0"/>
              </a:spcAft>
              <a:buSzPts val="1800"/>
              <a:buChar char="-"/>
            </a:pPr>
            <a:r>
              <a:rPr lang="en"/>
              <a:t>Use px.</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Line Plots</a:t>
            </a:r>
            <a:endParaRPr/>
          </a:p>
        </p:txBody>
      </p:sp>
      <p:pic>
        <p:nvPicPr>
          <p:cNvPr id="77" name="Google Shape;77;p17"/>
          <p:cNvPicPr preferRelativeResize="0"/>
          <p:nvPr/>
        </p:nvPicPr>
        <p:blipFill>
          <a:blip r:embed="rId3">
            <a:alphaModFix/>
          </a:blip>
          <a:stretch>
            <a:fillRect/>
          </a:stretch>
        </p:blipFill>
        <p:spPr>
          <a:xfrm>
            <a:off x="2315750" y="1076450"/>
            <a:ext cx="4802951" cy="36427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Line Chart</a:t>
            </a:r>
            <a:endParaRPr/>
          </a:p>
        </p:txBody>
      </p:sp>
      <p:sp>
        <p:nvSpPr>
          <p:cNvPr id="83" name="Google Shape;83;p18"/>
          <p:cNvSpPr txBox="1"/>
          <p:nvPr>
            <p:ph idx="1" type="body"/>
          </p:nvPr>
        </p:nvSpPr>
        <p:spPr>
          <a:xfrm>
            <a:off x="4934475" y="1152475"/>
            <a:ext cx="3897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your notebook:</a:t>
            </a:r>
            <a:endParaRPr/>
          </a:p>
          <a:p>
            <a:pPr indent="0" lvl="0" marL="0" rtl="0" algn="l">
              <a:spcBef>
                <a:spcPts val="1200"/>
              </a:spcBef>
              <a:spcAft>
                <a:spcPts val="0"/>
              </a:spcAft>
              <a:buNone/>
            </a:pPr>
            <a:r>
              <a:rPr lang="en"/>
              <a:t>Make and view the line graph with each library.</a:t>
            </a:r>
            <a:endParaRPr/>
          </a:p>
          <a:p>
            <a:pPr indent="0" lvl="0" marL="0" rtl="0" algn="l">
              <a:spcBef>
                <a:spcPts val="1200"/>
              </a:spcBef>
              <a:spcAft>
                <a:spcPts val="1200"/>
              </a:spcAft>
              <a:buNone/>
            </a:pPr>
            <a:r>
              <a:rPr lang="en"/>
              <a:t>What differences do you see between the libraries?</a:t>
            </a:r>
            <a:endParaRPr/>
          </a:p>
        </p:txBody>
      </p:sp>
      <p:pic>
        <p:nvPicPr>
          <p:cNvPr id="84" name="Google Shape;84;p18"/>
          <p:cNvPicPr preferRelativeResize="0"/>
          <p:nvPr/>
        </p:nvPicPr>
        <p:blipFill>
          <a:blip r:embed="rId3">
            <a:alphaModFix/>
          </a:blip>
          <a:stretch>
            <a:fillRect/>
          </a:stretch>
        </p:blipFill>
        <p:spPr>
          <a:xfrm>
            <a:off x="222875" y="1017725"/>
            <a:ext cx="3543300" cy="685800"/>
          </a:xfrm>
          <a:prstGeom prst="rect">
            <a:avLst/>
          </a:prstGeom>
          <a:noFill/>
          <a:ln>
            <a:noFill/>
          </a:ln>
        </p:spPr>
      </p:pic>
      <p:pic>
        <p:nvPicPr>
          <p:cNvPr id="85" name="Google Shape;85;p18"/>
          <p:cNvPicPr preferRelativeResize="0"/>
          <p:nvPr/>
        </p:nvPicPr>
        <p:blipFill>
          <a:blip r:embed="rId4">
            <a:alphaModFix/>
          </a:blip>
          <a:stretch>
            <a:fillRect/>
          </a:stretch>
        </p:blipFill>
        <p:spPr>
          <a:xfrm>
            <a:off x="311700" y="1822900"/>
            <a:ext cx="3797928" cy="572700"/>
          </a:xfrm>
          <a:prstGeom prst="rect">
            <a:avLst/>
          </a:prstGeom>
          <a:noFill/>
          <a:ln>
            <a:noFill/>
          </a:ln>
        </p:spPr>
      </p:pic>
      <p:pic>
        <p:nvPicPr>
          <p:cNvPr id="86" name="Google Shape;86;p18"/>
          <p:cNvPicPr preferRelativeResize="0"/>
          <p:nvPr/>
        </p:nvPicPr>
        <p:blipFill>
          <a:blip r:embed="rId5">
            <a:alphaModFix/>
          </a:blip>
          <a:stretch>
            <a:fillRect/>
          </a:stretch>
        </p:blipFill>
        <p:spPr>
          <a:xfrm>
            <a:off x="164138" y="2514963"/>
            <a:ext cx="4410075" cy="6762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Comparing visualization libraries</a:t>
            </a:r>
            <a:endParaRPr/>
          </a:p>
        </p:txBody>
      </p:sp>
      <p:sp>
        <p:nvSpPr>
          <p:cNvPr id="92" name="Google Shape;92;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61950" lvl="0" marL="457200" rtl="0" algn="l">
              <a:spcBef>
                <a:spcPts val="0"/>
              </a:spcBef>
              <a:spcAft>
                <a:spcPts val="0"/>
              </a:spcAft>
              <a:buSzPts val="2100"/>
              <a:buChar char="-"/>
            </a:pPr>
            <a:r>
              <a:rPr lang="en"/>
              <a:t>Matplotlib has a different argument format  (although in matplotlib you can use the seaborn format too)</a:t>
            </a:r>
            <a:endParaRPr/>
          </a:p>
          <a:p>
            <a:pPr indent="-342900" lvl="1" marL="914400" rtl="0" algn="l">
              <a:spcBef>
                <a:spcPts val="0"/>
              </a:spcBef>
              <a:spcAft>
                <a:spcPts val="0"/>
              </a:spcAft>
              <a:buSzPts val="1800"/>
              <a:buChar char="-"/>
            </a:pPr>
            <a:r>
              <a:rPr lang="en"/>
              <a:t>Both </a:t>
            </a:r>
            <a:r>
              <a:rPr lang="en"/>
              <a:t>(df.age, df.avg_height) and (data=df, x="age", y="avg_height") can be used in matplotlib</a:t>
            </a:r>
            <a:endParaRPr/>
          </a:p>
          <a:p>
            <a:pPr indent="-361950" lvl="0" marL="457200" rtl="0" algn="l">
              <a:spcBef>
                <a:spcPts val="0"/>
              </a:spcBef>
              <a:spcAft>
                <a:spcPts val="0"/>
              </a:spcAft>
              <a:buSzPts val="2100"/>
              <a:buChar char="-"/>
            </a:pPr>
            <a:r>
              <a:rPr lang="en"/>
              <a:t>Seaborn automatically labels x and y axes</a:t>
            </a:r>
            <a:endParaRPr/>
          </a:p>
          <a:p>
            <a:pPr indent="-361950" lvl="0" marL="457200" rtl="0" algn="l">
              <a:spcBef>
                <a:spcPts val="0"/>
              </a:spcBef>
              <a:spcAft>
                <a:spcPts val="0"/>
              </a:spcAft>
              <a:buSzPts val="2100"/>
              <a:buChar char="-"/>
            </a:pPr>
            <a:r>
              <a:rPr lang="en"/>
              <a:t>Plotly shows information if user hovers over a data point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Adding labels to seaborn and matplotlib graphs</a:t>
            </a:r>
            <a:endParaRPr/>
          </a:p>
        </p:txBody>
      </p:sp>
      <p:sp>
        <p:nvSpPr>
          <p:cNvPr id="98" name="Google Shape;98;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plt.title("Average Height by Age")</a:t>
            </a:r>
            <a:endParaRPr/>
          </a:p>
          <a:p>
            <a:pPr indent="0" lvl="0" marL="0" rtl="0" algn="l">
              <a:spcBef>
                <a:spcPts val="1200"/>
              </a:spcBef>
              <a:spcAft>
                <a:spcPts val="0"/>
              </a:spcAft>
              <a:buNone/>
            </a:pPr>
            <a:r>
              <a:rPr lang="en"/>
              <a:t>plt.xlabel("Age")</a:t>
            </a:r>
            <a:endParaRPr/>
          </a:p>
          <a:p>
            <a:pPr indent="0" lvl="0" marL="0" rtl="0" algn="l">
              <a:spcBef>
                <a:spcPts val="1200"/>
              </a:spcBef>
              <a:spcAft>
                <a:spcPts val="0"/>
              </a:spcAft>
              <a:buNone/>
            </a:pPr>
            <a:r>
              <a:rPr lang="en"/>
              <a:t>plt.ylabel("Average Height")</a:t>
            </a:r>
            <a:endParaRPr/>
          </a:p>
          <a:p>
            <a:pPr indent="0" lvl="0" marL="0" rtl="0" algn="l">
              <a:spcBef>
                <a:spcPts val="1200"/>
              </a:spcBef>
              <a:spcAft>
                <a:spcPts val="1200"/>
              </a:spcAft>
              <a:buNone/>
            </a:pPr>
            <a:r>
              <a:rPr lang="en"/>
              <a:t>plt.legend()</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Adding labels to plotly graphs</a:t>
            </a:r>
            <a:endParaRPr/>
          </a:p>
        </p:txBody>
      </p:sp>
      <p:sp>
        <p:nvSpPr>
          <p:cNvPr id="104" name="Google Shape;104;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lnSpc>
                <a:spcPct val="100000"/>
              </a:lnSpc>
              <a:spcBef>
                <a:spcPts val="0"/>
              </a:spcBef>
              <a:spcAft>
                <a:spcPts val="0"/>
              </a:spcAft>
              <a:buNone/>
            </a:pPr>
            <a:r>
              <a:rPr lang="en"/>
              <a:t>Add </a:t>
            </a:r>
            <a:r>
              <a:rPr lang="en"/>
              <a:t>arguments</a:t>
            </a:r>
            <a:r>
              <a:rPr lang="en"/>
              <a:t> directly into the function, for example:</a:t>
            </a:r>
            <a:endParaRPr/>
          </a:p>
          <a:p>
            <a:pPr indent="0" lvl="0" marL="0" rtl="0" algn="l">
              <a:lnSpc>
                <a:spcPct val="100000"/>
              </a:lnSpc>
              <a:spcBef>
                <a:spcPts val="0"/>
              </a:spcBef>
              <a:spcAft>
                <a:spcPts val="0"/>
              </a:spcAft>
              <a:buNone/>
            </a:pPr>
            <a:br>
              <a:rPr lang="en"/>
            </a:br>
            <a:r>
              <a:rPr lang="en" sz="1918"/>
              <a:t>px.line(</a:t>
            </a:r>
            <a:endParaRPr sz="1918"/>
          </a:p>
          <a:p>
            <a:pPr indent="0" lvl="0" marL="0" rtl="0" algn="l">
              <a:lnSpc>
                <a:spcPct val="100000"/>
              </a:lnSpc>
              <a:spcBef>
                <a:spcPts val="0"/>
              </a:spcBef>
              <a:spcAft>
                <a:spcPts val="0"/>
              </a:spcAft>
              <a:buNone/>
            </a:pPr>
            <a:r>
              <a:rPr lang="en" sz="1918"/>
              <a:t>    df,</a:t>
            </a:r>
            <a:endParaRPr sz="1918"/>
          </a:p>
          <a:p>
            <a:pPr indent="0" lvl="0" marL="0" rtl="0" algn="l">
              <a:lnSpc>
                <a:spcPct val="100000"/>
              </a:lnSpc>
              <a:spcBef>
                <a:spcPts val="0"/>
              </a:spcBef>
              <a:spcAft>
                <a:spcPts val="0"/>
              </a:spcAft>
              <a:buNone/>
            </a:pPr>
            <a:r>
              <a:rPr lang="en" sz="1918"/>
              <a:t>    x="age",</a:t>
            </a:r>
            <a:endParaRPr sz="1918"/>
          </a:p>
          <a:p>
            <a:pPr indent="0" lvl="0" marL="0" rtl="0" algn="l">
              <a:lnSpc>
                <a:spcPct val="100000"/>
              </a:lnSpc>
              <a:spcBef>
                <a:spcPts val="0"/>
              </a:spcBef>
              <a:spcAft>
                <a:spcPts val="0"/>
              </a:spcAft>
              <a:buNone/>
            </a:pPr>
            <a:r>
              <a:rPr lang="en" sz="1918"/>
              <a:t>    y="avg_height",</a:t>
            </a:r>
            <a:endParaRPr sz="1918"/>
          </a:p>
          <a:p>
            <a:pPr indent="0" lvl="0" marL="0" rtl="0" algn="l">
              <a:lnSpc>
                <a:spcPct val="100000"/>
              </a:lnSpc>
              <a:spcBef>
                <a:spcPts val="0"/>
              </a:spcBef>
              <a:spcAft>
                <a:spcPts val="0"/>
              </a:spcAft>
              <a:buNone/>
            </a:pPr>
            <a:r>
              <a:rPr lang="en" sz="1918">
                <a:solidFill>
                  <a:schemeClr val="accent5"/>
                </a:solidFill>
              </a:rPr>
              <a:t>    title="Average Height by Age",</a:t>
            </a:r>
            <a:endParaRPr sz="1918">
              <a:solidFill>
                <a:schemeClr val="accent5"/>
              </a:solidFill>
            </a:endParaRPr>
          </a:p>
          <a:p>
            <a:pPr indent="0" lvl="0" marL="0" rtl="0" algn="l">
              <a:lnSpc>
                <a:spcPct val="100000"/>
              </a:lnSpc>
              <a:spcBef>
                <a:spcPts val="0"/>
              </a:spcBef>
              <a:spcAft>
                <a:spcPts val="0"/>
              </a:spcAft>
              <a:buNone/>
            </a:pPr>
            <a:r>
              <a:rPr lang="en" sz="1918">
                <a:solidFill>
                  <a:schemeClr val="accent5"/>
                </a:solidFill>
              </a:rPr>
              <a:t>    labels={</a:t>
            </a:r>
            <a:endParaRPr sz="1918">
              <a:solidFill>
                <a:schemeClr val="accent5"/>
              </a:solidFill>
            </a:endParaRPr>
          </a:p>
          <a:p>
            <a:pPr indent="0" lvl="0" marL="0" rtl="0" algn="l">
              <a:lnSpc>
                <a:spcPct val="100000"/>
              </a:lnSpc>
              <a:spcBef>
                <a:spcPts val="0"/>
              </a:spcBef>
              <a:spcAft>
                <a:spcPts val="0"/>
              </a:spcAft>
              <a:buNone/>
            </a:pPr>
            <a:r>
              <a:rPr lang="en" sz="1918">
                <a:solidFill>
                  <a:schemeClr val="accent5"/>
                </a:solidFill>
              </a:rPr>
              <a:t>        "age": "Age",</a:t>
            </a:r>
            <a:endParaRPr sz="1918">
              <a:solidFill>
                <a:schemeClr val="accent5"/>
              </a:solidFill>
            </a:endParaRPr>
          </a:p>
          <a:p>
            <a:pPr indent="0" lvl="0" marL="0" rtl="0" algn="l">
              <a:lnSpc>
                <a:spcPct val="100000"/>
              </a:lnSpc>
              <a:spcBef>
                <a:spcPts val="0"/>
              </a:spcBef>
              <a:spcAft>
                <a:spcPts val="0"/>
              </a:spcAft>
              <a:buNone/>
            </a:pPr>
            <a:r>
              <a:rPr lang="en" sz="1918">
                <a:solidFill>
                  <a:schemeClr val="accent5"/>
                </a:solidFill>
              </a:rPr>
              <a:t>        "avg_height": "Average Height"</a:t>
            </a:r>
            <a:endParaRPr sz="1918">
              <a:solidFill>
                <a:schemeClr val="accent5"/>
              </a:solidFill>
            </a:endParaRPr>
          </a:p>
          <a:p>
            <a:pPr indent="0" lvl="0" marL="0" rtl="0" algn="l">
              <a:lnSpc>
                <a:spcPct val="100000"/>
              </a:lnSpc>
              <a:spcBef>
                <a:spcPts val="0"/>
              </a:spcBef>
              <a:spcAft>
                <a:spcPts val="0"/>
              </a:spcAft>
              <a:buNone/>
            </a:pPr>
            <a:r>
              <a:rPr lang="en" sz="1918">
                <a:solidFill>
                  <a:schemeClr val="accent5"/>
                </a:solidFill>
              </a:rPr>
              <a:t>    }</a:t>
            </a:r>
            <a:endParaRPr sz="1918">
              <a:solidFill>
                <a:schemeClr val="accent5"/>
              </a:solidFill>
            </a:endParaRPr>
          </a:p>
          <a:p>
            <a:pPr indent="0" lvl="0" marL="0" rtl="0" algn="l">
              <a:lnSpc>
                <a:spcPct val="100000"/>
              </a:lnSpc>
              <a:spcBef>
                <a:spcPts val="0"/>
              </a:spcBef>
              <a:spcAft>
                <a:spcPts val="0"/>
              </a:spcAft>
              <a:buNone/>
            </a:pPr>
            <a:r>
              <a:rPr lang="en" sz="1918"/>
              <a:t>)</a:t>
            </a:r>
            <a:endParaRPr sz="1918"/>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In your notebook..</a:t>
            </a:r>
            <a:endParaRPr/>
          </a:p>
        </p:txBody>
      </p:sp>
      <p:sp>
        <p:nvSpPr>
          <p:cNvPr id="110" name="Google Shape;110;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In your notebook, add labels to the graph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Bar charts</a:t>
            </a:r>
            <a:endParaRPr/>
          </a:p>
        </p:txBody>
      </p:sp>
      <p:pic>
        <p:nvPicPr>
          <p:cNvPr id="116" name="Google Shape;116;p23"/>
          <p:cNvPicPr preferRelativeResize="0"/>
          <p:nvPr/>
        </p:nvPicPr>
        <p:blipFill>
          <a:blip r:embed="rId3">
            <a:alphaModFix/>
          </a:blip>
          <a:stretch>
            <a:fillRect/>
          </a:stretch>
        </p:blipFill>
        <p:spPr>
          <a:xfrm>
            <a:off x="2223024" y="1088175"/>
            <a:ext cx="5024850" cy="37991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Bar charts</a:t>
            </a:r>
            <a:endParaRPr/>
          </a:p>
        </p:txBody>
      </p:sp>
      <p:sp>
        <p:nvSpPr>
          <p:cNvPr id="122" name="Google Shape;122;p24"/>
          <p:cNvSpPr txBox="1"/>
          <p:nvPr>
            <p:ph idx="1" type="body"/>
          </p:nvPr>
        </p:nvSpPr>
        <p:spPr>
          <a:xfrm>
            <a:off x="311700" y="1152475"/>
            <a:ext cx="83337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To make a bar chart, use:</a:t>
            </a:r>
            <a:endParaRPr/>
          </a:p>
          <a:p>
            <a:pPr indent="0" lvl="0" marL="0" rtl="0" algn="l">
              <a:spcBef>
                <a:spcPts val="1200"/>
              </a:spcBef>
              <a:spcAft>
                <a:spcPts val="0"/>
              </a:spcAft>
              <a:buNone/>
            </a:pPr>
            <a:r>
              <a:rPr lang="en"/>
              <a:t>plt.bar()</a:t>
            </a:r>
            <a:endParaRPr/>
          </a:p>
          <a:p>
            <a:pPr indent="0" lvl="0" marL="0" rtl="0" algn="l">
              <a:spcBef>
                <a:spcPts val="1200"/>
              </a:spcBef>
              <a:spcAft>
                <a:spcPts val="0"/>
              </a:spcAft>
              <a:buNone/>
            </a:pPr>
            <a:r>
              <a:rPr lang="en"/>
              <a:t>sns.barplot()</a:t>
            </a:r>
            <a:endParaRPr/>
          </a:p>
          <a:p>
            <a:pPr indent="0" lvl="0" marL="0" rtl="0" algn="l">
              <a:spcBef>
                <a:spcPts val="1200"/>
              </a:spcBef>
              <a:spcAft>
                <a:spcPts val="0"/>
              </a:spcAft>
              <a:buNone/>
            </a:pPr>
            <a:r>
              <a:rPr lang="en"/>
              <a:t>px.bar()</a:t>
            </a:r>
            <a:endParaRPr/>
          </a:p>
          <a:p>
            <a:pPr indent="0" lvl="0" marL="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Bar charts</a:t>
            </a:r>
            <a:endParaRPr/>
          </a:p>
        </p:txBody>
      </p:sp>
      <p:sp>
        <p:nvSpPr>
          <p:cNvPr id="128" name="Google Shape;128;p25"/>
          <p:cNvSpPr txBox="1"/>
          <p:nvPr>
            <p:ph idx="1" type="body"/>
          </p:nvPr>
        </p:nvSpPr>
        <p:spPr>
          <a:xfrm>
            <a:off x="311700" y="1132050"/>
            <a:ext cx="8333700" cy="3436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Arguments: </a:t>
            </a:r>
            <a:endParaRPr/>
          </a:p>
          <a:p>
            <a:pPr indent="-361950" lvl="0" marL="457200" rtl="0" algn="l">
              <a:spcBef>
                <a:spcPts val="1200"/>
              </a:spcBef>
              <a:spcAft>
                <a:spcPts val="0"/>
              </a:spcAft>
              <a:buSzPts val="2100"/>
              <a:buChar char="-"/>
            </a:pPr>
            <a:r>
              <a:rPr lang="en"/>
              <a:t>In plotly, try adding the color argument. color="choose_a_variable"</a:t>
            </a:r>
            <a:endParaRPr/>
          </a:p>
          <a:p>
            <a:pPr indent="-361950" lvl="0" marL="457200" rtl="0" algn="l">
              <a:spcBef>
                <a:spcPts val="0"/>
              </a:spcBef>
              <a:spcAft>
                <a:spcPts val="0"/>
              </a:spcAft>
              <a:buSzPts val="2100"/>
              <a:buChar char="-"/>
            </a:pPr>
            <a:r>
              <a:rPr lang="en"/>
              <a:t>Do the same in seaborn, except instead of color, call it hue.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Bar charts</a:t>
            </a:r>
            <a:endParaRPr/>
          </a:p>
        </p:txBody>
      </p:sp>
      <p:sp>
        <p:nvSpPr>
          <p:cNvPr id="134" name="Google Shape;134;p26"/>
          <p:cNvSpPr txBox="1"/>
          <p:nvPr>
            <p:ph idx="1" type="body"/>
          </p:nvPr>
        </p:nvSpPr>
        <p:spPr>
          <a:xfrm>
            <a:off x="311700" y="1132050"/>
            <a:ext cx="8333700" cy="3436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Arguments: </a:t>
            </a:r>
            <a:endParaRPr/>
          </a:p>
          <a:p>
            <a:pPr indent="-361950" lvl="0" marL="457200" rtl="0" algn="l">
              <a:spcBef>
                <a:spcPts val="1200"/>
              </a:spcBef>
              <a:spcAft>
                <a:spcPts val="0"/>
              </a:spcAft>
              <a:buSzPts val="2100"/>
              <a:buChar char="-"/>
            </a:pPr>
            <a:r>
              <a:rPr lang="en"/>
              <a:t>In plotly, try adding or taking away the argument barmode="group"</a:t>
            </a:r>
            <a:endParaRPr/>
          </a:p>
          <a:p>
            <a:pPr indent="-361950" lvl="0" marL="457200" rtl="0" algn="l">
              <a:spcBef>
                <a:spcPts val="0"/>
              </a:spcBef>
              <a:spcAft>
                <a:spcPts val="0"/>
              </a:spcAft>
              <a:buSzPts val="2100"/>
              <a:buChar char="-"/>
            </a:pPr>
            <a:r>
              <a:rPr lang="en"/>
              <a:t>In seaborn, estimator can be 'median'/'min'/'max'/'mean' - what does that mean?</a:t>
            </a:r>
            <a:endParaRPr/>
          </a:p>
          <a:p>
            <a:pPr indent="-361950" lvl="0" marL="457200" rtl="0" algn="l">
              <a:spcBef>
                <a:spcPts val="0"/>
              </a:spcBef>
              <a:spcAft>
                <a:spcPts val="0"/>
              </a:spcAft>
              <a:buSzPts val="2100"/>
              <a:buChar char="-"/>
            </a:pPr>
            <a:r>
              <a:rPr lang="en"/>
              <a:t>In seaborn, try adding or taking away the errorbar=None argument</a:t>
            </a:r>
            <a:endParaRPr/>
          </a:p>
          <a:p>
            <a:pPr indent="0" lvl="0" marL="0" rtl="0" algn="l">
              <a:spcBef>
                <a:spcPts val="1200"/>
              </a:spcBef>
              <a:spcAft>
                <a:spcPts val="120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Histograms</a:t>
            </a:r>
            <a:endParaRPr/>
          </a:p>
        </p:txBody>
      </p:sp>
      <p:sp>
        <p:nvSpPr>
          <p:cNvPr id="140" name="Google Shape;140;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41" name="Google Shape;141;p27"/>
          <p:cNvPicPr preferRelativeResize="0"/>
          <p:nvPr/>
        </p:nvPicPr>
        <p:blipFill>
          <a:blip r:embed="rId3">
            <a:alphaModFix/>
          </a:blip>
          <a:stretch>
            <a:fillRect/>
          </a:stretch>
        </p:blipFill>
        <p:spPr>
          <a:xfrm>
            <a:off x="241250" y="1262550"/>
            <a:ext cx="8262722" cy="330632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Histograms</a:t>
            </a:r>
            <a:endParaRPr/>
          </a:p>
        </p:txBody>
      </p:sp>
      <p:sp>
        <p:nvSpPr>
          <p:cNvPr id="147" name="Google Shape;147;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plt.hist()</a:t>
            </a:r>
            <a:endParaRPr/>
          </a:p>
          <a:p>
            <a:pPr indent="0" lvl="0" marL="0" rtl="0" algn="l">
              <a:spcBef>
                <a:spcPts val="1200"/>
              </a:spcBef>
              <a:spcAft>
                <a:spcPts val="0"/>
              </a:spcAft>
              <a:buNone/>
            </a:pPr>
            <a:r>
              <a:rPr lang="en"/>
              <a:t>sns.histplot()</a:t>
            </a:r>
            <a:endParaRPr/>
          </a:p>
          <a:p>
            <a:pPr indent="0" lvl="0" marL="0" rtl="0" algn="l">
              <a:spcBef>
                <a:spcPts val="1200"/>
              </a:spcBef>
              <a:spcAft>
                <a:spcPts val="1200"/>
              </a:spcAft>
              <a:buNone/>
            </a:pPr>
            <a:r>
              <a:rPr lang="en"/>
              <a:t>px.histogram()</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Histograms</a:t>
            </a:r>
            <a:endParaRPr/>
          </a:p>
        </p:txBody>
      </p:sp>
      <p:sp>
        <p:nvSpPr>
          <p:cNvPr id="153" name="Google Shape;153;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Arguments - try changing these values and see what happens: </a:t>
            </a:r>
            <a:endParaRPr/>
          </a:p>
          <a:p>
            <a:pPr indent="-361950" lvl="0" marL="457200" rtl="0" algn="l">
              <a:spcBef>
                <a:spcPts val="1200"/>
              </a:spcBef>
              <a:spcAft>
                <a:spcPts val="0"/>
              </a:spcAft>
              <a:buSzPts val="2100"/>
              <a:buChar char="-"/>
            </a:pPr>
            <a:r>
              <a:rPr lang="en"/>
              <a:t>nbins(plotly) or bins(seaborn and matplotlib) </a:t>
            </a:r>
            <a:endParaRPr/>
          </a:p>
          <a:p>
            <a:pPr indent="-361950" lvl="0" marL="457200" rtl="0" algn="l">
              <a:spcBef>
                <a:spcPts val="0"/>
              </a:spcBef>
              <a:spcAft>
                <a:spcPts val="0"/>
              </a:spcAft>
              <a:buSzPts val="2100"/>
              <a:buChar char="-"/>
            </a:pPr>
            <a:r>
              <a:rPr lang="en"/>
              <a:t>hue (sns) or color (px)</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HOMEWORK</a:t>
            </a:r>
            <a:endParaRPr/>
          </a:p>
        </p:txBody>
      </p:sp>
      <p:sp>
        <p:nvSpPr>
          <p:cNvPr id="159" name="Google Shape;159;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Create 3 visuals using matplotlib</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Resources</a:t>
            </a:r>
            <a:endParaRPr/>
          </a:p>
        </p:txBody>
      </p:sp>
      <p:sp>
        <p:nvSpPr>
          <p:cNvPr id="165" name="Google Shape;165;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Matplotlib Docs</a:t>
            </a:r>
            <a:endParaRPr/>
          </a:p>
          <a:p>
            <a:pPr indent="0" lvl="0" marL="0" rtl="0" algn="l">
              <a:spcBef>
                <a:spcPts val="1200"/>
              </a:spcBef>
              <a:spcAft>
                <a:spcPts val="1200"/>
              </a:spcAft>
              <a:buNone/>
            </a:pPr>
            <a:r>
              <a:rPr lang="en"/>
              <a:t>DataCamp Intro to Plotting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32"/>
          <p:cNvSpPr txBox="1"/>
          <p:nvPr>
            <p:ph type="title"/>
          </p:nvPr>
        </p:nvSpPr>
        <p:spPr>
          <a:xfrm>
            <a:off x="311700" y="1472600"/>
            <a:ext cx="8520600" cy="22077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
              <a:t>Class 2</a:t>
            </a:r>
            <a:endParaRPr/>
          </a:p>
          <a:p>
            <a:pPr indent="-434340" lvl="0" marL="457200" rtl="0" algn="ctr">
              <a:spcBef>
                <a:spcPts val="0"/>
              </a:spcBef>
              <a:spcAft>
                <a:spcPts val="0"/>
              </a:spcAft>
              <a:buSzPct val="100000"/>
              <a:buChar char="-"/>
            </a:pPr>
            <a:r>
              <a:rPr lang="en"/>
              <a:t>S</a:t>
            </a:r>
            <a:r>
              <a:rPr lang="en"/>
              <a:t>catterplots, heatmaps, pairplots</a:t>
            </a:r>
            <a:endParaRPr/>
          </a:p>
          <a:p>
            <a:pPr indent="-434340" lvl="0" marL="457200" rtl="0" algn="ctr">
              <a:spcBef>
                <a:spcPts val="0"/>
              </a:spcBef>
              <a:spcAft>
                <a:spcPts val="0"/>
              </a:spcAft>
              <a:buSzPct val="100000"/>
              <a:buChar char="-"/>
            </a:pPr>
            <a:r>
              <a:rPr lang="en"/>
              <a:t>Explore relationships</a:t>
            </a:r>
            <a:endParaRPr/>
          </a:p>
          <a:p>
            <a:pPr indent="-434340" lvl="0" marL="457200" rtl="0" algn="ctr">
              <a:spcBef>
                <a:spcPts val="0"/>
              </a:spcBef>
              <a:spcAft>
                <a:spcPts val="0"/>
              </a:spcAft>
              <a:buSzPct val="100000"/>
              <a:buChar char="-"/>
            </a:pPr>
            <a:r>
              <a:rPr lang="en"/>
              <a:t>Add color and style to plots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 plots</a:t>
            </a:r>
            <a:endParaRPr/>
          </a:p>
        </p:txBody>
      </p:sp>
      <p:pic>
        <p:nvPicPr>
          <p:cNvPr id="176" name="Google Shape;176;p33"/>
          <p:cNvPicPr preferRelativeResize="0"/>
          <p:nvPr/>
        </p:nvPicPr>
        <p:blipFill>
          <a:blip r:embed="rId3">
            <a:alphaModFix/>
          </a:blip>
          <a:stretch>
            <a:fillRect/>
          </a:stretch>
        </p:blipFill>
        <p:spPr>
          <a:xfrm>
            <a:off x="1874450" y="1017725"/>
            <a:ext cx="5162025" cy="39308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 plots</a:t>
            </a:r>
            <a:endParaRPr/>
          </a:p>
        </p:txBody>
      </p:sp>
      <p:sp>
        <p:nvSpPr>
          <p:cNvPr id="182" name="Google Shape;182;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plt.scatter()</a:t>
            </a:r>
            <a:endParaRPr/>
          </a:p>
          <a:p>
            <a:pPr indent="0" lvl="0" marL="0" rtl="0" algn="l">
              <a:spcBef>
                <a:spcPts val="1200"/>
              </a:spcBef>
              <a:spcAft>
                <a:spcPts val="0"/>
              </a:spcAft>
              <a:buNone/>
            </a:pPr>
            <a:r>
              <a:rPr lang="en"/>
              <a:t>sns.scatterplot()</a:t>
            </a:r>
            <a:endParaRPr/>
          </a:p>
          <a:p>
            <a:pPr indent="0" lvl="0" marL="0" rtl="0" algn="l">
              <a:spcBef>
                <a:spcPts val="1200"/>
              </a:spcBef>
              <a:spcAft>
                <a:spcPts val="1200"/>
              </a:spcAft>
              <a:buNone/>
            </a:pPr>
            <a:r>
              <a:rPr lang="en"/>
              <a:t>px.scatter()</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Plot arguments</a:t>
            </a:r>
            <a:endParaRPr/>
          </a:p>
        </p:txBody>
      </p:sp>
      <p:sp>
        <p:nvSpPr>
          <p:cNvPr id="188" name="Google Shape;188;p3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61950" lvl="0" marL="457200" rtl="0" algn="l">
              <a:spcBef>
                <a:spcPts val="0"/>
              </a:spcBef>
              <a:spcAft>
                <a:spcPts val="0"/>
              </a:spcAft>
              <a:buSzPts val="2100"/>
              <a:buChar char="-"/>
            </a:pPr>
            <a:r>
              <a:rPr lang="en"/>
              <a:t>Optional arguments: hue(sns), color(plotly), s, alpha</a:t>
            </a:r>
            <a:endParaRPr/>
          </a:p>
          <a:p>
            <a:pPr indent="-361950" lvl="0" marL="457200" rtl="0" algn="l">
              <a:spcBef>
                <a:spcPts val="0"/>
              </a:spcBef>
              <a:spcAft>
                <a:spcPts val="0"/>
              </a:spcAft>
              <a:buSzPts val="2100"/>
              <a:buChar char="-"/>
            </a:pPr>
            <a:r>
              <a:rPr lang="en"/>
              <a:t>Argument in plotly: hover_data=["variable1", "variable2"] </a:t>
            </a:r>
            <a:endParaRPr/>
          </a:p>
          <a:p>
            <a:pPr indent="0" lvl="0" marL="0" rtl="0" algn="l">
              <a:spcBef>
                <a:spcPts val="1200"/>
              </a:spcBef>
              <a:spcAft>
                <a:spcPts val="0"/>
              </a:spcAft>
              <a:buNone/>
            </a:pPr>
            <a:r>
              <a:rPr lang="en"/>
              <a:t>Try changing the optional arguments around in your notebook to figure out what they do. </a:t>
            </a:r>
            <a:endParaRPr/>
          </a:p>
          <a:p>
            <a:pPr indent="0" lvl="0" marL="0" rtl="0" algn="l">
              <a:spcBef>
                <a:spcPts val="1200"/>
              </a:spcBef>
              <a:spcAft>
                <a:spcPts val="120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Heatmaps</a:t>
            </a:r>
            <a:endParaRPr/>
          </a:p>
        </p:txBody>
      </p:sp>
      <p:sp>
        <p:nvSpPr>
          <p:cNvPr id="194" name="Google Shape;194;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95" name="Google Shape;195;p36"/>
          <p:cNvPicPr preferRelativeResize="0"/>
          <p:nvPr/>
        </p:nvPicPr>
        <p:blipFill>
          <a:blip r:embed="rId3">
            <a:alphaModFix/>
          </a:blip>
          <a:stretch>
            <a:fillRect/>
          </a:stretch>
        </p:blipFill>
        <p:spPr>
          <a:xfrm>
            <a:off x="2163097" y="1152475"/>
            <a:ext cx="4447176" cy="36129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Heatmaps</a:t>
            </a:r>
            <a:endParaRPr/>
          </a:p>
        </p:txBody>
      </p:sp>
      <p:sp>
        <p:nvSpPr>
          <p:cNvPr id="201" name="Google Shape;201;p3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sns.heatmap(numerical_df.corr(), annot=True)</a:t>
            </a:r>
            <a:endParaRPr/>
          </a:p>
          <a:p>
            <a:pPr indent="0" lvl="0" marL="0" rtl="0" algn="l">
              <a:spcBef>
                <a:spcPts val="1200"/>
              </a:spcBef>
              <a:spcAft>
                <a:spcPts val="1200"/>
              </a:spcAft>
              <a:buNone/>
            </a:pPr>
            <a:r>
              <a:rPr lang="en"/>
              <a:t>px</a:t>
            </a:r>
            <a:r>
              <a:rPr lang="en"/>
              <a:t>.imshow(numerical_df.corr())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Heatmaps</a:t>
            </a:r>
            <a:endParaRPr/>
          </a:p>
        </p:txBody>
      </p:sp>
      <p:sp>
        <p:nvSpPr>
          <p:cNvPr id="207" name="Google Shape;207;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What do you think the numbers and colors in the chart represent?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Heatmaps</a:t>
            </a:r>
            <a:endParaRPr/>
          </a:p>
        </p:txBody>
      </p:sp>
      <p:sp>
        <p:nvSpPr>
          <p:cNvPr id="213" name="Google Shape;213;p39"/>
          <p:cNvSpPr txBox="1"/>
          <p:nvPr>
            <p:ph idx="1" type="body"/>
          </p:nvPr>
        </p:nvSpPr>
        <p:spPr>
          <a:xfrm>
            <a:off x="4957950" y="1152475"/>
            <a:ext cx="38742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1 is perfect correlation. </a:t>
            </a:r>
            <a:endParaRPr/>
          </a:p>
          <a:p>
            <a:pPr indent="0" lvl="0" marL="0" rtl="0" algn="l">
              <a:spcBef>
                <a:spcPts val="1200"/>
              </a:spcBef>
              <a:spcAft>
                <a:spcPts val="0"/>
              </a:spcAft>
              <a:buNone/>
            </a:pPr>
            <a:r>
              <a:rPr lang="en"/>
              <a:t>Values closer to 0 show no correlation</a:t>
            </a:r>
            <a:endParaRPr/>
          </a:p>
          <a:p>
            <a:pPr indent="0" lvl="0" marL="0" rtl="0" algn="l">
              <a:spcBef>
                <a:spcPts val="1200"/>
              </a:spcBef>
              <a:spcAft>
                <a:spcPts val="0"/>
              </a:spcAft>
              <a:buNone/>
            </a:pPr>
            <a:r>
              <a:rPr lang="en"/>
              <a:t>Values closer to -1 show negative correlation</a:t>
            </a:r>
            <a:endParaRPr/>
          </a:p>
          <a:p>
            <a:pPr indent="0" lvl="0" marL="0" rtl="0" algn="l">
              <a:spcBef>
                <a:spcPts val="1200"/>
              </a:spcBef>
              <a:spcAft>
                <a:spcPts val="1200"/>
              </a:spcAft>
              <a:buNone/>
            </a:pPr>
            <a:r>
              <a:rPr lang="en"/>
              <a:t>Values closer to 1 show positive correlation</a:t>
            </a:r>
            <a:endParaRPr/>
          </a:p>
        </p:txBody>
      </p:sp>
      <p:pic>
        <p:nvPicPr>
          <p:cNvPr id="214" name="Google Shape;214;p39"/>
          <p:cNvPicPr preferRelativeResize="0"/>
          <p:nvPr/>
        </p:nvPicPr>
        <p:blipFill>
          <a:blip r:embed="rId3">
            <a:alphaModFix/>
          </a:blip>
          <a:stretch>
            <a:fillRect/>
          </a:stretch>
        </p:blipFill>
        <p:spPr>
          <a:xfrm>
            <a:off x="401622" y="1152475"/>
            <a:ext cx="4447176" cy="36129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Pairplots</a:t>
            </a:r>
            <a:endParaRPr/>
          </a:p>
        </p:txBody>
      </p:sp>
      <p:sp>
        <p:nvSpPr>
          <p:cNvPr id="220" name="Google Shape;220;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21" name="Google Shape;221;p40"/>
          <p:cNvPicPr preferRelativeResize="0"/>
          <p:nvPr/>
        </p:nvPicPr>
        <p:blipFill>
          <a:blip r:embed="rId3">
            <a:alphaModFix/>
          </a:blip>
          <a:stretch>
            <a:fillRect/>
          </a:stretch>
        </p:blipFill>
        <p:spPr>
          <a:xfrm>
            <a:off x="2715800" y="1152475"/>
            <a:ext cx="3712401" cy="37124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Pairplots</a:t>
            </a:r>
            <a:endParaRPr/>
          </a:p>
        </p:txBody>
      </p:sp>
      <p:sp>
        <p:nvSpPr>
          <p:cNvPr id="227" name="Google Shape;227;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sns.pairplot(df)</a:t>
            </a:r>
            <a:endParaRPr/>
          </a:p>
          <a:p>
            <a:pPr indent="0" lvl="0" marL="0" rtl="0" algn="l">
              <a:spcBef>
                <a:spcPts val="1200"/>
              </a:spcBef>
              <a:spcAft>
                <a:spcPts val="0"/>
              </a:spcAft>
              <a:buNone/>
            </a:pPr>
            <a:r>
              <a:rPr lang="en"/>
              <a:t>px.scatter_matrix(df)</a:t>
            </a:r>
            <a:endParaRPr/>
          </a:p>
          <a:p>
            <a:pPr indent="-361950" lvl="0" marL="457200" rtl="0" algn="l">
              <a:spcBef>
                <a:spcPts val="1200"/>
              </a:spcBef>
              <a:spcAft>
                <a:spcPts val="0"/>
              </a:spcAft>
              <a:buSzPts val="2100"/>
              <a:buChar char="-"/>
            </a:pPr>
            <a:r>
              <a:rPr lang="en"/>
              <a:t>In your notebook, try adding hue or color arguments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Explore relationships</a:t>
            </a:r>
            <a:endParaRPr/>
          </a:p>
        </p:txBody>
      </p:sp>
      <p:sp>
        <p:nvSpPr>
          <p:cNvPr id="233" name="Google Shape;233;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Scatterplots, heatmaps, and pairplots help you understand relationships between variables in your data. </a:t>
            </a:r>
            <a:endParaRPr/>
          </a:p>
          <a:p>
            <a:pPr indent="0" lvl="0" marL="0" rtl="0" algn="l">
              <a:spcBef>
                <a:spcPts val="1200"/>
              </a:spcBef>
              <a:spcAft>
                <a:spcPts val="1200"/>
              </a:spcAft>
              <a:buNone/>
            </a:pPr>
            <a:r>
              <a:rPr lang="en"/>
              <a:t>Let's look at some examples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Scatterplot relationship</a:t>
            </a:r>
            <a:endParaRPr/>
          </a:p>
        </p:txBody>
      </p:sp>
      <p:sp>
        <p:nvSpPr>
          <p:cNvPr id="239" name="Google Shape;239;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According to this image, what can you infer about weight and cost?</a:t>
            </a:r>
            <a:endParaRPr/>
          </a:p>
          <a:p>
            <a:pPr indent="0" lvl="0" marL="0" rtl="0" algn="l">
              <a:spcBef>
                <a:spcPts val="1200"/>
              </a:spcBef>
              <a:spcAft>
                <a:spcPts val="1200"/>
              </a:spcAft>
              <a:buNone/>
            </a:pPr>
            <a:r>
              <a:t/>
            </a:r>
            <a:endParaRPr/>
          </a:p>
        </p:txBody>
      </p:sp>
      <p:pic>
        <p:nvPicPr>
          <p:cNvPr id="240" name="Google Shape;240;p43"/>
          <p:cNvPicPr preferRelativeResize="0"/>
          <p:nvPr/>
        </p:nvPicPr>
        <p:blipFill>
          <a:blip r:embed="rId3">
            <a:alphaModFix/>
          </a:blip>
          <a:stretch>
            <a:fillRect/>
          </a:stretch>
        </p:blipFill>
        <p:spPr>
          <a:xfrm>
            <a:off x="1611450" y="1640753"/>
            <a:ext cx="4373550" cy="307297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Scatterplot relationship</a:t>
            </a:r>
            <a:endParaRPr/>
          </a:p>
        </p:txBody>
      </p:sp>
      <p:sp>
        <p:nvSpPr>
          <p:cNvPr id="246" name="Google Shape;246;p44"/>
          <p:cNvSpPr txBox="1"/>
          <p:nvPr>
            <p:ph idx="1" type="body"/>
          </p:nvPr>
        </p:nvSpPr>
        <p:spPr>
          <a:xfrm>
            <a:off x="4746575" y="1152475"/>
            <a:ext cx="4086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Weight and cost are positively correlated - as weight goes up, so does cost. </a:t>
            </a:r>
            <a:endParaRPr/>
          </a:p>
          <a:p>
            <a:pPr indent="0" lvl="0" marL="0" rtl="0" algn="l">
              <a:spcBef>
                <a:spcPts val="1200"/>
              </a:spcBef>
              <a:spcAft>
                <a:spcPts val="1200"/>
              </a:spcAft>
              <a:buNone/>
            </a:pPr>
            <a:r>
              <a:t/>
            </a:r>
            <a:endParaRPr/>
          </a:p>
        </p:txBody>
      </p:sp>
      <p:pic>
        <p:nvPicPr>
          <p:cNvPr id="247" name="Google Shape;247;p44"/>
          <p:cNvPicPr preferRelativeResize="0"/>
          <p:nvPr/>
        </p:nvPicPr>
        <p:blipFill>
          <a:blip r:embed="rId3">
            <a:alphaModFix/>
          </a:blip>
          <a:stretch>
            <a:fillRect/>
          </a:stretch>
        </p:blipFill>
        <p:spPr>
          <a:xfrm>
            <a:off x="198450" y="1324190"/>
            <a:ext cx="4373550" cy="3072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Scatterplot relationship</a:t>
            </a:r>
            <a:endParaRPr/>
          </a:p>
        </p:txBody>
      </p:sp>
      <p:sp>
        <p:nvSpPr>
          <p:cNvPr id="253" name="Google Shape;253;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54" name="Google Shape;254;p45"/>
          <p:cNvPicPr preferRelativeResize="0"/>
          <p:nvPr/>
        </p:nvPicPr>
        <p:blipFill>
          <a:blip r:embed="rId3">
            <a:alphaModFix/>
          </a:blip>
          <a:stretch>
            <a:fillRect/>
          </a:stretch>
        </p:blipFill>
        <p:spPr>
          <a:xfrm>
            <a:off x="1252749" y="1017725"/>
            <a:ext cx="6382674" cy="3919201"/>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 relationship</a:t>
            </a:r>
            <a:endParaRPr/>
          </a:p>
        </p:txBody>
      </p:sp>
      <p:sp>
        <p:nvSpPr>
          <p:cNvPr id="260" name="Google Shape;260;p46"/>
          <p:cNvSpPr txBox="1"/>
          <p:nvPr>
            <p:ph idx="1" type="body"/>
          </p:nvPr>
        </p:nvSpPr>
        <p:spPr>
          <a:xfrm>
            <a:off x="3948050" y="1152475"/>
            <a:ext cx="48843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According to this graph, which two variables are the most negatively correlated?</a:t>
            </a:r>
            <a:endParaRPr/>
          </a:p>
        </p:txBody>
      </p:sp>
      <p:pic>
        <p:nvPicPr>
          <p:cNvPr id="261" name="Google Shape;261;p46"/>
          <p:cNvPicPr preferRelativeResize="0"/>
          <p:nvPr/>
        </p:nvPicPr>
        <p:blipFill>
          <a:blip r:embed="rId3">
            <a:alphaModFix/>
          </a:blip>
          <a:stretch>
            <a:fillRect/>
          </a:stretch>
        </p:blipFill>
        <p:spPr>
          <a:xfrm>
            <a:off x="203550" y="1152475"/>
            <a:ext cx="3661350" cy="36613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 relationship</a:t>
            </a:r>
            <a:endParaRPr/>
          </a:p>
        </p:txBody>
      </p:sp>
      <p:sp>
        <p:nvSpPr>
          <p:cNvPr id="267" name="Google Shape;267;p47"/>
          <p:cNvSpPr txBox="1"/>
          <p:nvPr>
            <p:ph idx="1" type="body"/>
          </p:nvPr>
        </p:nvSpPr>
        <p:spPr>
          <a:xfrm>
            <a:off x="3948050" y="1152475"/>
            <a:ext cx="48843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According to this graph, which two variables are the most negatively correlated?</a:t>
            </a:r>
            <a:endParaRPr/>
          </a:p>
          <a:p>
            <a:pPr indent="0" lvl="0" marL="0" rtl="0" algn="l">
              <a:spcBef>
                <a:spcPts val="1200"/>
              </a:spcBef>
              <a:spcAft>
                <a:spcPts val="1200"/>
              </a:spcAft>
              <a:buNone/>
            </a:pPr>
            <a:r>
              <a:rPr lang="en"/>
              <a:t>Mpg and wt </a:t>
            </a:r>
            <a:endParaRPr/>
          </a:p>
        </p:txBody>
      </p:sp>
      <p:pic>
        <p:nvPicPr>
          <p:cNvPr id="268" name="Google Shape;268;p47"/>
          <p:cNvPicPr preferRelativeResize="0"/>
          <p:nvPr/>
        </p:nvPicPr>
        <p:blipFill>
          <a:blip r:embed="rId3">
            <a:alphaModFix/>
          </a:blip>
          <a:stretch>
            <a:fillRect/>
          </a:stretch>
        </p:blipFill>
        <p:spPr>
          <a:xfrm>
            <a:off x="203550" y="1152475"/>
            <a:ext cx="3661350" cy="366135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 relationship</a:t>
            </a:r>
            <a:endParaRPr/>
          </a:p>
        </p:txBody>
      </p:sp>
      <p:sp>
        <p:nvSpPr>
          <p:cNvPr id="274" name="Google Shape;274;p48"/>
          <p:cNvSpPr txBox="1"/>
          <p:nvPr>
            <p:ph idx="1" type="body"/>
          </p:nvPr>
        </p:nvSpPr>
        <p:spPr>
          <a:xfrm>
            <a:off x="3948050" y="1152475"/>
            <a:ext cx="48843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According to this graph, which two variables are the least correlated?</a:t>
            </a:r>
            <a:endParaRPr/>
          </a:p>
        </p:txBody>
      </p:sp>
      <p:pic>
        <p:nvPicPr>
          <p:cNvPr id="275" name="Google Shape;275;p48"/>
          <p:cNvPicPr preferRelativeResize="0"/>
          <p:nvPr/>
        </p:nvPicPr>
        <p:blipFill>
          <a:blip r:embed="rId3">
            <a:alphaModFix/>
          </a:blip>
          <a:stretch>
            <a:fillRect/>
          </a:stretch>
        </p:blipFill>
        <p:spPr>
          <a:xfrm>
            <a:off x="203550" y="1152475"/>
            <a:ext cx="3661350" cy="36613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 relationship</a:t>
            </a:r>
            <a:endParaRPr/>
          </a:p>
        </p:txBody>
      </p:sp>
      <p:sp>
        <p:nvSpPr>
          <p:cNvPr id="281" name="Google Shape;281;p49"/>
          <p:cNvSpPr txBox="1"/>
          <p:nvPr>
            <p:ph idx="1" type="body"/>
          </p:nvPr>
        </p:nvSpPr>
        <p:spPr>
          <a:xfrm>
            <a:off x="3948050" y="1152475"/>
            <a:ext cx="48843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According to this graph, which two variables are the least correlated?</a:t>
            </a:r>
            <a:endParaRPr/>
          </a:p>
          <a:p>
            <a:pPr indent="0" lvl="0" marL="0" rtl="0" algn="l">
              <a:spcBef>
                <a:spcPts val="1200"/>
              </a:spcBef>
              <a:spcAft>
                <a:spcPts val="1200"/>
              </a:spcAft>
              <a:buNone/>
            </a:pPr>
            <a:r>
              <a:rPr lang="en"/>
              <a:t>Drat and qsec</a:t>
            </a:r>
            <a:endParaRPr/>
          </a:p>
        </p:txBody>
      </p:sp>
      <p:pic>
        <p:nvPicPr>
          <p:cNvPr id="282" name="Google Shape;282;p49"/>
          <p:cNvPicPr preferRelativeResize="0"/>
          <p:nvPr/>
        </p:nvPicPr>
        <p:blipFill>
          <a:blip r:embed="rId3">
            <a:alphaModFix/>
          </a:blip>
          <a:stretch>
            <a:fillRect/>
          </a:stretch>
        </p:blipFill>
        <p:spPr>
          <a:xfrm>
            <a:off x="203550" y="1152475"/>
            <a:ext cx="3661350" cy="36613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5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Pairplot relationship</a:t>
            </a:r>
            <a:endParaRPr/>
          </a:p>
        </p:txBody>
      </p:sp>
      <p:sp>
        <p:nvSpPr>
          <p:cNvPr id="288" name="Google Shape;288;p50"/>
          <p:cNvSpPr txBox="1"/>
          <p:nvPr>
            <p:ph idx="1" type="body"/>
          </p:nvPr>
        </p:nvSpPr>
        <p:spPr>
          <a:xfrm>
            <a:off x="5439425" y="1152475"/>
            <a:ext cx="3393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In the pairplot, do body mass and bill length show any relationship?</a:t>
            </a:r>
            <a:endParaRPr/>
          </a:p>
        </p:txBody>
      </p:sp>
      <p:pic>
        <p:nvPicPr>
          <p:cNvPr id="289" name="Google Shape;289;p50"/>
          <p:cNvPicPr preferRelativeResize="0"/>
          <p:nvPr/>
        </p:nvPicPr>
        <p:blipFill>
          <a:blip r:embed="rId3">
            <a:alphaModFix/>
          </a:blip>
          <a:stretch>
            <a:fillRect/>
          </a:stretch>
        </p:blipFill>
        <p:spPr>
          <a:xfrm>
            <a:off x="311695" y="1228745"/>
            <a:ext cx="4775674" cy="2686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Pairplot relationship</a:t>
            </a:r>
            <a:endParaRPr/>
          </a:p>
        </p:txBody>
      </p:sp>
      <p:sp>
        <p:nvSpPr>
          <p:cNvPr id="295" name="Google Shape;295;p51"/>
          <p:cNvSpPr txBox="1"/>
          <p:nvPr>
            <p:ph idx="1" type="body"/>
          </p:nvPr>
        </p:nvSpPr>
        <p:spPr>
          <a:xfrm>
            <a:off x="5439425" y="1152475"/>
            <a:ext cx="3393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the pairplot, do body mass and bill length show any relationship?</a:t>
            </a:r>
            <a:endParaRPr/>
          </a:p>
          <a:p>
            <a:pPr indent="0" lvl="0" marL="0" rtl="0" algn="l">
              <a:spcBef>
                <a:spcPts val="1200"/>
              </a:spcBef>
              <a:spcAft>
                <a:spcPts val="1200"/>
              </a:spcAft>
              <a:buNone/>
            </a:pPr>
            <a:r>
              <a:rPr lang="en"/>
              <a:t>They show a positive correlation.</a:t>
            </a:r>
            <a:endParaRPr/>
          </a:p>
        </p:txBody>
      </p:sp>
      <p:pic>
        <p:nvPicPr>
          <p:cNvPr id="296" name="Google Shape;296;p51"/>
          <p:cNvPicPr preferRelativeResize="0"/>
          <p:nvPr/>
        </p:nvPicPr>
        <p:blipFill>
          <a:blip r:embed="rId3">
            <a:alphaModFix/>
          </a:blip>
          <a:stretch>
            <a:fillRect/>
          </a:stretch>
        </p:blipFill>
        <p:spPr>
          <a:xfrm>
            <a:off x="311695" y="1228745"/>
            <a:ext cx="4775674" cy="2686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52"/>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Extra charts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Count plots</a:t>
            </a:r>
            <a:endParaRPr/>
          </a:p>
        </p:txBody>
      </p:sp>
      <p:sp>
        <p:nvSpPr>
          <p:cNvPr id="307" name="Google Shape;307;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08" name="Google Shape;308;p53"/>
          <p:cNvPicPr preferRelativeResize="0"/>
          <p:nvPr/>
        </p:nvPicPr>
        <p:blipFill>
          <a:blip r:embed="rId3">
            <a:alphaModFix/>
          </a:blip>
          <a:stretch>
            <a:fillRect/>
          </a:stretch>
        </p:blipFill>
        <p:spPr>
          <a:xfrm>
            <a:off x="2351000" y="1017725"/>
            <a:ext cx="4963654" cy="37886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Count plots</a:t>
            </a:r>
            <a:endParaRPr/>
          </a:p>
        </p:txBody>
      </p:sp>
      <p:sp>
        <p:nvSpPr>
          <p:cNvPr id="314" name="Google Shape;314;p5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sns.countplot()</a:t>
            </a:r>
            <a:endParaRPr/>
          </a:p>
          <a:p>
            <a:pPr indent="0" lvl="0" marL="0" rtl="0" algn="l">
              <a:spcBef>
                <a:spcPts val="1200"/>
              </a:spcBef>
              <a:spcAft>
                <a:spcPts val="1200"/>
              </a:spcAft>
              <a:buNone/>
            </a:pPr>
            <a:r>
              <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Box plots</a:t>
            </a:r>
            <a:endParaRPr/>
          </a:p>
        </p:txBody>
      </p:sp>
      <p:sp>
        <p:nvSpPr>
          <p:cNvPr id="320" name="Google Shape;320;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21" name="Google Shape;321;p55"/>
          <p:cNvPicPr preferRelativeResize="0"/>
          <p:nvPr/>
        </p:nvPicPr>
        <p:blipFill>
          <a:blip r:embed="rId3">
            <a:alphaModFix/>
          </a:blip>
          <a:stretch>
            <a:fillRect/>
          </a:stretch>
        </p:blipFill>
        <p:spPr>
          <a:xfrm>
            <a:off x="1338700" y="1105500"/>
            <a:ext cx="6609549" cy="37178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Box plots</a:t>
            </a:r>
            <a:endParaRPr/>
          </a:p>
        </p:txBody>
      </p:sp>
      <p:sp>
        <p:nvSpPr>
          <p:cNvPr id="327" name="Google Shape;327;p5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sns.boxplot()</a:t>
            </a:r>
            <a:endParaRPr/>
          </a:p>
          <a:p>
            <a:pPr indent="0" lvl="0" marL="0" rtl="0" algn="l">
              <a:spcBef>
                <a:spcPts val="1200"/>
              </a:spcBef>
              <a:spcAft>
                <a:spcPts val="1200"/>
              </a:spcAft>
              <a:buNone/>
            </a:pPr>
            <a:r>
              <a:rPr lang="en"/>
              <a:t>px.box()</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Violin plots</a:t>
            </a:r>
            <a:endParaRPr/>
          </a:p>
        </p:txBody>
      </p:sp>
      <p:sp>
        <p:nvSpPr>
          <p:cNvPr id="333" name="Google Shape;333;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34" name="Google Shape;334;p57"/>
          <p:cNvPicPr preferRelativeResize="0"/>
          <p:nvPr/>
        </p:nvPicPr>
        <p:blipFill>
          <a:blip r:embed="rId3">
            <a:alphaModFix/>
          </a:blip>
          <a:stretch>
            <a:fillRect/>
          </a:stretch>
        </p:blipFill>
        <p:spPr>
          <a:xfrm>
            <a:off x="2099625" y="1096800"/>
            <a:ext cx="5447425" cy="374607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Violin plots</a:t>
            </a:r>
            <a:endParaRPr/>
          </a:p>
        </p:txBody>
      </p:sp>
      <p:sp>
        <p:nvSpPr>
          <p:cNvPr id="340" name="Google Shape;340;p5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sns.violinplot()</a:t>
            </a:r>
            <a:endParaRPr/>
          </a:p>
          <a:p>
            <a:pPr indent="0" lvl="0" marL="0" rtl="0" algn="l">
              <a:spcBef>
                <a:spcPts val="1200"/>
              </a:spcBef>
              <a:spcAft>
                <a:spcPts val="1200"/>
              </a:spcAft>
              <a:buNone/>
            </a:pPr>
            <a:r>
              <a:rPr lang="en"/>
              <a:t>px.violin()</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Improving the visualizations</a:t>
            </a:r>
            <a:endParaRPr/>
          </a:p>
        </p:txBody>
      </p:sp>
      <p:sp>
        <p:nvSpPr>
          <p:cNvPr id="346" name="Google Shape;346;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Artificial Intelligence can help you make your graphs much more attractive. Before using AI, it is important to have an idea of what you want to show with the data and the type of graph you want to use - then AI can make it look better by adding titles, labels, pretty colors, and more.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6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Homework</a:t>
            </a:r>
            <a:endParaRPr/>
          </a:p>
        </p:txBody>
      </p:sp>
      <p:sp>
        <p:nvSpPr>
          <p:cNvPr id="352" name="Google Shape;352;p6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Complete seaborn visualization challenges</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61"/>
          <p:cNvSpPr txBox="1"/>
          <p:nvPr>
            <p:ph type="title"/>
          </p:nvPr>
        </p:nvSpPr>
        <p:spPr>
          <a:xfrm>
            <a:off x="311700" y="1038100"/>
            <a:ext cx="8520600" cy="2853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Class 3</a:t>
            </a:r>
            <a:endParaRPr/>
          </a:p>
          <a:p>
            <a:pPr indent="-457200" lvl="0" marL="457200" rtl="0" algn="ctr">
              <a:spcBef>
                <a:spcPts val="0"/>
              </a:spcBef>
              <a:spcAft>
                <a:spcPts val="0"/>
              </a:spcAft>
              <a:buSzPts val="3600"/>
              <a:buChar char="-"/>
            </a:pPr>
            <a:r>
              <a:rPr lang="en"/>
              <a:t>Chart selection: Matching visuals to data types</a:t>
            </a:r>
            <a:endParaRPr/>
          </a:p>
          <a:p>
            <a:pPr indent="-457200" lvl="0" marL="457200" rtl="0" algn="ctr">
              <a:spcBef>
                <a:spcPts val="0"/>
              </a:spcBef>
              <a:spcAft>
                <a:spcPts val="0"/>
              </a:spcAft>
              <a:buSzPts val="3600"/>
              <a:buChar char="-"/>
            </a:pPr>
            <a:r>
              <a:rPr lang="en"/>
              <a:t>Avoid misleading visuals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6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Line graph</a:t>
            </a:r>
            <a:endParaRPr/>
          </a:p>
        </p:txBody>
      </p:sp>
      <p:sp>
        <p:nvSpPr>
          <p:cNvPr id="363" name="Google Shape;363;p6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When would you use a line chart? </a:t>
            </a:r>
            <a:endParaRPr/>
          </a:p>
          <a:p>
            <a:pPr indent="0" lvl="0" marL="0" rtl="0" algn="l">
              <a:spcBef>
                <a:spcPts val="1200"/>
              </a:spcBef>
              <a:spcAft>
                <a:spcPts val="1200"/>
              </a:spcAft>
              <a:buNone/>
            </a:pPr>
            <a:r>
              <a:rPr lang="en"/>
              <a:t>Brainstorm some examples.</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Line graph</a:t>
            </a:r>
            <a:endParaRPr/>
          </a:p>
        </p:txBody>
      </p:sp>
      <p:sp>
        <p:nvSpPr>
          <p:cNvPr id="369" name="Google Shape;36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Use a line chart when the x-axis is ordered and you care about change or trend.</a:t>
            </a:r>
            <a:endParaRPr/>
          </a:p>
          <a:p>
            <a:pPr indent="-361950" lvl="0" marL="457200" rtl="0" algn="l">
              <a:spcBef>
                <a:spcPts val="1200"/>
              </a:spcBef>
              <a:spcAft>
                <a:spcPts val="0"/>
              </a:spcAft>
              <a:buSzPts val="2100"/>
              <a:buChar char="-"/>
            </a:pPr>
            <a:r>
              <a:rPr lang="en"/>
              <a:t>Showing Change Over Time. Ex: Hourly temperature readings across a day</a:t>
            </a:r>
            <a:endParaRPr/>
          </a:p>
          <a:p>
            <a:pPr indent="-361950" lvl="0" marL="457200" rtl="0" algn="l">
              <a:spcBef>
                <a:spcPts val="0"/>
              </a:spcBef>
              <a:spcAft>
                <a:spcPts val="0"/>
              </a:spcAft>
              <a:buSzPts val="2100"/>
              <a:buChar char="-"/>
            </a:pPr>
            <a:r>
              <a:rPr lang="en"/>
              <a:t>Comparing Trends Between Groups (multiple lines). Ex: Sales over time by region</a:t>
            </a:r>
            <a:endParaRPr/>
          </a:p>
          <a:p>
            <a:pPr indent="-361950" lvl="0" marL="457200" rtl="0" algn="l">
              <a:spcBef>
                <a:spcPts val="0"/>
              </a:spcBef>
              <a:spcAft>
                <a:spcPts val="0"/>
              </a:spcAft>
              <a:buSzPts val="2100"/>
              <a:buChar char="-"/>
            </a:pPr>
            <a:r>
              <a:rPr lang="en"/>
              <a:t>Showing Averages or Aggregated Trends. Ex: Mean test score by grade level</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6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 plot</a:t>
            </a:r>
            <a:endParaRPr/>
          </a:p>
        </p:txBody>
      </p:sp>
      <p:sp>
        <p:nvSpPr>
          <p:cNvPr id="375" name="Google Shape;375;p6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When would you use a scatter plot? </a:t>
            </a:r>
            <a:endParaRPr/>
          </a:p>
          <a:p>
            <a:pPr indent="0" lvl="0" marL="0" rtl="0" algn="l">
              <a:spcBef>
                <a:spcPts val="1200"/>
              </a:spcBef>
              <a:spcAft>
                <a:spcPts val="1200"/>
              </a:spcAft>
              <a:buNone/>
            </a:pPr>
            <a:r>
              <a:rPr lang="en"/>
              <a:t>Brainstorm some examples </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Scatter plot</a:t>
            </a:r>
            <a:endParaRPr/>
          </a:p>
        </p:txBody>
      </p:sp>
      <p:sp>
        <p:nvSpPr>
          <p:cNvPr id="381" name="Google Shape;381;p6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Use scatter plots to explore relationships or correlations between two numerical variables. Ex: Hours studied and exam score - does studying more hours show a relationship with grades?</a:t>
            </a:r>
            <a:endParaRPr/>
          </a:p>
          <a:p>
            <a:pPr indent="0" lvl="0" marL="0" rtl="0" algn="l">
              <a:spcBef>
                <a:spcPts val="1200"/>
              </a:spcBef>
              <a:spcAft>
                <a:spcPts val="0"/>
              </a:spcAft>
              <a:buNone/>
            </a:pPr>
            <a:r>
              <a:rPr lang="en"/>
              <a:t>Check for clusters. Ex: </a:t>
            </a:r>
            <a:r>
              <a:rPr lang="en"/>
              <a:t>Height vs. weight, colored by gender - Are there separate clusters for men and women?</a:t>
            </a:r>
            <a:endParaRPr/>
          </a:p>
          <a:p>
            <a:pPr indent="0" lvl="0" marL="0" rtl="0" algn="l">
              <a:spcBef>
                <a:spcPts val="1200"/>
              </a:spcBef>
              <a:spcAft>
                <a:spcPts val="1200"/>
              </a:spcAft>
              <a:buNone/>
            </a:pPr>
            <a:r>
              <a:rPr lang="en"/>
              <a:t>Spot outliers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Bar Graph</a:t>
            </a:r>
            <a:endParaRPr/>
          </a:p>
        </p:txBody>
      </p:sp>
      <p:sp>
        <p:nvSpPr>
          <p:cNvPr id="387" name="Google Shape;387;p6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When would you use a bar chart? </a:t>
            </a:r>
            <a:endParaRPr/>
          </a:p>
          <a:p>
            <a:pPr indent="0" lvl="0" marL="0" rtl="0" algn="l">
              <a:spcBef>
                <a:spcPts val="1200"/>
              </a:spcBef>
              <a:spcAft>
                <a:spcPts val="1200"/>
              </a:spcAft>
              <a:buNone/>
            </a:pPr>
            <a:r>
              <a:rPr lang="en"/>
              <a:t>Brainstorm some examples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Bar Graph</a:t>
            </a:r>
            <a:endParaRPr/>
          </a:p>
        </p:txBody>
      </p:sp>
      <p:sp>
        <p:nvSpPr>
          <p:cNvPr id="393" name="Google Shape;393;p6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Use a bar chart when you want to compare discrete categories, not show trends</a:t>
            </a:r>
            <a:endParaRPr/>
          </a:p>
          <a:p>
            <a:pPr indent="-361950" lvl="0" marL="457200" rtl="0" algn="l">
              <a:spcBef>
                <a:spcPts val="1200"/>
              </a:spcBef>
              <a:spcAft>
                <a:spcPts val="0"/>
              </a:spcAft>
              <a:buSzPts val="2100"/>
              <a:buChar char="-"/>
            </a:pPr>
            <a:r>
              <a:rPr lang="en"/>
              <a:t>Comparing Values Across Categories. Ex: Number of customers by subscription plan</a:t>
            </a:r>
            <a:endParaRPr/>
          </a:p>
          <a:p>
            <a:pPr indent="-361950" lvl="0" marL="457200" rtl="0" algn="l">
              <a:spcBef>
                <a:spcPts val="0"/>
              </a:spcBef>
              <a:spcAft>
                <a:spcPts val="0"/>
              </a:spcAft>
              <a:buSzPts val="2100"/>
              <a:buChar char="-"/>
            </a:pPr>
            <a:r>
              <a:rPr lang="en"/>
              <a:t>Ranking or Ordering Categories. Ex: Countries by population</a:t>
            </a:r>
            <a:endParaRPr/>
          </a:p>
          <a:p>
            <a:pPr indent="-361950" lvl="0" marL="457200" rtl="0" algn="l">
              <a:spcBef>
                <a:spcPts val="0"/>
              </a:spcBef>
              <a:spcAft>
                <a:spcPts val="0"/>
              </a:spcAft>
              <a:buSzPts val="2100"/>
              <a:buChar char="-"/>
            </a:pPr>
            <a:r>
              <a:rPr lang="en"/>
              <a:t>Comparing Aggregated Metrics - What is the average / total / count per category?. Ex: Total sales by month</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Count plots </a:t>
            </a:r>
            <a:endParaRPr/>
          </a:p>
        </p:txBody>
      </p:sp>
      <p:sp>
        <p:nvSpPr>
          <p:cNvPr id="399" name="Google Shape;399;p6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When would you use a countplot? </a:t>
            </a:r>
            <a:endParaRPr/>
          </a:p>
          <a:p>
            <a:pPr indent="0" lvl="0" marL="0" rtl="0" algn="l">
              <a:spcBef>
                <a:spcPts val="1200"/>
              </a:spcBef>
              <a:spcAft>
                <a:spcPts val="1200"/>
              </a:spcAft>
              <a:buNone/>
            </a:pPr>
            <a:r>
              <a:rPr lang="en"/>
              <a:t>Brainstorm some examples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Count plots </a:t>
            </a:r>
            <a:endParaRPr/>
          </a:p>
        </p:txBody>
      </p:sp>
      <p:sp>
        <p:nvSpPr>
          <p:cNvPr id="405" name="Google Shape;405;p6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Compare category frequencies</a:t>
            </a:r>
            <a:endParaRPr/>
          </a:p>
          <a:p>
            <a:pPr indent="0" lvl="0" marL="0" rtl="0" algn="l">
              <a:spcBef>
                <a:spcPts val="1200"/>
              </a:spcBef>
              <a:spcAft>
                <a:spcPts val="1200"/>
              </a:spcAft>
              <a:buNone/>
            </a:pPr>
            <a:r>
              <a:rPr lang="en"/>
              <a:t>Detect imbalances - Are some categories over or under represented?</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7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Histograms</a:t>
            </a:r>
            <a:endParaRPr/>
          </a:p>
        </p:txBody>
      </p:sp>
      <p:sp>
        <p:nvSpPr>
          <p:cNvPr id="411" name="Google Shape;411;p7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When would you use a histogram? </a:t>
            </a:r>
            <a:endParaRPr/>
          </a:p>
          <a:p>
            <a:pPr indent="0" lvl="0" marL="0" rtl="0" algn="l">
              <a:spcBef>
                <a:spcPts val="1200"/>
              </a:spcBef>
              <a:spcAft>
                <a:spcPts val="0"/>
              </a:spcAft>
              <a:buNone/>
            </a:pPr>
            <a:r>
              <a:rPr lang="en"/>
              <a:t>Brainstorm some examples </a:t>
            </a:r>
            <a:endParaRPr/>
          </a:p>
          <a:p>
            <a:pPr indent="0" lvl="0" marL="0" rtl="0" algn="l">
              <a:spcBef>
                <a:spcPts val="1200"/>
              </a:spcBef>
              <a:spcAft>
                <a:spcPts val="1200"/>
              </a:spcAft>
              <a:buNone/>
            </a:pPr>
            <a:r>
              <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Histograms</a:t>
            </a:r>
            <a:endParaRPr/>
          </a:p>
        </p:txBody>
      </p:sp>
      <p:sp>
        <p:nvSpPr>
          <p:cNvPr id="417" name="Google Shape;417;p7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Understanding the shape of data - Ex: Exam scores for a class</a:t>
            </a:r>
            <a:endParaRPr/>
          </a:p>
          <a:p>
            <a:pPr indent="-361950" lvl="0" marL="457200" rtl="0" algn="l">
              <a:spcBef>
                <a:spcPts val="1200"/>
              </a:spcBef>
              <a:spcAft>
                <a:spcPts val="0"/>
              </a:spcAft>
              <a:buSzPts val="2100"/>
              <a:buChar char="-"/>
            </a:pPr>
            <a:r>
              <a:rPr lang="en"/>
              <a:t>Is it normally distributed? Skewed left or right? </a:t>
            </a:r>
            <a:r>
              <a:rPr lang="en"/>
              <a:t>Are there multiple peaks (bimodal)?</a:t>
            </a:r>
            <a:endParaRPr/>
          </a:p>
          <a:p>
            <a:pPr indent="0" lvl="0" marL="0" rtl="0" algn="l">
              <a:spcBef>
                <a:spcPts val="1200"/>
              </a:spcBef>
              <a:spcAft>
                <a:spcPts val="0"/>
              </a:spcAft>
              <a:buNone/>
            </a:pPr>
            <a:r>
              <a:rPr lang="en"/>
              <a:t>Checking for outliers - extremely high or low values</a:t>
            </a:r>
            <a:endParaRPr/>
          </a:p>
          <a:p>
            <a:pPr indent="0" lvl="0" marL="0" rtl="0" algn="l">
              <a:spcBef>
                <a:spcPts val="1200"/>
              </a:spcBef>
              <a:spcAft>
                <a:spcPts val="1200"/>
              </a:spcAft>
              <a:buNone/>
            </a:pPr>
            <a:r>
              <a:rPr lang="en"/>
              <a:t>Understanding</a:t>
            </a:r>
            <a:r>
              <a:rPr lang="en"/>
              <a:t> your data - as a quick check for numerical data distributions in general in your dataset. </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7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Heatmaps</a:t>
            </a:r>
            <a:endParaRPr/>
          </a:p>
        </p:txBody>
      </p:sp>
      <p:sp>
        <p:nvSpPr>
          <p:cNvPr id="423" name="Google Shape;423;p7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When would you use a heatmap? </a:t>
            </a:r>
            <a:endParaRPr/>
          </a:p>
          <a:p>
            <a:pPr indent="0" lvl="0" marL="0" rtl="0" algn="l">
              <a:spcBef>
                <a:spcPts val="1200"/>
              </a:spcBef>
              <a:spcAft>
                <a:spcPts val="1200"/>
              </a:spcAft>
              <a:buNone/>
            </a:pPr>
            <a:r>
              <a:rPr lang="en"/>
              <a:t>Brainstorm some examples.</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7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Heatmaps</a:t>
            </a:r>
            <a:endParaRPr/>
          </a:p>
        </p:txBody>
      </p:sp>
      <p:sp>
        <p:nvSpPr>
          <p:cNvPr id="429" name="Google Shape;429;p7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Use heatmaps to show correlations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3" name="Shape 433"/>
        <p:cNvGrpSpPr/>
        <p:nvPr/>
      </p:nvGrpSpPr>
      <p:grpSpPr>
        <a:xfrm>
          <a:off x="0" y="0"/>
          <a:ext cx="0" cy="0"/>
          <a:chOff x="0" y="0"/>
          <a:chExt cx="0" cy="0"/>
        </a:xfrm>
      </p:grpSpPr>
      <p:sp>
        <p:nvSpPr>
          <p:cNvPr id="434" name="Google Shape;434;p7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Box plots and violin plots</a:t>
            </a:r>
            <a:endParaRPr/>
          </a:p>
        </p:txBody>
      </p:sp>
      <p:sp>
        <p:nvSpPr>
          <p:cNvPr id="435" name="Google Shape;435;p7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Use box plots or violin plots when you want median, quartiles, spread, and outliers, especially to compare groups.</a:t>
            </a:r>
            <a:endParaRPr/>
          </a:p>
          <a:p>
            <a:pPr indent="0" lvl="0" marL="0" rtl="0" algn="l">
              <a:spcBef>
                <a:spcPts val="1200"/>
              </a:spcBef>
              <a:spcAft>
                <a:spcPts val="1200"/>
              </a:spcAft>
              <a:buNone/>
            </a:pPr>
            <a:r>
              <a:rPr lang="en"/>
              <a:t>For example, to compare exam performance in different classes or house prices by neighborhood. </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p7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Quiz</a:t>
            </a:r>
            <a:endParaRPr/>
          </a:p>
        </p:txBody>
      </p:sp>
      <p:sp>
        <p:nvSpPr>
          <p:cNvPr id="441" name="Google Shape;441;p7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For each scenario, choose the type of graph you would use to best visualize the data. Options: Line, Scatter, Bar, Count, Histogram, Box, Heatmap.</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7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Quiz</a:t>
            </a:r>
            <a:endParaRPr/>
          </a:p>
        </p:txBody>
      </p:sp>
      <p:sp>
        <p:nvSpPr>
          <p:cNvPr id="447" name="Google Shape;447;p7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1. A company wants to see how its monthly sales revenue has changed over the past 5 years.</a:t>
            </a:r>
            <a:endParaRPr/>
          </a:p>
          <a:p>
            <a:pPr indent="0" lvl="0" marL="0" rtl="0" algn="l">
              <a:spcBef>
                <a:spcPts val="1200"/>
              </a:spcBef>
              <a:spcAft>
                <a:spcPts val="0"/>
              </a:spcAft>
              <a:buNone/>
            </a:pPr>
            <a:r>
              <a:rPr lang="en"/>
              <a:t>2. A researcher collects data on hours studied and exam scores for 200 students to see if there’s a relationship between the two variables</a:t>
            </a:r>
            <a:endParaRPr/>
          </a:p>
          <a:p>
            <a:pPr indent="0" lvl="0" marL="0" rtl="0" algn="l">
              <a:spcBef>
                <a:spcPts val="1200"/>
              </a:spcBef>
              <a:spcAft>
                <a:spcPts val="0"/>
              </a:spcAft>
              <a:buNone/>
            </a:pPr>
            <a:r>
              <a:rPr lang="en"/>
              <a:t>3. A supermarket wants to show the total sales of different product categories (like dairy, produce, and snacks) in the last quarter.</a:t>
            </a:r>
            <a:endParaRPr/>
          </a:p>
          <a:p>
            <a:pPr indent="0" lvl="0" marL="0" rtl="0" algn="l">
              <a:spcBef>
                <a:spcPts val="1200"/>
              </a:spcBef>
              <a:spcAft>
                <a:spcPts val="0"/>
              </a:spcAft>
              <a:buNone/>
            </a:pPr>
            <a:r>
              <a:rPr lang="en"/>
              <a:t>4. A social media analyst wants to show the number of posts made by users each day of the week.</a:t>
            </a:r>
            <a:endParaRPr/>
          </a:p>
          <a:p>
            <a:pPr indent="0" lvl="0" marL="0" rtl="0" algn="l">
              <a:spcBef>
                <a:spcPts val="1200"/>
              </a:spcBef>
              <a:spcAft>
                <a:spcPts val="1200"/>
              </a:spcAft>
              <a:buNone/>
            </a:pPr>
            <a:r>
              <a:rPr lang="en"/>
              <a:t>5. A teacher wants to understand the distribution of test scores for a class of 50 students.</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sp>
        <p:nvSpPr>
          <p:cNvPr id="452" name="Google Shape;452;p7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Answers</a:t>
            </a:r>
            <a:endParaRPr/>
          </a:p>
        </p:txBody>
      </p:sp>
      <p:sp>
        <p:nvSpPr>
          <p:cNvPr id="453" name="Google Shape;453;p7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1. A company wants to see how its monthly sales revenue has changed over the past 5 years. </a:t>
            </a:r>
            <a:r>
              <a:rPr b="1" lang="en"/>
              <a:t>Line graph. </a:t>
            </a:r>
            <a:endParaRPr/>
          </a:p>
          <a:p>
            <a:pPr indent="-351948" lvl="0" marL="457200" rtl="0" algn="l">
              <a:spcBef>
                <a:spcPts val="1200"/>
              </a:spcBef>
              <a:spcAft>
                <a:spcPts val="0"/>
              </a:spcAft>
              <a:buSzPct val="100000"/>
              <a:buChar char="-"/>
            </a:pPr>
            <a:r>
              <a:rPr lang="en"/>
              <a:t>Line graphs show trends over time </a:t>
            </a:r>
            <a:endParaRPr/>
          </a:p>
          <a:p>
            <a:pPr indent="0" lvl="0" marL="0" rtl="0" algn="l">
              <a:spcBef>
                <a:spcPts val="1200"/>
              </a:spcBef>
              <a:spcAft>
                <a:spcPts val="0"/>
              </a:spcAft>
              <a:buNone/>
            </a:pPr>
            <a:r>
              <a:rPr lang="en"/>
              <a:t>2. A researcher collects data on hours studied and exam scores to see if there’s a relationship between the two variables. </a:t>
            </a:r>
            <a:r>
              <a:rPr b="1" lang="en"/>
              <a:t>Scatter plot</a:t>
            </a:r>
            <a:endParaRPr b="1"/>
          </a:p>
          <a:p>
            <a:pPr indent="-351948" lvl="0" marL="457200" rtl="0" algn="l">
              <a:spcBef>
                <a:spcPts val="1200"/>
              </a:spcBef>
              <a:spcAft>
                <a:spcPts val="0"/>
              </a:spcAft>
              <a:buSzPct val="100000"/>
              <a:buChar char="-"/>
            </a:pPr>
            <a:r>
              <a:rPr lang="en"/>
              <a:t>Scatter plots show the relationship between two numerical variables and help identify correlations.</a:t>
            </a:r>
            <a:endParaRPr/>
          </a:p>
          <a:p>
            <a:pPr indent="0" lvl="0" marL="0" rtl="0" algn="l">
              <a:spcBef>
                <a:spcPts val="1200"/>
              </a:spcBef>
              <a:spcAft>
                <a:spcPts val="1200"/>
              </a:spcAft>
              <a:buNone/>
            </a:pPr>
            <a:r>
              <a:rPr lang="en"/>
              <a:t>3. A supermarket wants to show the total sales of different product categories (like dairy, produce, and snacks) in the last quarter. </a:t>
            </a:r>
            <a:r>
              <a:rPr b="1" lang="en"/>
              <a:t>B</a:t>
            </a:r>
            <a:r>
              <a:rPr b="1" lang="en"/>
              <a:t>ar chart</a:t>
            </a:r>
            <a:endParaRPr b="1"/>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7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Answers</a:t>
            </a:r>
            <a:endParaRPr/>
          </a:p>
        </p:txBody>
      </p:sp>
      <p:sp>
        <p:nvSpPr>
          <p:cNvPr id="459" name="Google Shape;459;p7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b="1"/>
          </a:p>
          <a:p>
            <a:pPr indent="0" lvl="0" marL="0" rtl="0" algn="l">
              <a:spcBef>
                <a:spcPts val="1200"/>
              </a:spcBef>
              <a:spcAft>
                <a:spcPts val="0"/>
              </a:spcAft>
              <a:buNone/>
            </a:pPr>
            <a:r>
              <a:rPr lang="en"/>
              <a:t>4. A social media analyst wants to show the number of posts made by users each day of the week. </a:t>
            </a:r>
            <a:r>
              <a:rPr b="1" lang="en"/>
              <a:t>Count plot</a:t>
            </a:r>
            <a:endParaRPr b="1"/>
          </a:p>
          <a:p>
            <a:pPr indent="-361950" lvl="0" marL="457200" rtl="0" algn="l">
              <a:spcBef>
                <a:spcPts val="1200"/>
              </a:spcBef>
              <a:spcAft>
                <a:spcPts val="0"/>
              </a:spcAft>
              <a:buSzPts val="2100"/>
              <a:buChar char="-"/>
            </a:pPr>
            <a:r>
              <a:rPr lang="en"/>
              <a:t>Count plots show frequency by category</a:t>
            </a:r>
            <a:endParaRPr/>
          </a:p>
          <a:p>
            <a:pPr indent="0" lvl="0" marL="0" rtl="0" algn="l">
              <a:spcBef>
                <a:spcPts val="1200"/>
              </a:spcBef>
              <a:spcAft>
                <a:spcPts val="0"/>
              </a:spcAft>
              <a:buNone/>
            </a:pPr>
            <a:r>
              <a:rPr lang="en"/>
              <a:t>5. A teacher wants to understand the distribution of test scores for a class of 50 students. </a:t>
            </a:r>
            <a:r>
              <a:rPr b="1" lang="en"/>
              <a:t>Histogram </a:t>
            </a:r>
            <a:endParaRPr b="1"/>
          </a:p>
          <a:p>
            <a:pPr indent="-361950" lvl="0" marL="457200" rtl="0" algn="l">
              <a:spcBef>
                <a:spcPts val="1200"/>
              </a:spcBef>
              <a:spcAft>
                <a:spcPts val="0"/>
              </a:spcAft>
              <a:buSzPts val="2100"/>
              <a:buChar char="-"/>
            </a:pPr>
            <a:r>
              <a:rPr lang="en"/>
              <a:t>Histograms show distribution</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7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Quiz</a:t>
            </a:r>
            <a:endParaRPr/>
          </a:p>
        </p:txBody>
      </p:sp>
      <p:sp>
        <p:nvSpPr>
          <p:cNvPr id="465" name="Google Shape;465;p79"/>
          <p:cNvSpPr txBox="1"/>
          <p:nvPr>
            <p:ph idx="1" type="body"/>
          </p:nvPr>
        </p:nvSpPr>
        <p:spPr>
          <a:xfrm>
            <a:off x="311700" y="1199450"/>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6. A data analyst wants to compare the median, quartiles, and outliers in salaries across three different departments in a company. </a:t>
            </a:r>
            <a:endParaRPr b="1"/>
          </a:p>
          <a:p>
            <a:pPr indent="0" lvl="0" marL="0" rtl="0" algn="l">
              <a:spcBef>
                <a:spcPts val="1200"/>
              </a:spcBef>
              <a:spcAft>
                <a:spcPts val="0"/>
              </a:spcAft>
              <a:buNone/>
            </a:pPr>
            <a:r>
              <a:rPr lang="en"/>
              <a:t>7. A meteorologist wants to visualize temperature variations across different cities and months of the year in a single chart.</a:t>
            </a:r>
            <a:endParaRPr/>
          </a:p>
          <a:p>
            <a:pPr indent="0" lvl="0" marL="0" rtl="0" algn="l">
              <a:spcBef>
                <a:spcPts val="1200"/>
              </a:spcBef>
              <a:spcAft>
                <a:spcPts val="0"/>
              </a:spcAft>
              <a:buNone/>
            </a:pPr>
            <a:r>
              <a:rPr lang="en"/>
              <a:t>8. A tech company wants to see the relationship between the number of hours spent on its app and the number of in-app purchases per user.</a:t>
            </a:r>
            <a:endParaRPr/>
          </a:p>
          <a:p>
            <a:pPr indent="0" lvl="0" marL="0" rtl="0" algn="l">
              <a:spcBef>
                <a:spcPts val="1200"/>
              </a:spcBef>
              <a:spcAft>
                <a:spcPts val="0"/>
              </a:spcAft>
              <a:buNone/>
            </a:pPr>
            <a:r>
              <a:rPr lang="en"/>
              <a:t>9. A store manager wants to visualize the most popular T-shirt sizes purchased over the past month.</a:t>
            </a:r>
            <a:endParaRPr/>
          </a:p>
          <a:p>
            <a:pPr indent="0" lvl="0" marL="0" rtl="0" algn="l">
              <a:spcBef>
                <a:spcPts val="1200"/>
              </a:spcBef>
              <a:spcAft>
                <a:spcPts val="1200"/>
              </a:spcAft>
              <a:buNone/>
            </a:pPr>
            <a:r>
              <a:rPr lang="en"/>
              <a:t>10. A fitness coach wants to show the trend of weekly step counts for a group of clients over a year.</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8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Answers</a:t>
            </a:r>
            <a:endParaRPr/>
          </a:p>
        </p:txBody>
      </p:sp>
      <p:sp>
        <p:nvSpPr>
          <p:cNvPr id="471" name="Google Shape;471;p80"/>
          <p:cNvSpPr txBox="1"/>
          <p:nvPr>
            <p:ph idx="1" type="body"/>
          </p:nvPr>
        </p:nvSpPr>
        <p:spPr>
          <a:xfrm>
            <a:off x="311700" y="1199450"/>
            <a:ext cx="8520600" cy="34164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0"/>
              </a:spcAft>
              <a:buNone/>
            </a:pPr>
            <a:r>
              <a:rPr lang="en"/>
              <a:t>6. A data analyst wants to compare the median, quartiles, and outliers in salaries across three different departments in a company. </a:t>
            </a:r>
            <a:r>
              <a:rPr b="1" lang="en"/>
              <a:t>Box plot</a:t>
            </a:r>
            <a:endParaRPr b="1"/>
          </a:p>
          <a:p>
            <a:pPr indent="0" lvl="0" marL="0" rtl="0" algn="l">
              <a:spcBef>
                <a:spcPts val="1200"/>
              </a:spcBef>
              <a:spcAft>
                <a:spcPts val="0"/>
              </a:spcAft>
              <a:buNone/>
            </a:pPr>
            <a:r>
              <a:rPr lang="en"/>
              <a:t>7. A meteorologist wants to visualize correlations between many weather-related variables including rainfall cm, wind speed, and temperature. </a:t>
            </a:r>
            <a:r>
              <a:rPr b="1" lang="en"/>
              <a:t>Heatmap</a:t>
            </a:r>
            <a:endParaRPr b="1"/>
          </a:p>
          <a:p>
            <a:pPr indent="0" lvl="0" marL="0" rtl="0" algn="l">
              <a:spcBef>
                <a:spcPts val="1200"/>
              </a:spcBef>
              <a:spcAft>
                <a:spcPts val="0"/>
              </a:spcAft>
              <a:buNone/>
            </a:pPr>
            <a:r>
              <a:rPr lang="en"/>
              <a:t>8. A tech company wants to see the relationship between the number of hours spent on its app and the number of in-app purchases per user. </a:t>
            </a:r>
            <a:r>
              <a:rPr b="1" lang="en"/>
              <a:t>Scatter plot</a:t>
            </a:r>
            <a:endParaRPr b="1"/>
          </a:p>
          <a:p>
            <a:pPr indent="0" lvl="0" marL="0" rtl="0" algn="l">
              <a:spcBef>
                <a:spcPts val="1200"/>
              </a:spcBef>
              <a:spcAft>
                <a:spcPts val="1200"/>
              </a:spcAft>
              <a:buNone/>
            </a:pPr>
            <a:r>
              <a:rPr lang="en"/>
              <a:t>9. A store manager wants to visualize the most popular T-shirt sizes purchased over the past month. </a:t>
            </a:r>
            <a:r>
              <a:rPr b="1" lang="en"/>
              <a:t>Countplot</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5" name="Shape 475"/>
        <p:cNvGrpSpPr/>
        <p:nvPr/>
      </p:nvGrpSpPr>
      <p:grpSpPr>
        <a:xfrm>
          <a:off x="0" y="0"/>
          <a:ext cx="0" cy="0"/>
          <a:chOff x="0" y="0"/>
          <a:chExt cx="0" cy="0"/>
        </a:xfrm>
      </p:grpSpPr>
      <p:sp>
        <p:nvSpPr>
          <p:cNvPr id="476" name="Google Shape;476;p81"/>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Avoid misleading values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0" name="Shape 480"/>
        <p:cNvGrpSpPr/>
        <p:nvPr/>
      </p:nvGrpSpPr>
      <p:grpSpPr>
        <a:xfrm>
          <a:off x="0" y="0"/>
          <a:ext cx="0" cy="0"/>
          <a:chOff x="0" y="0"/>
          <a:chExt cx="0" cy="0"/>
        </a:xfrm>
      </p:grpSpPr>
      <p:sp>
        <p:nvSpPr>
          <p:cNvPr id="481" name="Google Shape;481;p8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Correlation</a:t>
            </a:r>
            <a:r>
              <a:rPr lang="en"/>
              <a:t>≠ Causation</a:t>
            </a:r>
            <a:endParaRPr/>
          </a:p>
        </p:txBody>
      </p:sp>
      <p:sp>
        <p:nvSpPr>
          <p:cNvPr id="482" name="Google Shape;482;p8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u="sng">
                <a:solidFill>
                  <a:schemeClr val="hlink"/>
                </a:solidFill>
                <a:hlinkClick r:id="rId3"/>
              </a:rPr>
              <a:t>https://www.tylervigen.com/spurious-correlations</a:t>
            </a:r>
            <a:endParaRPr/>
          </a:p>
          <a:p>
            <a:pPr indent="0" lvl="0" marL="0" rtl="0" algn="l">
              <a:spcBef>
                <a:spcPts val="1200"/>
              </a:spcBef>
              <a:spcAft>
                <a:spcPts val="0"/>
              </a:spcAft>
              <a:buNone/>
            </a:pPr>
            <a:r>
              <a:rPr lang="en"/>
              <a:t>What is the difference between correlation and causation?</a:t>
            </a:r>
            <a:endParaRPr/>
          </a:p>
          <a:p>
            <a:pPr indent="0" lvl="0" marL="0" rtl="0" algn="l">
              <a:spcBef>
                <a:spcPts val="1200"/>
              </a:spcBef>
              <a:spcAft>
                <a:spcPts val="1200"/>
              </a:spcAft>
              <a:buNone/>
            </a:pPr>
            <a:r>
              <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8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Colors</a:t>
            </a:r>
            <a:endParaRPr/>
          </a:p>
        </p:txBody>
      </p:sp>
      <p:sp>
        <p:nvSpPr>
          <p:cNvPr id="488" name="Google Shape;488;p8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Be careful with colors</a:t>
            </a:r>
            <a:endParaRPr/>
          </a:p>
          <a:p>
            <a:pPr indent="0" lvl="0" marL="0" rtl="0" algn="l">
              <a:spcBef>
                <a:spcPts val="1200"/>
              </a:spcBef>
              <a:spcAft>
                <a:spcPts val="0"/>
              </a:spcAft>
              <a:buNone/>
            </a:pPr>
            <a:r>
              <a:rPr lang="en"/>
              <a:t>For example:</a:t>
            </a:r>
            <a:endParaRPr/>
          </a:p>
          <a:p>
            <a:pPr indent="-361950" lvl="0" marL="457200" rtl="0" algn="l">
              <a:spcBef>
                <a:spcPts val="1200"/>
              </a:spcBef>
              <a:spcAft>
                <a:spcPts val="0"/>
              </a:spcAft>
              <a:buSzPts val="2100"/>
              <a:buChar char="-"/>
            </a:pPr>
            <a:r>
              <a:rPr lang="en"/>
              <a:t>R</a:t>
            </a:r>
            <a:r>
              <a:rPr lang="en"/>
              <a:t>ed/green scales can imply good/bad</a:t>
            </a:r>
            <a:endParaRPr/>
          </a:p>
          <a:p>
            <a:pPr indent="-361950" lvl="0" marL="457200" rtl="0" algn="l">
              <a:spcBef>
                <a:spcPts val="0"/>
              </a:spcBef>
              <a:spcAft>
                <a:spcPts val="0"/>
              </a:spcAft>
              <a:buSzPts val="2100"/>
              <a:buChar char="-"/>
            </a:pPr>
            <a:r>
              <a:rPr lang="en"/>
              <a:t>Too many colors can be distracting</a:t>
            </a:r>
            <a:endParaRPr/>
          </a:p>
          <a:p>
            <a:pPr indent="-361950" lvl="0" marL="457200" rtl="0" algn="l">
              <a:spcBef>
                <a:spcPts val="0"/>
              </a:spcBef>
              <a:spcAft>
                <a:spcPts val="0"/>
              </a:spcAft>
              <a:buSzPts val="2100"/>
              <a:buChar char="-"/>
            </a:pPr>
            <a:r>
              <a:rPr lang="en"/>
              <a:t>Very similar colors for different values make charts difficult to read</a:t>
            </a:r>
            <a:endParaRPr/>
          </a:p>
          <a:p>
            <a:pPr indent="-361950" lvl="0" marL="457200" rtl="0" algn="l">
              <a:spcBef>
                <a:spcPts val="0"/>
              </a:spcBef>
              <a:spcAft>
                <a:spcPts val="0"/>
              </a:spcAft>
              <a:buSzPts val="2100"/>
              <a:buChar char="-"/>
            </a:pPr>
            <a:r>
              <a:rPr lang="en"/>
              <a:t>Remember color blindness is pretty common</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8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Chart choice mistakes</a:t>
            </a:r>
            <a:endParaRPr/>
          </a:p>
        </p:txBody>
      </p:sp>
      <p:sp>
        <p:nvSpPr>
          <p:cNvPr id="494" name="Google Shape;494;p8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Don't use a line chart for unordered data</a:t>
            </a:r>
            <a:endParaRPr/>
          </a:p>
          <a:p>
            <a:pPr indent="0" lvl="0" marL="0" rtl="0" algn="l">
              <a:spcBef>
                <a:spcPts val="1200"/>
              </a:spcBef>
              <a:spcAft>
                <a:spcPts val="1200"/>
              </a:spcAft>
              <a:buNone/>
            </a:pPr>
            <a:r>
              <a:rPr lang="en"/>
              <a:t>Don't use a pie chart with too many slices</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8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Practice</a:t>
            </a:r>
            <a:endParaRPr/>
          </a:p>
        </p:txBody>
      </p:sp>
      <p:sp>
        <p:nvSpPr>
          <p:cNvPr id="500" name="Google Shape;500;p8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In the notebook, practice by fixing the misleading or bad graphs. </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8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Homework</a:t>
            </a:r>
            <a:endParaRPr/>
          </a:p>
        </p:txBody>
      </p:sp>
      <p:sp>
        <p:nvSpPr>
          <p:cNvPr id="506" name="Google Shape;506;p8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Create a misleading chart.</a:t>
            </a:r>
            <a:endParaRPr/>
          </a:p>
          <a:p>
            <a:pPr indent="0" lvl="0" marL="0" rtl="0" algn="l">
              <a:spcBef>
                <a:spcPts val="1200"/>
              </a:spcBef>
              <a:spcAft>
                <a:spcPts val="0"/>
              </a:spcAft>
              <a:buNone/>
            </a:pPr>
            <a:r>
              <a:rPr lang="en"/>
              <a:t>Explain why it is misleading. </a:t>
            </a:r>
            <a:endParaRPr/>
          </a:p>
          <a:p>
            <a:pPr indent="0" lvl="0" marL="0" rtl="0" algn="l">
              <a:spcBef>
                <a:spcPts val="1200"/>
              </a:spcBef>
              <a:spcAft>
                <a:spcPts val="1200"/>
              </a:spcAft>
              <a:buNone/>
            </a:pPr>
            <a:r>
              <a:rPr lang="en"/>
              <a:t>Show how to fix it. </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8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Resources</a:t>
            </a:r>
            <a:endParaRPr/>
          </a:p>
        </p:txBody>
      </p:sp>
      <p:sp>
        <p:nvSpPr>
          <p:cNvPr id="512" name="Google Shape;512;p8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From Data to Viz</a:t>
            </a:r>
            <a:endParaRPr/>
          </a:p>
          <a:p>
            <a:pPr indent="0" lvl="0" marL="0" rtl="0" algn="l">
              <a:spcBef>
                <a:spcPts val="1200"/>
              </a:spcBef>
              <a:spcAft>
                <a:spcPts val="1200"/>
              </a:spcAft>
              <a:buNone/>
            </a:pPr>
            <a:r>
              <a:rPr lang="en"/>
              <a:t>Data Journalism: Interpreting Visuals</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88"/>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Data storytelling frameworks</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8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t/>
            </a:r>
            <a:endParaRPr/>
          </a:p>
        </p:txBody>
      </p:sp>
      <p:sp>
        <p:nvSpPr>
          <p:cNvPr id="523" name="Google Shape;523;p8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90"/>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Visualization best practices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9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t/>
            </a:r>
            <a:endParaRPr/>
          </a:p>
        </p:txBody>
      </p:sp>
      <p:sp>
        <p:nvSpPr>
          <p:cNvPr id="534" name="Google Shape;534;p9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9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
              <a:t>Mini-project: Create a narrative visual report for a business dataset</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9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t/>
            </a:r>
            <a:endParaRPr/>
          </a:p>
        </p:txBody>
      </p:sp>
      <p:sp>
        <p:nvSpPr>
          <p:cNvPr id="545" name="Google Shape;545;p9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9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t/>
            </a:r>
            <a:endParaRPr/>
          </a:p>
        </p:txBody>
      </p:sp>
      <p:sp>
        <p:nvSpPr>
          <p:cNvPr id="551" name="Google Shape;551;p9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9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Quiz</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9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What are these charts called?</a:t>
            </a:r>
            <a:endParaRPr/>
          </a:p>
        </p:txBody>
      </p:sp>
      <p:pic>
        <p:nvPicPr>
          <p:cNvPr id="562" name="Google Shape;562;p96"/>
          <p:cNvPicPr preferRelativeResize="0"/>
          <p:nvPr/>
        </p:nvPicPr>
        <p:blipFill>
          <a:blip r:embed="rId3">
            <a:alphaModFix/>
          </a:blip>
          <a:stretch>
            <a:fillRect/>
          </a:stretch>
        </p:blipFill>
        <p:spPr>
          <a:xfrm>
            <a:off x="1606825" y="1088175"/>
            <a:ext cx="5758449" cy="3838976"/>
          </a:xfrm>
          <a:prstGeom prst="rect">
            <a:avLst/>
          </a:prstGeom>
          <a:noFill/>
          <a:ln>
            <a:noFill/>
          </a:ln>
        </p:spPr>
      </p:pic>
      <p:sp>
        <p:nvSpPr>
          <p:cNvPr id="563" name="Google Shape;563;p96"/>
          <p:cNvSpPr/>
          <p:nvPr/>
        </p:nvSpPr>
        <p:spPr>
          <a:xfrm>
            <a:off x="1752075" y="1707450"/>
            <a:ext cx="5214000" cy="3054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aven Pro"/>
              <a:ea typeface="Maven Pro"/>
              <a:cs typeface="Maven Pro"/>
              <a:sym typeface="Maven Pro"/>
            </a:endParaRPr>
          </a:p>
        </p:txBody>
      </p:sp>
      <p:sp>
        <p:nvSpPr>
          <p:cNvPr id="564" name="Google Shape;564;p96"/>
          <p:cNvSpPr/>
          <p:nvPr/>
        </p:nvSpPr>
        <p:spPr>
          <a:xfrm>
            <a:off x="1857775" y="3128375"/>
            <a:ext cx="5307900" cy="3054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aven Pro"/>
              <a:ea typeface="Maven Pro"/>
              <a:cs typeface="Maven Pro"/>
              <a:sym typeface="Maven Pro"/>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9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What are these charts called?</a:t>
            </a:r>
            <a:endParaRPr/>
          </a:p>
        </p:txBody>
      </p:sp>
      <p:pic>
        <p:nvPicPr>
          <p:cNvPr id="570" name="Google Shape;570;p97"/>
          <p:cNvPicPr preferRelativeResize="0"/>
          <p:nvPr/>
        </p:nvPicPr>
        <p:blipFill>
          <a:blip r:embed="rId3">
            <a:alphaModFix/>
          </a:blip>
          <a:stretch>
            <a:fillRect/>
          </a:stretch>
        </p:blipFill>
        <p:spPr>
          <a:xfrm>
            <a:off x="1606825" y="1088175"/>
            <a:ext cx="5758449" cy="3838976"/>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p9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Questions</a:t>
            </a:r>
            <a:endParaRPr/>
          </a:p>
        </p:txBody>
      </p:sp>
      <p:sp>
        <p:nvSpPr>
          <p:cNvPr id="576" name="Google Shape;576;p9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What kind of the chart would you choose to…</a:t>
            </a:r>
            <a:endParaRPr/>
          </a:p>
          <a:p>
            <a:pPr indent="-361950" lvl="0" marL="457200" rtl="0" algn="l">
              <a:spcBef>
                <a:spcPts val="1200"/>
              </a:spcBef>
              <a:spcAft>
                <a:spcPts val="0"/>
              </a:spcAft>
              <a:buSzPts val="2100"/>
              <a:buAutoNum type="arabicPeriod"/>
            </a:pPr>
            <a:r>
              <a:rPr lang="en"/>
              <a:t>Count the number of times different brands appear in a dataset</a:t>
            </a:r>
            <a:endParaRPr/>
          </a:p>
          <a:p>
            <a:pPr indent="-361950" lvl="0" marL="457200" rtl="0" algn="l">
              <a:spcBef>
                <a:spcPts val="0"/>
              </a:spcBef>
              <a:spcAft>
                <a:spcPts val="0"/>
              </a:spcAft>
              <a:buSzPts val="2100"/>
              <a:buAutoNum type="arabicPeriod"/>
            </a:pPr>
            <a:r>
              <a:rPr lang="en"/>
              <a:t>Show the distribution of ages in a dataset</a:t>
            </a:r>
            <a:endParaRPr/>
          </a:p>
          <a:p>
            <a:pPr indent="-361950" lvl="0" marL="457200" rtl="0" algn="l">
              <a:spcBef>
                <a:spcPts val="0"/>
              </a:spcBef>
              <a:spcAft>
                <a:spcPts val="0"/>
              </a:spcAft>
              <a:buSzPts val="2100"/>
              <a:buAutoNum type="arabicPeriod"/>
            </a:pPr>
            <a:r>
              <a:rPr lang="en"/>
              <a:t>Compare the average study hours of different levels of students</a:t>
            </a:r>
            <a:endParaRPr/>
          </a:p>
          <a:p>
            <a:pPr indent="-361950" lvl="0" marL="457200" rtl="0" algn="l">
              <a:spcBef>
                <a:spcPts val="0"/>
              </a:spcBef>
              <a:spcAft>
                <a:spcPts val="0"/>
              </a:spcAft>
              <a:buSzPts val="2100"/>
              <a:buAutoNum type="arabicPeriod"/>
            </a:pPr>
            <a:r>
              <a:rPr lang="en"/>
              <a:t>See if there is a relationship between study hours and test scores</a:t>
            </a:r>
            <a:endParaRPr/>
          </a:p>
          <a:p>
            <a:pPr indent="-361950" lvl="0" marL="457200" rtl="0" algn="l">
              <a:spcBef>
                <a:spcPts val="0"/>
              </a:spcBef>
              <a:spcAft>
                <a:spcPts val="0"/>
              </a:spcAft>
              <a:buSzPts val="2100"/>
              <a:buAutoNum type="arabicPeriod"/>
            </a:pPr>
            <a:r>
              <a:rPr lang="en"/>
              <a:t>View a stock price over time</a:t>
            </a:r>
            <a:endParaRPr/>
          </a:p>
          <a:p>
            <a:pPr indent="-361950" lvl="0" marL="457200" rtl="0" algn="l">
              <a:spcBef>
                <a:spcPts val="0"/>
              </a:spcBef>
              <a:spcAft>
                <a:spcPts val="0"/>
              </a:spcAft>
              <a:buSzPts val="2100"/>
              <a:buAutoNum type="arabicPeriod"/>
            </a:pPr>
            <a:r>
              <a:rPr lang="en"/>
              <a:t>Find correlations within a dataset</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9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Answers</a:t>
            </a:r>
            <a:endParaRPr/>
          </a:p>
        </p:txBody>
      </p:sp>
      <p:sp>
        <p:nvSpPr>
          <p:cNvPr id="582" name="Google Shape;582;p9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What kind of the chart would you choose to…</a:t>
            </a:r>
            <a:endParaRPr/>
          </a:p>
          <a:p>
            <a:pPr indent="-361950" lvl="0" marL="457200" rtl="0" algn="l">
              <a:spcBef>
                <a:spcPts val="1200"/>
              </a:spcBef>
              <a:spcAft>
                <a:spcPts val="0"/>
              </a:spcAft>
              <a:buSzPts val="2100"/>
              <a:buAutoNum type="arabicPeriod"/>
            </a:pPr>
            <a:r>
              <a:rPr lang="en"/>
              <a:t>Count the number of times different brands appear in a dataset</a:t>
            </a:r>
            <a:endParaRPr/>
          </a:p>
          <a:p>
            <a:pPr indent="-342900" lvl="1" marL="914400" rtl="0" algn="l">
              <a:spcBef>
                <a:spcPts val="0"/>
              </a:spcBef>
              <a:spcAft>
                <a:spcPts val="0"/>
              </a:spcAft>
              <a:buSzPts val="1800"/>
              <a:buAutoNum type="alphaLcPeriod"/>
            </a:pPr>
            <a:r>
              <a:rPr lang="en"/>
              <a:t>countplot</a:t>
            </a:r>
            <a:endParaRPr/>
          </a:p>
          <a:p>
            <a:pPr indent="-361950" lvl="0" marL="457200" rtl="0" algn="l">
              <a:spcBef>
                <a:spcPts val="0"/>
              </a:spcBef>
              <a:spcAft>
                <a:spcPts val="0"/>
              </a:spcAft>
              <a:buSzPts val="2100"/>
              <a:buAutoNum type="arabicPeriod"/>
            </a:pPr>
            <a:r>
              <a:rPr lang="en"/>
              <a:t>Show the distribution of ages in a dataset</a:t>
            </a:r>
            <a:endParaRPr/>
          </a:p>
          <a:p>
            <a:pPr indent="-342900" lvl="1" marL="914400" rtl="0" algn="l">
              <a:spcBef>
                <a:spcPts val="0"/>
              </a:spcBef>
              <a:spcAft>
                <a:spcPts val="0"/>
              </a:spcAft>
              <a:buSzPts val="1800"/>
              <a:buAutoNum type="alphaLcPeriod"/>
            </a:pPr>
            <a:r>
              <a:rPr lang="en"/>
              <a:t>histogram</a:t>
            </a:r>
            <a:endParaRPr/>
          </a:p>
          <a:p>
            <a:pPr indent="-361950" lvl="0" marL="457200" rtl="0" algn="l">
              <a:spcBef>
                <a:spcPts val="0"/>
              </a:spcBef>
              <a:spcAft>
                <a:spcPts val="0"/>
              </a:spcAft>
              <a:buSzPts val="2100"/>
              <a:buAutoNum type="arabicPeriod"/>
            </a:pPr>
            <a:r>
              <a:rPr lang="en"/>
              <a:t>Compare the average study hours of different student groups</a:t>
            </a:r>
            <a:endParaRPr/>
          </a:p>
          <a:p>
            <a:pPr indent="-342900" lvl="1" marL="914400" rtl="0" algn="l">
              <a:spcBef>
                <a:spcPts val="0"/>
              </a:spcBef>
              <a:spcAft>
                <a:spcPts val="0"/>
              </a:spcAft>
              <a:buSzPts val="1800"/>
              <a:buAutoNum type="alphaLcPeriod"/>
            </a:pPr>
            <a:r>
              <a:rPr lang="en"/>
              <a:t>Bar plot</a:t>
            </a:r>
            <a:endParaRPr/>
          </a:p>
          <a:p>
            <a:pPr indent="0" lvl="0" marL="0" rtl="0" algn="l">
              <a:spcBef>
                <a:spcPts val="1200"/>
              </a:spcBef>
              <a:spcAft>
                <a:spcPts val="1200"/>
              </a:spcAft>
              <a:buNone/>
            </a:pPr>
            <a:r>
              <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10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Answers</a:t>
            </a:r>
            <a:endParaRPr/>
          </a:p>
        </p:txBody>
      </p:sp>
      <p:sp>
        <p:nvSpPr>
          <p:cNvPr id="588" name="Google Shape;588;p10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What kind of the chart would you choose to…</a:t>
            </a:r>
            <a:endParaRPr/>
          </a:p>
          <a:p>
            <a:pPr indent="-361950" lvl="0" marL="457200" rtl="0" algn="l">
              <a:spcBef>
                <a:spcPts val="1200"/>
              </a:spcBef>
              <a:spcAft>
                <a:spcPts val="0"/>
              </a:spcAft>
              <a:buSzPts val="2100"/>
              <a:buAutoNum type="arabicPeriod"/>
            </a:pPr>
            <a:r>
              <a:rPr lang="en"/>
              <a:t>See if there is a relationship between study hours and test scores</a:t>
            </a:r>
            <a:endParaRPr/>
          </a:p>
          <a:p>
            <a:pPr indent="-342900" lvl="1" marL="914400" rtl="0" algn="l">
              <a:spcBef>
                <a:spcPts val="0"/>
              </a:spcBef>
              <a:spcAft>
                <a:spcPts val="0"/>
              </a:spcAft>
              <a:buSzPts val="1800"/>
              <a:buAutoNum type="alphaLcPeriod"/>
            </a:pPr>
            <a:r>
              <a:rPr lang="en"/>
              <a:t>Scatter plot</a:t>
            </a:r>
            <a:endParaRPr/>
          </a:p>
          <a:p>
            <a:pPr indent="-361950" lvl="0" marL="457200" rtl="0" algn="l">
              <a:spcBef>
                <a:spcPts val="0"/>
              </a:spcBef>
              <a:spcAft>
                <a:spcPts val="0"/>
              </a:spcAft>
              <a:buSzPts val="2100"/>
              <a:buAutoNum type="arabicPeriod"/>
            </a:pPr>
            <a:r>
              <a:rPr lang="en"/>
              <a:t>View a stock price over time</a:t>
            </a:r>
            <a:endParaRPr/>
          </a:p>
          <a:p>
            <a:pPr indent="-342900" lvl="1" marL="914400" rtl="0" algn="l">
              <a:spcBef>
                <a:spcPts val="0"/>
              </a:spcBef>
              <a:spcAft>
                <a:spcPts val="0"/>
              </a:spcAft>
              <a:buSzPts val="1800"/>
              <a:buAutoNum type="alphaLcPeriod"/>
            </a:pPr>
            <a:r>
              <a:rPr lang="en"/>
              <a:t>Line</a:t>
            </a:r>
            <a:r>
              <a:rPr lang="en"/>
              <a:t> plot</a:t>
            </a:r>
            <a:endParaRPr/>
          </a:p>
          <a:p>
            <a:pPr indent="-361950" lvl="0" marL="457200" rtl="0" algn="l">
              <a:spcBef>
                <a:spcPts val="0"/>
              </a:spcBef>
              <a:spcAft>
                <a:spcPts val="0"/>
              </a:spcAft>
              <a:buSzPts val="2100"/>
              <a:buAutoNum type="arabicPeriod"/>
            </a:pPr>
            <a:r>
              <a:rPr lang="en"/>
              <a:t>Find correlations within a dataset</a:t>
            </a:r>
            <a:endParaRPr/>
          </a:p>
          <a:p>
            <a:pPr indent="-342900" lvl="1" marL="914400" rtl="0" algn="l">
              <a:spcBef>
                <a:spcPts val="0"/>
              </a:spcBef>
              <a:spcAft>
                <a:spcPts val="0"/>
              </a:spcAft>
              <a:buSzPts val="1800"/>
              <a:buAutoNum type="alphaLcPeriod"/>
            </a:pPr>
            <a:r>
              <a:rPr lang="en"/>
              <a:t>Heat map</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