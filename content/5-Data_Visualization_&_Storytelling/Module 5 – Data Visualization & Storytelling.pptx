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14"/>
  </p:notesMasterIdLst>
  <p:sldIdLst>
    <p:sldId id="256" r:id="rId2"/>
    <p:sldId id="257" r:id="rId3"/>
    <p:sldId id="258" r:id="rId4"/>
    <p:sldId id="344" r:id="rId5"/>
    <p:sldId id="345" r:id="rId6"/>
    <p:sldId id="346"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347" r:id="rId20"/>
    <p:sldId id="271" r:id="rId21"/>
    <p:sldId id="272" r:id="rId22"/>
    <p:sldId id="348" r:id="rId23"/>
    <p:sldId id="350" r:id="rId24"/>
    <p:sldId id="349" r:id="rId25"/>
    <p:sldId id="273" r:id="rId26"/>
    <p:sldId id="274" r:id="rId27"/>
    <p:sldId id="275" r:id="rId28"/>
    <p:sldId id="276" r:id="rId29"/>
    <p:sldId id="286" r:id="rId30"/>
    <p:sldId id="287" r:id="rId31"/>
    <p:sldId id="288" r:id="rId32"/>
    <p:sldId id="277" r:id="rId33"/>
    <p:sldId id="278" r:id="rId34"/>
    <p:sldId id="279" r:id="rId35"/>
    <p:sldId id="281" r:id="rId36"/>
    <p:sldId id="282" r:id="rId37"/>
    <p:sldId id="289" r:id="rId38"/>
    <p:sldId id="290" r:id="rId39"/>
    <p:sldId id="291" r:id="rId40"/>
    <p:sldId id="292" r:id="rId41"/>
    <p:sldId id="280" r:id="rId42"/>
    <p:sldId id="283" r:id="rId43"/>
    <p:sldId id="293" r:id="rId44"/>
    <p:sldId id="370" r:id="rId45"/>
    <p:sldId id="294" r:id="rId46"/>
    <p:sldId id="284" r:id="rId47"/>
    <p:sldId id="295" r:id="rId48"/>
    <p:sldId id="296" r:id="rId49"/>
    <p:sldId id="297" r:id="rId50"/>
    <p:sldId id="298" r:id="rId51"/>
    <p:sldId id="371" r:id="rId52"/>
    <p:sldId id="368" r:id="rId53"/>
    <p:sldId id="299" r:id="rId54"/>
    <p:sldId id="300" r:id="rId55"/>
    <p:sldId id="301" r:id="rId56"/>
    <p:sldId id="302" r:id="rId57"/>
    <p:sldId id="303" r:id="rId58"/>
    <p:sldId id="369"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 id="319" r:id="rId75"/>
    <p:sldId id="320" r:id="rId76"/>
    <p:sldId id="321" r:id="rId77"/>
    <p:sldId id="322" r:id="rId78"/>
    <p:sldId id="323" r:id="rId79"/>
    <p:sldId id="324" r:id="rId80"/>
    <p:sldId id="325" r:id="rId81"/>
    <p:sldId id="326" r:id="rId82"/>
    <p:sldId id="327" r:id="rId83"/>
    <p:sldId id="328" r:id="rId84"/>
    <p:sldId id="329" r:id="rId85"/>
    <p:sldId id="330" r:id="rId86"/>
    <p:sldId id="331" r:id="rId87"/>
    <p:sldId id="357" r:id="rId88"/>
    <p:sldId id="367" r:id="rId89"/>
    <p:sldId id="352" r:id="rId90"/>
    <p:sldId id="332" r:id="rId91"/>
    <p:sldId id="351" r:id="rId92"/>
    <p:sldId id="355" r:id="rId93"/>
    <p:sldId id="354" r:id="rId94"/>
    <p:sldId id="353" r:id="rId95"/>
    <p:sldId id="359" r:id="rId96"/>
    <p:sldId id="360" r:id="rId97"/>
    <p:sldId id="361" r:id="rId98"/>
    <p:sldId id="356" r:id="rId99"/>
    <p:sldId id="366" r:id="rId100"/>
    <p:sldId id="333" r:id="rId101"/>
    <p:sldId id="358" r:id="rId102"/>
    <p:sldId id="334" r:id="rId103"/>
    <p:sldId id="365" r:id="rId104"/>
    <p:sldId id="362" r:id="rId105"/>
    <p:sldId id="363" r:id="rId106"/>
    <p:sldId id="335" r:id="rId107"/>
    <p:sldId id="338" r:id="rId108"/>
    <p:sldId id="339" r:id="rId109"/>
    <p:sldId id="340" r:id="rId110"/>
    <p:sldId id="341" r:id="rId111"/>
    <p:sldId id="342" r:id="rId112"/>
    <p:sldId id="343" r:id="rId113"/>
  </p:sldIdLst>
  <p:sldSz cx="9144000" cy="5143500" type="screen16x9"/>
  <p:notesSz cx="6858000" cy="9144000"/>
  <p:embeddedFontLst>
    <p:embeddedFont>
      <p:font typeface="Maven Pro" panose="020B0604020202020204" charset="0"/>
      <p:regular r:id="rId115"/>
      <p:bold r:id="rId1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6" d="100"/>
          <a:sy n="86" d="100"/>
        </p:scale>
        <p:origin x="576" y="28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presProps" Target="pres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notesMaster" Target="notesMasters/notesMaster1.xml"/><Relationship Id="rId119"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font" Target="fonts/font1.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font" Target="fonts/font2.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c28f9d26a6_0_8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c28f9d26a6_0_8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c2b1f6ba11_0_1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c2b1f6ba11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c28f9d26a6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c28f9d26a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c28f9d26a6_0_9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c28f9d26a6_0_9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3c28f9d26a6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3c28f9d26a6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c28f9d26a6_0_9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3c28f9d26a6_0_9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c2b1f6ba11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c2b1f6ba11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c2b1f6ba11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c2b1f6ba11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c2b1f6ba11_0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c2b1f6ba11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c28f9d26a6_0_9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c28f9d26a6_0_9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c28f9d26a6_0_9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c28f9d26a6_0_9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c2b1f6ba11_0_2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c2b1f6ba11_0_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c2b1f6ba11_0_2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c2b1f6ba11_0_2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c2b1f6ba11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c2b1f6ba11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c2b1f6ba11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c2b1f6ba11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c2b1f6ba11_0_2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3c2b1f6ba11_0_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c2b1f6ba11_0_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c2b1f6ba11_0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c2b1f6ba11_0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c2b1f6ba11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c2b1f6ba11_0_1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3c2b1f6ba11_0_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c2b1f6ba11_0_1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c2b1f6ba11_0_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3c2b1f6ba11_0_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3c2b1f6ba11_0_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c2b1f6ba11_0_2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3c2b1f6ba11_0_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c2b1f6ba11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3c2b1f6ba11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c2b1f6ba11_0_1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c2b1f6ba11_0_1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c2b1f6ba11_0_1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c2b1f6ba11_0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c2b1f6ba11_0_2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3c2b1f6ba11_0_2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c2b1f6ba11_0_2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3c2b1f6ba11_0_2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c2b1f6ba11_0_2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c2b1f6ba11_0_2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c2b1f6ba11_0_2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3c2b1f6ba11_0_2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c2b1f6ba11_0_2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3c2b1f6ba11_0_2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3c2b1f6ba11_0_2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3c2b1f6ba11_0_2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3c2b1f6ba11_0_3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3c2b1f6ba11_0_3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c2b1f6ba11_0_2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3c2b1f6ba11_0_2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c2b1f6ba11_0_2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3c2b1f6ba11_0_2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c2b1f6ba11_0_3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3c2b1f6ba11_0_3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https://seaborn.pydata.org/generated/seaborn.pairplot.html</a:t>
            </a:r>
            <a:endParaRPr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a:extLst>
            <a:ext uri="{FF2B5EF4-FFF2-40B4-BE49-F238E27FC236}">
              <a16:creationId xmlns:a16="http://schemas.microsoft.com/office/drawing/2014/main" id="{AF8031BC-F8E9-42B8-3BA1-467BD35D20BD}"/>
            </a:ext>
          </a:extLst>
        </p:cNvPr>
        <p:cNvGrpSpPr/>
        <p:nvPr/>
      </p:nvGrpSpPr>
      <p:grpSpPr>
        <a:xfrm>
          <a:off x="0" y="0"/>
          <a:ext cx="0" cy="0"/>
          <a:chOff x="0" y="0"/>
          <a:chExt cx="0" cy="0"/>
        </a:xfrm>
      </p:grpSpPr>
      <p:sp>
        <p:nvSpPr>
          <p:cNvPr id="284" name="Google Shape;284;g3c2b1f6ba11_0_306:notes">
            <a:extLst>
              <a:ext uri="{FF2B5EF4-FFF2-40B4-BE49-F238E27FC236}">
                <a16:creationId xmlns:a16="http://schemas.microsoft.com/office/drawing/2014/main" id="{774D80B6-6A6C-8CB6-D9D4-D723CC730E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3c2b1f6ba11_0_306:notes">
            <a:extLst>
              <a:ext uri="{FF2B5EF4-FFF2-40B4-BE49-F238E27FC236}">
                <a16:creationId xmlns:a16="http://schemas.microsoft.com/office/drawing/2014/main" id="{F1B7019A-7528-8FA1-50EF-633C1AF76C2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5493090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c2b1f6ba11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3c2b1f6ba11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c2b1f6ba11_0_2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3c2b1f6ba11_0_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c2b1f6ba11_0_3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3c2b1f6ba11_0_3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3c2b1f6ba11_0_3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3c2b1f6ba11_0_3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3c2b1f6ba11_0_3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3c2b1f6ba11_0_3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3c2b1f6ba11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3c2b1f6ba11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https://www.geeksforgeeks.org/data-visualization/what-is-box-plot-and-the-condition-of-outliers/</a:t>
            </a:r>
          </a:p>
          <a:p>
            <a:pPr marL="0" lvl="0" indent="0" algn="l" rtl="0">
              <a:spcBef>
                <a:spcPts val="0"/>
              </a:spcBef>
              <a:spcAft>
                <a:spcPts val="0"/>
              </a:spcAft>
              <a:buNone/>
            </a:pPr>
            <a:r>
              <a:rPr lang="en-GB" dirty="0"/>
              <a:t>https://www.atlassian.com/data/charts/box-plot-complete-guide</a:t>
            </a:r>
          </a:p>
          <a:p>
            <a:pPr marL="0" lvl="0" indent="0" algn="l" rtl="0">
              <a:spcBef>
                <a:spcPts val="0"/>
              </a:spcBef>
              <a:spcAft>
                <a:spcPts val="0"/>
              </a:spcAft>
              <a:buNone/>
            </a:pPr>
            <a:r>
              <a:rPr lang="en-GB" dirty="0"/>
              <a:t>https://www.kdnuggets.com/2019/11/understanding-boxplots.html</a:t>
            </a:r>
            <a:endParaRPr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https://www.atlassian.com/data/charts/box-plot-complete-guide</a:t>
            </a:r>
          </a:p>
        </p:txBody>
      </p:sp>
    </p:spTree>
    <p:extLst>
      <p:ext uri="{BB962C8B-B14F-4D97-AF65-F5344CB8AC3E}">
        <p14:creationId xmlns:p14="http://schemas.microsoft.com/office/powerpoint/2010/main" val="252374822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3c2b1f6ba11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3c2b1f6ba11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3c2b1f6ba11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3c2b1f6ba11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3c2b1f6ba11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3c2b1f6ba11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3c2b1f6ba11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3c2b1f6ba11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3c2b1f6ba11_0_3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3c2b1f6ba11_0_3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3c28f9d26a6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3c28f9d26a6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3c28f9d26a6_0_9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3c28f9d26a6_0_9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3c28f9d26a6_0_9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3c28f9d26a6_0_9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3c2b1f6ba11_0_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3c2b1f6ba11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3c2b1f6ba11_0_1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3c2b1f6ba11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3c28f9d26a6_0_9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3c28f9d26a6_0_9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3c28f9d26a6_0_9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3c28f9d26a6_0_9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3c2b1f6ba11_0_1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3c2b1f6ba11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3c2b1f6ba11_0_1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3c2b1f6ba11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3c28f9d26a6_0_9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3c28f9d26a6_0_9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3c2b1f6ba11_0_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4" name="Google Shape;414;g3c2b1f6ba11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3c2b1f6ba11_0_1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0" name="Google Shape;420;g3c2b1f6ba11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g3c2b1f6ba11_0_1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6" name="Google Shape;426;g3c2b1f6ba11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3c2b1f6ba11_0_1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3c2b1f6ba11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3c2b1f6ba11_0_1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g3c2b1f6ba11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3c2b1f6ba11_0_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3c2b1f6ba11_0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3c2b1f6ba11_0_1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0" name="Google Shape;450;g3c2b1f6ba11_0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3c2b1f6ba11_0_1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3c2b1f6ba11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3c2b1f6ba11_0_1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 name="Google Shape;462;g3c2b1f6ba11_0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g3c2b1f6ba11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8" name="Google Shape;468;g3c2b1f6ba11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3c2b1f6ba11_0_3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4" name="Google Shape;474;g3c2b1f6ba11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3c2b1f6ba11_0_3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9" name="Google Shape;479;g3c2b1f6ba11_0_3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g3c2b1f6ba11_0_3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5" name="Google Shape;485;g3c2b1f6ba11_0_3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g3c2b1f6ba11_0_3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1" name="Google Shape;491;g3c2b1f6ba11_0_3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g3c2b1f6ba11_0_3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7" name="Google Shape;497;g3c2b1f6ba11_0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3c2b1f6ba11_0_3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3" name="Google Shape;503;g3c2b1f6ba11_0_3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g3c2b1f6ba11_0_3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9" name="Google Shape;509;g3c2b1f6ba11_0_3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g3c28f9d26a6_0_8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5" name="Google Shape;515;g3c28f9d26a6_0_8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https://www.effectivedatastorytelling.com/post/data-storytelling-101-a-beginners-guide-to-turning-insights-into-action</a:t>
            </a:r>
          </a:p>
        </p:txBody>
      </p:sp>
    </p:spTree>
    <p:extLst>
      <p:ext uri="{BB962C8B-B14F-4D97-AF65-F5344CB8AC3E}">
        <p14:creationId xmlns:p14="http://schemas.microsoft.com/office/powerpoint/2010/main" val="141930715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Source: https://www.effectivedatastorytelling.com/post/data-storytelling-101-a-beginners-guide-to-turning-insights-into-action</a:t>
            </a:r>
          </a:p>
        </p:txBody>
      </p:sp>
    </p:spTree>
    <p:extLst>
      <p:ext uri="{BB962C8B-B14F-4D97-AF65-F5344CB8AC3E}">
        <p14:creationId xmlns:p14="http://schemas.microsoft.com/office/powerpoint/2010/main" val="425709879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indent="0">
              <a:buNone/>
            </a:pPr>
            <a:r>
              <a:rPr lang="en-GB"/>
              <a:t>Image source: Microsoft 365 content library
Data storytelling frameworks help structure complex information into compelling narratives. They emphasize understanding the audience, defining a clear message, and using visuals to support key insights. Utilizing frameworks such as the Hero’s Journey or Problem-Solution-Benefit enhances engagement by guiding viewers through data-driven stories that inspire action and understanding.</a:t>
            </a:r>
          </a:p>
        </p:txBody>
      </p:sp>
    </p:spTree>
    <p:extLst>
      <p:ext uri="{BB962C8B-B14F-4D97-AF65-F5344CB8AC3E}">
        <p14:creationId xmlns:p14="http://schemas.microsoft.com/office/powerpoint/2010/main" val="71145028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3c28f9d26a6_0_8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3c28f9d26a6_0_8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3c28f9d26a6_0_8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3c28f9d26a6_0_8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g3c28f9d26a6_0_8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1" name="Google Shape;531;g3c28f9d26a6_0_8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3c28f9d26a6_0_8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7" name="Google Shape;537;g3c28f9d26a6_0_8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3c28f9d26a6_0_9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4" name="Google Shape;554;g3c28f9d26a6_0_9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g3c28f9d26a6_0_9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9" name="Google Shape;559;g3c28f9d26a6_0_9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g3c28f9d26a6_0_9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7" name="Google Shape;567;g3c28f9d26a6_0_9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g3c28f9d26a6_0_9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3" name="Google Shape;573;g3c28f9d26a6_0_9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g3c28f9d26a6_0_9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9" name="Google Shape;579;g3c28f9d26a6_0_9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g3c28f9d26a6_0_9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5" name="Google Shape;585;g3c28f9d26a6_0_9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000"/>
              <a:buFont typeface="Maven Pro"/>
              <a:buNone/>
              <a:defRPr>
                <a:latin typeface="Maven Pro"/>
                <a:ea typeface="Maven Pro"/>
                <a:cs typeface="Maven Pro"/>
                <a:sym typeface="Maven Pro"/>
              </a:defRPr>
            </a:lvl1pPr>
            <a:lvl2pPr lvl="1">
              <a:spcBef>
                <a:spcPts val="0"/>
              </a:spcBef>
              <a:spcAft>
                <a:spcPts val="0"/>
              </a:spcAft>
              <a:buSzPts val="3000"/>
              <a:buFont typeface="Maven Pro"/>
              <a:buNone/>
              <a:defRPr>
                <a:latin typeface="Maven Pro"/>
                <a:ea typeface="Maven Pro"/>
                <a:cs typeface="Maven Pro"/>
                <a:sym typeface="Maven Pro"/>
              </a:defRPr>
            </a:lvl2pPr>
            <a:lvl3pPr lvl="2">
              <a:spcBef>
                <a:spcPts val="0"/>
              </a:spcBef>
              <a:spcAft>
                <a:spcPts val="0"/>
              </a:spcAft>
              <a:buSzPts val="3000"/>
              <a:buFont typeface="Maven Pro"/>
              <a:buNone/>
              <a:defRPr>
                <a:latin typeface="Maven Pro"/>
                <a:ea typeface="Maven Pro"/>
                <a:cs typeface="Maven Pro"/>
                <a:sym typeface="Maven Pro"/>
              </a:defRPr>
            </a:lvl3pPr>
            <a:lvl4pPr lvl="3">
              <a:spcBef>
                <a:spcPts val="0"/>
              </a:spcBef>
              <a:spcAft>
                <a:spcPts val="0"/>
              </a:spcAft>
              <a:buSzPts val="3000"/>
              <a:buFont typeface="Maven Pro"/>
              <a:buNone/>
              <a:defRPr>
                <a:latin typeface="Maven Pro"/>
                <a:ea typeface="Maven Pro"/>
                <a:cs typeface="Maven Pro"/>
                <a:sym typeface="Maven Pro"/>
              </a:defRPr>
            </a:lvl4pPr>
            <a:lvl5pPr lvl="4">
              <a:spcBef>
                <a:spcPts val="0"/>
              </a:spcBef>
              <a:spcAft>
                <a:spcPts val="0"/>
              </a:spcAft>
              <a:buSzPts val="3000"/>
              <a:buFont typeface="Maven Pro"/>
              <a:buNone/>
              <a:defRPr>
                <a:latin typeface="Maven Pro"/>
                <a:ea typeface="Maven Pro"/>
                <a:cs typeface="Maven Pro"/>
                <a:sym typeface="Maven Pro"/>
              </a:defRPr>
            </a:lvl5pPr>
            <a:lvl6pPr lvl="5">
              <a:spcBef>
                <a:spcPts val="0"/>
              </a:spcBef>
              <a:spcAft>
                <a:spcPts val="0"/>
              </a:spcAft>
              <a:buSzPts val="3000"/>
              <a:buFont typeface="Maven Pro"/>
              <a:buNone/>
              <a:defRPr>
                <a:latin typeface="Maven Pro"/>
                <a:ea typeface="Maven Pro"/>
                <a:cs typeface="Maven Pro"/>
                <a:sym typeface="Maven Pro"/>
              </a:defRPr>
            </a:lvl6pPr>
            <a:lvl7pPr lvl="6">
              <a:spcBef>
                <a:spcPts val="0"/>
              </a:spcBef>
              <a:spcAft>
                <a:spcPts val="0"/>
              </a:spcAft>
              <a:buSzPts val="3000"/>
              <a:buFont typeface="Maven Pro"/>
              <a:buNone/>
              <a:defRPr>
                <a:latin typeface="Maven Pro"/>
                <a:ea typeface="Maven Pro"/>
                <a:cs typeface="Maven Pro"/>
                <a:sym typeface="Maven Pro"/>
              </a:defRPr>
            </a:lvl7pPr>
            <a:lvl8pPr lvl="7">
              <a:spcBef>
                <a:spcPts val="0"/>
              </a:spcBef>
              <a:spcAft>
                <a:spcPts val="0"/>
              </a:spcAft>
              <a:buSzPts val="3000"/>
              <a:buFont typeface="Maven Pro"/>
              <a:buNone/>
              <a:defRPr>
                <a:latin typeface="Maven Pro"/>
                <a:ea typeface="Maven Pro"/>
                <a:cs typeface="Maven Pro"/>
                <a:sym typeface="Maven Pro"/>
              </a:defRPr>
            </a:lvl8pPr>
            <a:lvl9pPr lvl="8">
              <a:spcBef>
                <a:spcPts val="0"/>
              </a:spcBef>
              <a:spcAft>
                <a:spcPts val="0"/>
              </a:spcAft>
              <a:buSzPts val="3000"/>
              <a:buFont typeface="Maven Pro"/>
              <a:buNone/>
              <a:defRPr>
                <a:latin typeface="Maven Pro"/>
                <a:ea typeface="Maven Pro"/>
                <a:cs typeface="Maven Pro"/>
                <a:sym typeface="Maven Pro"/>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61950">
              <a:spcBef>
                <a:spcPts val="0"/>
              </a:spcBef>
              <a:spcAft>
                <a:spcPts val="0"/>
              </a:spcAft>
              <a:buSzPts val="2100"/>
              <a:buFont typeface="Maven Pro"/>
              <a:buChar char="●"/>
              <a:defRPr>
                <a:latin typeface="Maven Pro"/>
                <a:ea typeface="Maven Pro"/>
                <a:cs typeface="Maven Pro"/>
                <a:sym typeface="Maven Pro"/>
              </a:defRPr>
            </a:lvl1pPr>
            <a:lvl2pPr marL="914400" lvl="1" indent="-342900">
              <a:spcBef>
                <a:spcPts val="0"/>
              </a:spcBef>
              <a:spcAft>
                <a:spcPts val="0"/>
              </a:spcAft>
              <a:buSzPts val="1800"/>
              <a:buFont typeface="Maven Pro"/>
              <a:buChar char="○"/>
              <a:defRPr>
                <a:latin typeface="Maven Pro"/>
                <a:ea typeface="Maven Pro"/>
                <a:cs typeface="Maven Pro"/>
                <a:sym typeface="Maven Pro"/>
              </a:defRPr>
            </a:lvl2pPr>
            <a:lvl3pPr marL="1371600" lvl="2" indent="-330200">
              <a:spcBef>
                <a:spcPts val="0"/>
              </a:spcBef>
              <a:spcAft>
                <a:spcPts val="0"/>
              </a:spcAft>
              <a:buSzPts val="1600"/>
              <a:buFont typeface="Maven Pro"/>
              <a:buChar char="■"/>
              <a:defRPr>
                <a:latin typeface="Maven Pro"/>
                <a:ea typeface="Maven Pro"/>
                <a:cs typeface="Maven Pro"/>
                <a:sym typeface="Maven Pro"/>
              </a:defRPr>
            </a:lvl3pPr>
            <a:lvl4pPr marL="1828800" lvl="3" indent="-317500">
              <a:spcBef>
                <a:spcPts val="0"/>
              </a:spcBef>
              <a:spcAft>
                <a:spcPts val="0"/>
              </a:spcAft>
              <a:buSzPts val="1400"/>
              <a:buFont typeface="Maven Pro"/>
              <a:buChar char="●"/>
              <a:defRPr>
                <a:latin typeface="Maven Pro"/>
                <a:ea typeface="Maven Pro"/>
                <a:cs typeface="Maven Pro"/>
                <a:sym typeface="Maven Pro"/>
              </a:defRPr>
            </a:lvl4pPr>
            <a:lvl5pPr marL="2286000" lvl="4" indent="-317500">
              <a:spcBef>
                <a:spcPts val="0"/>
              </a:spcBef>
              <a:spcAft>
                <a:spcPts val="0"/>
              </a:spcAft>
              <a:buSzPts val="1400"/>
              <a:buFont typeface="Maven Pro"/>
              <a:buChar char="○"/>
              <a:defRPr>
                <a:latin typeface="Maven Pro"/>
                <a:ea typeface="Maven Pro"/>
                <a:cs typeface="Maven Pro"/>
                <a:sym typeface="Maven Pro"/>
              </a:defRPr>
            </a:lvl5pPr>
            <a:lvl6pPr marL="2743200" lvl="5" indent="-317500">
              <a:spcBef>
                <a:spcPts val="0"/>
              </a:spcBef>
              <a:spcAft>
                <a:spcPts val="0"/>
              </a:spcAft>
              <a:buSzPts val="1400"/>
              <a:buFont typeface="Maven Pro"/>
              <a:buChar char="■"/>
              <a:defRPr>
                <a:latin typeface="Maven Pro"/>
                <a:ea typeface="Maven Pro"/>
                <a:cs typeface="Maven Pro"/>
                <a:sym typeface="Maven Pro"/>
              </a:defRPr>
            </a:lvl6pPr>
            <a:lvl7pPr marL="3200400" lvl="6" indent="-317500">
              <a:spcBef>
                <a:spcPts val="0"/>
              </a:spcBef>
              <a:spcAft>
                <a:spcPts val="0"/>
              </a:spcAft>
              <a:buSzPts val="1400"/>
              <a:buFont typeface="Maven Pro"/>
              <a:buChar char="●"/>
              <a:defRPr>
                <a:latin typeface="Maven Pro"/>
                <a:ea typeface="Maven Pro"/>
                <a:cs typeface="Maven Pro"/>
                <a:sym typeface="Maven Pro"/>
              </a:defRPr>
            </a:lvl7pPr>
            <a:lvl8pPr marL="3657600" lvl="7" indent="-317500">
              <a:spcBef>
                <a:spcPts val="0"/>
              </a:spcBef>
              <a:spcAft>
                <a:spcPts val="0"/>
              </a:spcAft>
              <a:buSzPts val="1400"/>
              <a:buFont typeface="Maven Pro"/>
              <a:buChar char="○"/>
              <a:defRPr>
                <a:latin typeface="Maven Pro"/>
                <a:ea typeface="Maven Pro"/>
                <a:cs typeface="Maven Pro"/>
                <a:sym typeface="Maven Pro"/>
              </a:defRPr>
            </a:lvl8pPr>
            <a:lvl9pPr marL="4114800" lvl="8" indent="-317500">
              <a:spcBef>
                <a:spcPts val="0"/>
              </a:spcBef>
              <a:spcAft>
                <a:spcPts val="0"/>
              </a:spcAft>
              <a:buSzPts val="1400"/>
              <a:buFont typeface="Maven Pro"/>
              <a:buChar char="■"/>
              <a:defRPr>
                <a:latin typeface="Maven Pro"/>
                <a:ea typeface="Maven Pro"/>
                <a:cs typeface="Maven Pro"/>
                <a:sym typeface="Maven Pro"/>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61950">
              <a:spcBef>
                <a:spcPts val="0"/>
              </a:spcBef>
              <a:spcAft>
                <a:spcPts val="0"/>
              </a:spcAft>
              <a:buClr>
                <a:schemeClr val="dk1"/>
              </a:buClr>
              <a:buSzPts val="2100"/>
              <a:buChar char="●"/>
              <a:defRPr>
                <a:solidFill>
                  <a:schemeClr val="dk1"/>
                </a:solidFill>
              </a:defRPr>
            </a:lvl1pPr>
            <a:lvl2pPr marL="914400" lvl="1" indent="-342900">
              <a:spcBef>
                <a:spcPts val="0"/>
              </a:spcBef>
              <a:spcAft>
                <a:spcPts val="0"/>
              </a:spcAft>
              <a:buClr>
                <a:schemeClr val="dk1"/>
              </a:buClr>
              <a:buSzPts val="1800"/>
              <a:buChar char="○"/>
              <a:defRPr>
                <a:solidFill>
                  <a:schemeClr val="dk1"/>
                </a:solidFill>
              </a:defRPr>
            </a:lvl2pPr>
            <a:lvl3pPr marL="1371600" lvl="2" indent="-330200">
              <a:spcBef>
                <a:spcPts val="0"/>
              </a:spcBef>
              <a:spcAft>
                <a:spcPts val="0"/>
              </a:spcAft>
              <a:buClr>
                <a:schemeClr val="dk1"/>
              </a:buClr>
              <a:buSzPts val="1600"/>
              <a:buChar char="■"/>
              <a:defRPr>
                <a:solidFill>
                  <a:schemeClr val="dk1"/>
                </a:solidFill>
              </a:defRPr>
            </a:lvl3pPr>
            <a:lvl4pPr marL="1828800" lvl="3" indent="-317500">
              <a:spcBef>
                <a:spcPts val="0"/>
              </a:spcBef>
              <a:spcAft>
                <a:spcPts val="0"/>
              </a:spcAft>
              <a:buClr>
                <a:schemeClr val="dk1"/>
              </a:buClr>
              <a:buSzPts val="1400"/>
              <a:buChar char="●"/>
              <a:defRPr>
                <a:solidFill>
                  <a:schemeClr val="dk1"/>
                </a:solidFill>
              </a:defRPr>
            </a:lvl4pPr>
            <a:lvl5pPr marL="2286000" lvl="4" indent="-317500">
              <a:spcBef>
                <a:spcPts val="0"/>
              </a:spcBef>
              <a:spcAft>
                <a:spcPts val="0"/>
              </a:spcAft>
              <a:buClr>
                <a:schemeClr val="dk1"/>
              </a:buClr>
              <a:buSzPts val="1400"/>
              <a:buChar char="○"/>
              <a:defRPr>
                <a:solidFill>
                  <a:schemeClr val="dk1"/>
                </a:solidFill>
              </a:defRPr>
            </a:lvl5pPr>
            <a:lvl6pPr marL="2743200" lvl="5" indent="-317500">
              <a:spcBef>
                <a:spcPts val="0"/>
              </a:spcBef>
              <a:spcAft>
                <a:spcPts val="0"/>
              </a:spcAft>
              <a:buClr>
                <a:schemeClr val="dk1"/>
              </a:buClr>
              <a:buSzPts val="1400"/>
              <a:buChar char="■"/>
              <a:defRPr>
                <a:solidFill>
                  <a:schemeClr val="dk1"/>
                </a:solidFill>
              </a:defRPr>
            </a:lvl6pPr>
            <a:lvl7pPr marL="3200400" lvl="6" indent="-317500">
              <a:spcBef>
                <a:spcPts val="0"/>
              </a:spcBef>
              <a:spcAft>
                <a:spcPts val="0"/>
              </a:spcAft>
              <a:buClr>
                <a:schemeClr val="dk1"/>
              </a:buClr>
              <a:buSzPts val="1400"/>
              <a:buChar char="●"/>
              <a:defRPr>
                <a:solidFill>
                  <a:schemeClr val="dk1"/>
                </a:solidFill>
              </a:defRPr>
            </a:lvl7pPr>
            <a:lvl8pPr marL="3657600" lvl="7" indent="-317500">
              <a:spcBef>
                <a:spcPts val="0"/>
              </a:spcBef>
              <a:spcAft>
                <a:spcPts val="0"/>
              </a:spcAft>
              <a:buClr>
                <a:schemeClr val="dk1"/>
              </a:buClr>
              <a:buSzPts val="1400"/>
              <a:buChar char="○"/>
              <a:defRPr>
                <a:solidFill>
                  <a:schemeClr val="dk1"/>
                </a:solidFill>
              </a:defRPr>
            </a:lvl8pPr>
            <a:lvl9pPr marL="4114800" lvl="8" indent="-317500">
              <a:spcBef>
                <a:spcPts val="0"/>
              </a:spcBef>
              <a:spcAft>
                <a:spcPts val="0"/>
              </a:spcAft>
              <a:buClr>
                <a:schemeClr val="dk1"/>
              </a:buClr>
              <a:buSzPts val="1400"/>
              <a:buChar char="■"/>
              <a:defRPr>
                <a:solidFill>
                  <a:schemeClr val="dk1"/>
                </a:solidFill>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1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61950" algn="ctr">
              <a:spcBef>
                <a:spcPts val="0"/>
              </a:spcBef>
              <a:spcAft>
                <a:spcPts val="0"/>
              </a:spcAft>
              <a:buSzPts val="2100"/>
              <a:buChar char="●"/>
              <a:defRPr/>
            </a:lvl1pPr>
            <a:lvl2pPr marL="914400" lvl="1" indent="-342900" algn="ctr">
              <a:spcBef>
                <a:spcPts val="0"/>
              </a:spcBef>
              <a:spcAft>
                <a:spcPts val="0"/>
              </a:spcAft>
              <a:buSzPts val="1800"/>
              <a:buChar char="○"/>
              <a:defRPr/>
            </a:lvl2pPr>
            <a:lvl3pPr marL="1371600" lvl="2" indent="-330200" algn="ctr">
              <a:spcBef>
                <a:spcPts val="0"/>
              </a:spcBef>
              <a:spcAft>
                <a:spcPts val="0"/>
              </a:spcAft>
              <a:buSzPts val="16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dark-2">
    <p:bg>
      <p:bgPr>
        <a:solidFill>
          <a:srgbClr val="434343"/>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ctr">
              <a:spcBef>
                <a:spcPts val="0"/>
              </a:spcBef>
              <a:spcAft>
                <a:spcPts val="0"/>
              </a:spcAft>
              <a:buClr>
                <a:schemeClr val="accent5"/>
              </a:buClr>
              <a:buSzPts val="3000"/>
              <a:buFont typeface="Maven Pro"/>
              <a:buNone/>
              <a:defRPr sz="3000">
                <a:solidFill>
                  <a:schemeClr val="accent5"/>
                </a:solidFill>
                <a:latin typeface="Maven Pro"/>
                <a:ea typeface="Maven Pro"/>
                <a:cs typeface="Maven Pro"/>
                <a:sym typeface="Maven Pro"/>
              </a:defRPr>
            </a:lvl1pPr>
            <a:lvl2pPr lvl="1" algn="ctr">
              <a:spcBef>
                <a:spcPts val="0"/>
              </a:spcBef>
              <a:spcAft>
                <a:spcPts val="0"/>
              </a:spcAft>
              <a:buClr>
                <a:schemeClr val="dk1"/>
              </a:buClr>
              <a:buSzPts val="3000"/>
              <a:buNone/>
              <a:defRPr sz="3000">
                <a:solidFill>
                  <a:schemeClr val="dk1"/>
                </a:solidFill>
              </a:defRPr>
            </a:lvl2pPr>
            <a:lvl3pPr lvl="2" algn="ctr">
              <a:spcBef>
                <a:spcPts val="0"/>
              </a:spcBef>
              <a:spcAft>
                <a:spcPts val="0"/>
              </a:spcAft>
              <a:buClr>
                <a:schemeClr val="dk1"/>
              </a:buClr>
              <a:buSzPts val="3000"/>
              <a:buNone/>
              <a:defRPr sz="3000">
                <a:solidFill>
                  <a:schemeClr val="dk1"/>
                </a:solidFill>
              </a:defRPr>
            </a:lvl3pPr>
            <a:lvl4pPr lvl="3" algn="ctr">
              <a:spcBef>
                <a:spcPts val="0"/>
              </a:spcBef>
              <a:spcAft>
                <a:spcPts val="0"/>
              </a:spcAft>
              <a:buClr>
                <a:schemeClr val="dk1"/>
              </a:buClr>
              <a:buSzPts val="3000"/>
              <a:buNone/>
              <a:defRPr sz="3000">
                <a:solidFill>
                  <a:schemeClr val="dk1"/>
                </a:solidFill>
              </a:defRPr>
            </a:lvl4pPr>
            <a:lvl5pPr lvl="4" algn="ctr">
              <a:spcBef>
                <a:spcPts val="0"/>
              </a:spcBef>
              <a:spcAft>
                <a:spcPts val="0"/>
              </a:spcAft>
              <a:buClr>
                <a:schemeClr val="dk1"/>
              </a:buClr>
              <a:buSzPts val="3000"/>
              <a:buNone/>
              <a:defRPr sz="3000">
                <a:solidFill>
                  <a:schemeClr val="dk1"/>
                </a:solidFill>
              </a:defRPr>
            </a:lvl5pPr>
            <a:lvl6pPr lvl="5" algn="ctr">
              <a:spcBef>
                <a:spcPts val="0"/>
              </a:spcBef>
              <a:spcAft>
                <a:spcPts val="0"/>
              </a:spcAft>
              <a:buClr>
                <a:schemeClr val="dk1"/>
              </a:buClr>
              <a:buSzPts val="3000"/>
              <a:buNone/>
              <a:defRPr sz="3000">
                <a:solidFill>
                  <a:schemeClr val="dk1"/>
                </a:solidFill>
              </a:defRPr>
            </a:lvl6pPr>
            <a:lvl7pPr lvl="6" algn="ctr">
              <a:spcBef>
                <a:spcPts val="0"/>
              </a:spcBef>
              <a:spcAft>
                <a:spcPts val="0"/>
              </a:spcAft>
              <a:buClr>
                <a:schemeClr val="dk1"/>
              </a:buClr>
              <a:buSzPts val="3000"/>
              <a:buNone/>
              <a:defRPr sz="3000">
                <a:solidFill>
                  <a:schemeClr val="dk1"/>
                </a:solidFill>
              </a:defRPr>
            </a:lvl7pPr>
            <a:lvl8pPr lvl="7" algn="ctr">
              <a:spcBef>
                <a:spcPts val="0"/>
              </a:spcBef>
              <a:spcAft>
                <a:spcPts val="0"/>
              </a:spcAft>
              <a:buClr>
                <a:schemeClr val="dk1"/>
              </a:buClr>
              <a:buSzPts val="3000"/>
              <a:buNone/>
              <a:defRPr sz="3000">
                <a:solidFill>
                  <a:schemeClr val="dk1"/>
                </a:solidFill>
              </a:defRPr>
            </a:lvl8pPr>
            <a:lvl9pPr lvl="8" algn="ctr">
              <a:spcBef>
                <a:spcPts val="0"/>
              </a:spcBef>
              <a:spcAft>
                <a:spcPts val="0"/>
              </a:spcAft>
              <a:buClr>
                <a:schemeClr val="dk1"/>
              </a:buClr>
              <a:buSzPts val="3000"/>
              <a:buNone/>
              <a:defRPr sz="30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61950">
              <a:lnSpc>
                <a:spcPct val="115000"/>
              </a:lnSpc>
              <a:spcBef>
                <a:spcPts val="0"/>
              </a:spcBef>
              <a:spcAft>
                <a:spcPts val="0"/>
              </a:spcAft>
              <a:buClr>
                <a:srgbClr val="D9D9D9"/>
              </a:buClr>
              <a:buSzPts val="2100"/>
              <a:buFont typeface="Maven Pro"/>
              <a:buChar char="●"/>
              <a:defRPr sz="2100">
                <a:solidFill>
                  <a:srgbClr val="D9D9D9"/>
                </a:solidFill>
                <a:latin typeface="Maven Pro"/>
                <a:ea typeface="Maven Pro"/>
                <a:cs typeface="Maven Pro"/>
                <a:sym typeface="Maven Pro"/>
              </a:defRPr>
            </a:lvl1pPr>
            <a:lvl2pPr marL="914400" lvl="1" indent="-342900">
              <a:lnSpc>
                <a:spcPct val="115000"/>
              </a:lnSpc>
              <a:spcBef>
                <a:spcPts val="0"/>
              </a:spcBef>
              <a:spcAft>
                <a:spcPts val="0"/>
              </a:spcAft>
              <a:buClr>
                <a:srgbClr val="D9D9D9"/>
              </a:buClr>
              <a:buSzPts val="1800"/>
              <a:buFont typeface="Maven Pro"/>
              <a:buChar char="○"/>
              <a:defRPr sz="1800">
                <a:solidFill>
                  <a:srgbClr val="D9D9D9"/>
                </a:solidFill>
                <a:latin typeface="Maven Pro"/>
                <a:ea typeface="Maven Pro"/>
                <a:cs typeface="Maven Pro"/>
                <a:sym typeface="Maven Pro"/>
              </a:defRPr>
            </a:lvl2pPr>
            <a:lvl3pPr marL="1371600" lvl="2" indent="-330200">
              <a:lnSpc>
                <a:spcPct val="115000"/>
              </a:lnSpc>
              <a:spcBef>
                <a:spcPts val="0"/>
              </a:spcBef>
              <a:spcAft>
                <a:spcPts val="0"/>
              </a:spcAft>
              <a:buClr>
                <a:srgbClr val="D9D9D9"/>
              </a:buClr>
              <a:buSzPts val="1600"/>
              <a:buFont typeface="Maven Pro"/>
              <a:buChar char="■"/>
              <a:defRPr sz="1600">
                <a:solidFill>
                  <a:srgbClr val="D9D9D9"/>
                </a:solidFill>
                <a:latin typeface="Maven Pro"/>
                <a:ea typeface="Maven Pro"/>
                <a:cs typeface="Maven Pro"/>
                <a:sym typeface="Maven Pro"/>
              </a:defRPr>
            </a:lvl3pPr>
            <a:lvl4pPr marL="1828800" lvl="3" indent="-317500">
              <a:lnSpc>
                <a:spcPct val="115000"/>
              </a:lnSpc>
              <a:spcBef>
                <a:spcPts val="0"/>
              </a:spcBef>
              <a:spcAft>
                <a:spcPts val="0"/>
              </a:spcAft>
              <a:buClr>
                <a:srgbClr val="D9D9D9"/>
              </a:buClr>
              <a:buSzPts val="1400"/>
              <a:buFont typeface="Maven Pro"/>
              <a:buChar char="●"/>
              <a:defRPr>
                <a:solidFill>
                  <a:srgbClr val="D9D9D9"/>
                </a:solidFill>
                <a:latin typeface="Maven Pro"/>
                <a:ea typeface="Maven Pro"/>
                <a:cs typeface="Maven Pro"/>
                <a:sym typeface="Maven Pro"/>
              </a:defRPr>
            </a:lvl4pPr>
            <a:lvl5pPr marL="2286000" lvl="4" indent="-317500">
              <a:lnSpc>
                <a:spcPct val="115000"/>
              </a:lnSpc>
              <a:spcBef>
                <a:spcPts val="0"/>
              </a:spcBef>
              <a:spcAft>
                <a:spcPts val="0"/>
              </a:spcAft>
              <a:buClr>
                <a:srgbClr val="D9D9D9"/>
              </a:buClr>
              <a:buSzPts val="1400"/>
              <a:buFont typeface="Maven Pro"/>
              <a:buChar char="○"/>
              <a:defRPr>
                <a:solidFill>
                  <a:srgbClr val="D9D9D9"/>
                </a:solidFill>
                <a:latin typeface="Maven Pro"/>
                <a:ea typeface="Maven Pro"/>
                <a:cs typeface="Maven Pro"/>
                <a:sym typeface="Maven Pro"/>
              </a:defRPr>
            </a:lvl5pPr>
            <a:lvl6pPr marL="2743200" lvl="5" indent="-317500">
              <a:lnSpc>
                <a:spcPct val="115000"/>
              </a:lnSpc>
              <a:spcBef>
                <a:spcPts val="0"/>
              </a:spcBef>
              <a:spcAft>
                <a:spcPts val="0"/>
              </a:spcAft>
              <a:buClr>
                <a:srgbClr val="D9D9D9"/>
              </a:buClr>
              <a:buSzPts val="1400"/>
              <a:buFont typeface="Maven Pro"/>
              <a:buChar char="■"/>
              <a:defRPr>
                <a:solidFill>
                  <a:srgbClr val="D9D9D9"/>
                </a:solidFill>
                <a:latin typeface="Maven Pro"/>
                <a:ea typeface="Maven Pro"/>
                <a:cs typeface="Maven Pro"/>
                <a:sym typeface="Maven Pro"/>
              </a:defRPr>
            </a:lvl6pPr>
            <a:lvl7pPr marL="3200400" lvl="6" indent="-317500">
              <a:lnSpc>
                <a:spcPct val="115000"/>
              </a:lnSpc>
              <a:spcBef>
                <a:spcPts val="0"/>
              </a:spcBef>
              <a:spcAft>
                <a:spcPts val="0"/>
              </a:spcAft>
              <a:buClr>
                <a:srgbClr val="D9D9D9"/>
              </a:buClr>
              <a:buSzPts val="1400"/>
              <a:buFont typeface="Maven Pro"/>
              <a:buChar char="●"/>
              <a:defRPr>
                <a:solidFill>
                  <a:srgbClr val="D9D9D9"/>
                </a:solidFill>
                <a:latin typeface="Maven Pro"/>
                <a:ea typeface="Maven Pro"/>
                <a:cs typeface="Maven Pro"/>
                <a:sym typeface="Maven Pro"/>
              </a:defRPr>
            </a:lvl7pPr>
            <a:lvl8pPr marL="3657600" lvl="7" indent="-317500">
              <a:lnSpc>
                <a:spcPct val="115000"/>
              </a:lnSpc>
              <a:spcBef>
                <a:spcPts val="0"/>
              </a:spcBef>
              <a:spcAft>
                <a:spcPts val="0"/>
              </a:spcAft>
              <a:buClr>
                <a:srgbClr val="D9D9D9"/>
              </a:buClr>
              <a:buSzPts val="1400"/>
              <a:buFont typeface="Maven Pro"/>
              <a:buChar char="○"/>
              <a:defRPr>
                <a:solidFill>
                  <a:srgbClr val="D9D9D9"/>
                </a:solidFill>
                <a:latin typeface="Maven Pro"/>
                <a:ea typeface="Maven Pro"/>
                <a:cs typeface="Maven Pro"/>
                <a:sym typeface="Maven Pro"/>
              </a:defRPr>
            </a:lvl8pPr>
            <a:lvl9pPr marL="4114800" lvl="8" indent="-317500">
              <a:lnSpc>
                <a:spcPct val="115000"/>
              </a:lnSpc>
              <a:spcBef>
                <a:spcPts val="0"/>
              </a:spcBef>
              <a:spcAft>
                <a:spcPts val="0"/>
              </a:spcAft>
              <a:buClr>
                <a:srgbClr val="D9D9D9"/>
              </a:buClr>
              <a:buSzPts val="1400"/>
              <a:buFont typeface="Maven Pro"/>
              <a:buChar char="■"/>
              <a:defRPr>
                <a:solidFill>
                  <a:srgbClr val="D9D9D9"/>
                </a:solidFill>
                <a:latin typeface="Maven Pro"/>
                <a:ea typeface="Maven Pro"/>
                <a:cs typeface="Maven Pro"/>
                <a:sym typeface="Maven Pr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8.svg"/></Relationships>
</file>

<file path=ppt/slides/_rels/slide26.xml.rels><?xml version="1.0" encoding="UTF-8" standalone="yes"?>
<Relationships xmlns="http://schemas.openxmlformats.org/package/2006/relationships"><Relationship Id="rId3" Type="http://schemas.openxmlformats.org/officeDocument/2006/relationships/hyperlink" Target="https://matplotlib.org/stable/index.html" TargetMode="External"/><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hyperlink" Target="https://www.w3schools.com/python/matplotlib_intro.asp" TargetMode="External"/><Relationship Id="rId5" Type="http://schemas.openxmlformats.org/officeDocument/2006/relationships/hyperlink" Target="https://www.geeksforgeeks.org/data-visualization/data-visualization-using-matplotlib/" TargetMode="External"/><Relationship Id="rId4" Type="http://schemas.openxmlformats.org/officeDocument/2006/relationships/hyperlink" Target="https://www.datacamp.com/tutorial/matplotlib-tutorial-python"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hyperlink" Target="https://www.kaggle.com/learn/data-visualization" TargetMode="External"/><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hyperlink" Target="https://seaborn.pydata.org/tutorial/introduction" TargetMode="External"/><Relationship Id="rId2" Type="http://schemas.openxmlformats.org/officeDocument/2006/relationships/hyperlink" Target="https://datons.com/en/blog/main-differences-between-matplotlib-seaborn-and-plotly" TargetMode="External"/><Relationship Id="rId1" Type="http://schemas.openxmlformats.org/officeDocument/2006/relationships/slideLayout" Target="../slideLayouts/slideLayout3.xml"/><Relationship Id="rId4" Type="http://schemas.openxmlformats.org/officeDocument/2006/relationships/hyperlink" Target="https://www.kaggle.com/learn/data-visualization" TargetMode="Externa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hyperlink" Target="https://www.tylervigen.com/spurious-correlations" TargetMode="External"/><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80.xml"/><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3" Type="http://schemas.openxmlformats.org/officeDocument/2006/relationships/hyperlink" Target="https://www.effectivedatastorytelling.com/post/data-storytelling-101-a-beginners-guide-to-turning-insights-into-action" TargetMode="External"/><Relationship Id="rId2" Type="http://schemas.openxmlformats.org/officeDocument/2006/relationships/hyperlink" Target="https://www.storytellingwithdata.com/makeovers" TargetMode="External"/><Relationship Id="rId1" Type="http://schemas.openxmlformats.org/officeDocument/2006/relationships/slideLayout" Target="../slideLayouts/slideLayout3.xml"/><Relationship Id="rId4" Type="http://schemas.openxmlformats.org/officeDocument/2006/relationships/hyperlink" Target="https://www.dataquest.io/tutorial/telling-data-stories-with-python-using-information-design/" TargetMode="Externa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Module 6 – Data Visualization &amp; Storytelling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1613500"/>
            <a:ext cx="8520600" cy="13791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Charts &amp; Plots </a:t>
            </a:r>
            <a:endParaRPr/>
          </a:p>
          <a:p>
            <a:pPr marL="0" lvl="0" indent="0" algn="ctr" rtl="0">
              <a:spcBef>
                <a:spcPts val="0"/>
              </a:spcBef>
              <a:spcAft>
                <a:spcPts val="0"/>
              </a:spcAft>
              <a:buNone/>
            </a:pPr>
            <a:r>
              <a:rPr lang="en"/>
              <a:t>matplotlib, seaborn, plotly</a:t>
            </a:r>
            <a:endParaRPr/>
          </a:p>
          <a:p>
            <a:pPr marL="0" lvl="0" indent="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311700" y="1190750"/>
            <a:ext cx="8520600" cy="22077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b="1"/>
              <a:t>Class 1</a:t>
            </a:r>
            <a:endParaRPr b="1"/>
          </a:p>
          <a:p>
            <a:pPr marL="0" lvl="0" indent="0" algn="ctr" rtl="0">
              <a:spcBef>
                <a:spcPts val="0"/>
              </a:spcBef>
              <a:spcAft>
                <a:spcPts val="0"/>
              </a:spcAft>
              <a:buNone/>
            </a:pPr>
            <a:endParaRPr/>
          </a:p>
          <a:p>
            <a:pPr marL="457200" lvl="0" indent="-434340" algn="ctr" rtl="0">
              <a:spcBef>
                <a:spcPts val="0"/>
              </a:spcBef>
              <a:spcAft>
                <a:spcPts val="0"/>
              </a:spcAft>
              <a:buSzPct val="100000"/>
              <a:buChar char="-"/>
            </a:pPr>
            <a:r>
              <a:rPr lang="en"/>
              <a:t>Line plots, bar charts, and histograms</a:t>
            </a:r>
            <a:endParaRPr/>
          </a:p>
          <a:p>
            <a:pPr marL="0" lvl="0" indent="0" algn="ctr" rtl="0">
              <a:spcBef>
                <a:spcPts val="0"/>
              </a:spcBef>
              <a:spcAft>
                <a:spcPts val="0"/>
              </a:spcAft>
              <a:buNone/>
            </a:pPr>
            <a:r>
              <a:rPr lang="en"/>
              <a:t>- Label plots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DB895-06DB-087F-44A8-4428215D4E8F}"/>
              </a:ext>
            </a:extLst>
          </p:cNvPr>
          <p:cNvSpPr>
            <a:spLocks noGrp="1"/>
          </p:cNvSpPr>
          <p:nvPr>
            <p:ph type="title"/>
          </p:nvPr>
        </p:nvSpPr>
        <p:spPr/>
        <p:txBody>
          <a:bodyPr>
            <a:normAutofit fontScale="90000"/>
          </a:bodyPr>
          <a:lstStyle/>
          <a:p>
            <a:r>
              <a:rPr lang="en" dirty="0"/>
              <a:t>Visualization libraries in Python</a:t>
            </a:r>
            <a:endParaRPr lang="en-GB" dirty="0"/>
          </a:p>
        </p:txBody>
      </p:sp>
      <p:sp>
        <p:nvSpPr>
          <p:cNvPr id="3" name="Text Placeholder 2">
            <a:extLst>
              <a:ext uri="{FF2B5EF4-FFF2-40B4-BE49-F238E27FC236}">
                <a16:creationId xmlns:a16="http://schemas.microsoft.com/office/drawing/2014/main" id="{CB9086A2-FE2C-FA77-7FA2-76021D437DBA}"/>
              </a:ext>
            </a:extLst>
          </p:cNvPr>
          <p:cNvSpPr>
            <a:spLocks noGrp="1"/>
          </p:cNvSpPr>
          <p:nvPr>
            <p:ph type="body" idx="1"/>
          </p:nvPr>
        </p:nvSpPr>
        <p:spPr/>
        <p:txBody>
          <a:bodyPr>
            <a:normAutofit/>
          </a:bodyPr>
          <a:lstStyle/>
          <a:p>
            <a:pPr marL="95250" indent="0">
              <a:buNone/>
            </a:pPr>
            <a:r>
              <a:rPr lang="en-GB" b="1" dirty="0"/>
              <a:t>Matplotlib </a:t>
            </a:r>
          </a:p>
          <a:p>
            <a:endParaRPr lang="en-GB" dirty="0"/>
          </a:p>
          <a:p>
            <a:pPr marL="95250" indent="0">
              <a:buNone/>
            </a:pPr>
            <a:r>
              <a:rPr lang="en-GB" dirty="0"/>
              <a:t>A comprehensive library for creating static, animated, and interactive visualizations in Python. Matplotlib is designed to work with NumPy arrays and pandas </a:t>
            </a:r>
            <a:r>
              <a:rPr lang="en-GB" dirty="0" err="1"/>
              <a:t>dataframes</a:t>
            </a:r>
            <a:r>
              <a:rPr lang="en-GB" dirty="0"/>
              <a:t> and is highly customizable.</a:t>
            </a:r>
          </a:p>
          <a:p>
            <a:pPr marL="95250" indent="0">
              <a:buNone/>
            </a:pPr>
            <a:endParaRPr lang="en-GB" dirty="0"/>
          </a:p>
          <a:p>
            <a:pPr marL="95250" indent="0">
              <a:buNone/>
            </a:pPr>
            <a:endParaRPr lang="en-GB" dirty="0"/>
          </a:p>
        </p:txBody>
      </p:sp>
    </p:spTree>
    <p:extLst>
      <p:ext uri="{BB962C8B-B14F-4D97-AF65-F5344CB8AC3E}">
        <p14:creationId xmlns:p14="http://schemas.microsoft.com/office/powerpoint/2010/main" val="359127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95364-745A-6E45-D5F3-EAC4A862ADCB}"/>
              </a:ext>
            </a:extLst>
          </p:cNvPr>
          <p:cNvSpPr>
            <a:spLocks noGrp="1"/>
          </p:cNvSpPr>
          <p:nvPr>
            <p:ph type="title"/>
          </p:nvPr>
        </p:nvSpPr>
        <p:spPr/>
        <p:txBody>
          <a:bodyPr>
            <a:normAutofit fontScale="90000"/>
          </a:bodyPr>
          <a:lstStyle/>
          <a:p>
            <a:r>
              <a:rPr lang="en" dirty="0"/>
              <a:t>Visualization libraries in Python</a:t>
            </a:r>
            <a:endParaRPr lang="en-GB" dirty="0"/>
          </a:p>
        </p:txBody>
      </p:sp>
      <p:sp>
        <p:nvSpPr>
          <p:cNvPr id="3" name="Text Placeholder 2">
            <a:extLst>
              <a:ext uri="{FF2B5EF4-FFF2-40B4-BE49-F238E27FC236}">
                <a16:creationId xmlns:a16="http://schemas.microsoft.com/office/drawing/2014/main" id="{1B756E92-19E3-F178-BCC7-DAEF50511F0C}"/>
              </a:ext>
            </a:extLst>
          </p:cNvPr>
          <p:cNvSpPr>
            <a:spLocks noGrp="1"/>
          </p:cNvSpPr>
          <p:nvPr>
            <p:ph type="body" idx="1"/>
          </p:nvPr>
        </p:nvSpPr>
        <p:spPr/>
        <p:txBody>
          <a:bodyPr/>
          <a:lstStyle/>
          <a:p>
            <a:pPr marL="95250" indent="0">
              <a:buNone/>
            </a:pPr>
            <a:r>
              <a:rPr lang="en-GB" b="1" dirty="0"/>
              <a:t>Seaborn </a:t>
            </a:r>
          </a:p>
          <a:p>
            <a:endParaRPr lang="en-GB" dirty="0"/>
          </a:p>
          <a:p>
            <a:pPr marL="95250" indent="0">
              <a:buNone/>
            </a:pPr>
            <a:r>
              <a:rPr lang="en-GB" dirty="0"/>
              <a:t>A popular open-source Python library used for creating attractive and informative statistical graphics. Built on top of Matplotlib, it provides a high-level interface that allows for the creation of complex visualizations with less code and includes built-in themes and colour palettes. It integrates closely with pandas </a:t>
            </a:r>
            <a:r>
              <a:rPr lang="en-GB" dirty="0" err="1"/>
              <a:t>DataFrames</a:t>
            </a:r>
            <a:r>
              <a:rPr lang="en-GB" dirty="0"/>
              <a:t> to simplify data exploration. </a:t>
            </a:r>
          </a:p>
          <a:p>
            <a:endParaRPr lang="en-GB" dirty="0"/>
          </a:p>
        </p:txBody>
      </p:sp>
    </p:spTree>
    <p:extLst>
      <p:ext uri="{BB962C8B-B14F-4D97-AF65-F5344CB8AC3E}">
        <p14:creationId xmlns:p14="http://schemas.microsoft.com/office/powerpoint/2010/main" val="11973888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9A439-D654-94D2-DF76-ADA7F9EDDDEF}"/>
              </a:ext>
            </a:extLst>
          </p:cNvPr>
          <p:cNvSpPr>
            <a:spLocks noGrp="1"/>
          </p:cNvSpPr>
          <p:nvPr>
            <p:ph type="title"/>
          </p:nvPr>
        </p:nvSpPr>
        <p:spPr/>
        <p:txBody>
          <a:bodyPr>
            <a:normAutofit fontScale="90000"/>
          </a:bodyPr>
          <a:lstStyle/>
          <a:p>
            <a:r>
              <a:rPr lang="en" dirty="0"/>
              <a:t>Visualization libraries in Python</a:t>
            </a:r>
            <a:endParaRPr lang="en-GB" dirty="0"/>
          </a:p>
        </p:txBody>
      </p:sp>
      <p:sp>
        <p:nvSpPr>
          <p:cNvPr id="3" name="Text Placeholder 2">
            <a:extLst>
              <a:ext uri="{FF2B5EF4-FFF2-40B4-BE49-F238E27FC236}">
                <a16:creationId xmlns:a16="http://schemas.microsoft.com/office/drawing/2014/main" id="{80FAA3A2-ED76-79B9-8AB5-D92E2F0C5ED6}"/>
              </a:ext>
            </a:extLst>
          </p:cNvPr>
          <p:cNvSpPr>
            <a:spLocks noGrp="1"/>
          </p:cNvSpPr>
          <p:nvPr>
            <p:ph type="body" idx="1"/>
          </p:nvPr>
        </p:nvSpPr>
        <p:spPr/>
        <p:txBody>
          <a:bodyPr/>
          <a:lstStyle/>
          <a:p>
            <a:pPr marL="95250" indent="0">
              <a:buNone/>
            </a:pPr>
            <a:r>
              <a:rPr lang="en-GB" b="1" dirty="0" err="1"/>
              <a:t>Plotly</a:t>
            </a:r>
            <a:r>
              <a:rPr lang="en-GB" b="1" dirty="0"/>
              <a:t> </a:t>
            </a:r>
          </a:p>
          <a:p>
            <a:pPr marL="95250" indent="0">
              <a:buNone/>
            </a:pPr>
            <a:endParaRPr lang="en-GB" b="1" dirty="0"/>
          </a:p>
          <a:p>
            <a:pPr marL="95250" indent="0">
              <a:buNone/>
            </a:pPr>
            <a:r>
              <a:rPr lang="en-GB" dirty="0"/>
              <a:t>An interactive, open-source, and browser-based graphing library. It offers Python-based charting, powered by </a:t>
            </a:r>
            <a:r>
              <a:rPr lang="en-GB" dirty="0" err="1"/>
              <a:t>plotly</a:t>
            </a:r>
            <a:r>
              <a:rPr lang="en-GB" dirty="0"/>
              <a:t>. </a:t>
            </a:r>
            <a:r>
              <a:rPr lang="en-GB" dirty="0" err="1"/>
              <a:t>js</a:t>
            </a:r>
            <a:r>
              <a:rPr lang="en-GB" dirty="0"/>
              <a:t>. The library ships with over 30 chart types, including scientific charts, 3D graphs, statistical charts, SVG maps, financial charts, and more.</a:t>
            </a:r>
          </a:p>
          <a:p>
            <a:endParaRPr lang="en-GB" dirty="0"/>
          </a:p>
        </p:txBody>
      </p:sp>
    </p:spTree>
    <p:extLst>
      <p:ext uri="{BB962C8B-B14F-4D97-AF65-F5344CB8AC3E}">
        <p14:creationId xmlns:p14="http://schemas.microsoft.com/office/powerpoint/2010/main" val="761045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dirty="0"/>
              <a:t>Visualization libraries in Python</a:t>
            </a:r>
            <a:endParaRPr dirty="0"/>
          </a:p>
        </p:txBody>
      </p:sp>
      <p:sp>
        <p:nvSpPr>
          <p:cNvPr id="71" name="Google Shape;71;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61950" algn="l" rtl="0">
              <a:spcBef>
                <a:spcPts val="0"/>
              </a:spcBef>
              <a:spcAft>
                <a:spcPts val="0"/>
              </a:spcAft>
              <a:buSzPts val="2100"/>
              <a:buChar char="-"/>
            </a:pPr>
            <a:r>
              <a:rPr lang="en" dirty="0"/>
              <a:t>Matplotlib (from matplotlib import pyplot as plt)</a:t>
            </a:r>
            <a:endParaRPr dirty="0"/>
          </a:p>
          <a:p>
            <a:pPr marL="914400" lvl="1" indent="-342900" algn="l" rtl="0">
              <a:spcBef>
                <a:spcPts val="0"/>
              </a:spcBef>
              <a:spcAft>
                <a:spcPts val="0"/>
              </a:spcAft>
              <a:buSzPts val="1800"/>
              <a:buChar char="-"/>
            </a:pPr>
            <a:r>
              <a:rPr lang="en" dirty="0"/>
              <a:t>Use plt.</a:t>
            </a:r>
            <a:endParaRPr dirty="0"/>
          </a:p>
          <a:p>
            <a:pPr marL="457200" lvl="0" indent="-361950" algn="l" rtl="0">
              <a:spcBef>
                <a:spcPts val="0"/>
              </a:spcBef>
              <a:spcAft>
                <a:spcPts val="0"/>
              </a:spcAft>
              <a:buSzPts val="2100"/>
              <a:buChar char="-"/>
            </a:pPr>
            <a:r>
              <a:rPr lang="en" dirty="0"/>
              <a:t>Seaborn (import seaborn as sns)</a:t>
            </a:r>
            <a:endParaRPr dirty="0"/>
          </a:p>
          <a:p>
            <a:pPr marL="914400" lvl="1" indent="-342900" algn="l" rtl="0">
              <a:spcBef>
                <a:spcPts val="0"/>
              </a:spcBef>
              <a:spcAft>
                <a:spcPts val="0"/>
              </a:spcAft>
              <a:buSzPts val="1800"/>
              <a:buChar char="-"/>
            </a:pPr>
            <a:r>
              <a:rPr lang="en" dirty="0"/>
              <a:t>Use sns.</a:t>
            </a:r>
            <a:endParaRPr dirty="0"/>
          </a:p>
          <a:p>
            <a:pPr marL="457200" lvl="0" indent="-361950" algn="l" rtl="0">
              <a:spcBef>
                <a:spcPts val="0"/>
              </a:spcBef>
              <a:spcAft>
                <a:spcPts val="0"/>
              </a:spcAft>
              <a:buSzPts val="2100"/>
              <a:buChar char="-"/>
            </a:pPr>
            <a:r>
              <a:rPr lang="en" dirty="0"/>
              <a:t>Plotly (import plotly.express as px)</a:t>
            </a:r>
            <a:endParaRPr dirty="0"/>
          </a:p>
          <a:p>
            <a:pPr marL="914400" lvl="1" indent="-342900" algn="l" rtl="0">
              <a:spcBef>
                <a:spcPts val="0"/>
              </a:spcBef>
              <a:spcAft>
                <a:spcPts val="0"/>
              </a:spcAft>
              <a:buSzPts val="1800"/>
              <a:buChar char="-"/>
            </a:pPr>
            <a:r>
              <a:rPr lang="en" dirty="0"/>
              <a:t>Use px.</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7"/>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dirty="0"/>
              <a:t>Line Plots</a:t>
            </a:r>
            <a:endParaRPr dirty="0"/>
          </a:p>
        </p:txBody>
      </p:sp>
      <p:sp>
        <p:nvSpPr>
          <p:cNvPr id="2" name="Text Placeholder 1">
            <a:extLst>
              <a:ext uri="{FF2B5EF4-FFF2-40B4-BE49-F238E27FC236}">
                <a16:creationId xmlns:a16="http://schemas.microsoft.com/office/drawing/2014/main" id="{F5EE0AE7-3FA0-25A2-C5DC-4BB2B76CC1BA}"/>
              </a:ext>
            </a:extLst>
          </p:cNvPr>
          <p:cNvSpPr>
            <a:spLocks noGrp="1"/>
          </p:cNvSpPr>
          <p:nvPr>
            <p:ph type="body" idx="1"/>
          </p:nvPr>
        </p:nvSpPr>
        <p:spPr/>
        <p:txBody>
          <a:bodyPr/>
          <a:lstStyle/>
          <a:p>
            <a:pPr marL="139700" indent="0">
              <a:buNone/>
            </a:pPr>
            <a:r>
              <a:rPr lang="en-GB" sz="1600" dirty="0"/>
              <a:t>A line plot (or line graph/chart) displays information as a series of data points connected by straight line segments, making it ideal for visualizing trends over continuous data, typically time. It is used to track changes over days, months, or years, comparing multiple series, and forecasting future data trends.</a:t>
            </a:r>
          </a:p>
          <a:p>
            <a:endParaRPr lang="en-GB" dirty="0"/>
          </a:p>
        </p:txBody>
      </p:sp>
      <p:pic>
        <p:nvPicPr>
          <p:cNvPr id="77" name="Google Shape;77;p17"/>
          <p:cNvPicPr preferRelativeResize="0"/>
          <p:nvPr/>
        </p:nvPicPr>
        <p:blipFill>
          <a:blip r:embed="rId3">
            <a:alphaModFix/>
          </a:blip>
          <a:stretch>
            <a:fillRect/>
          </a:stretch>
        </p:blipFill>
        <p:spPr>
          <a:xfrm>
            <a:off x="4513812" y="1152474"/>
            <a:ext cx="4450810" cy="287088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Line Chart</a:t>
            </a:r>
            <a:endParaRPr/>
          </a:p>
        </p:txBody>
      </p:sp>
      <p:sp>
        <p:nvSpPr>
          <p:cNvPr id="83" name="Google Shape;83;p18"/>
          <p:cNvSpPr txBox="1">
            <a:spLocks noGrp="1"/>
          </p:cNvSpPr>
          <p:nvPr>
            <p:ph type="body" idx="1"/>
          </p:nvPr>
        </p:nvSpPr>
        <p:spPr>
          <a:xfrm>
            <a:off x="4934475" y="1152475"/>
            <a:ext cx="38979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In your notebook:</a:t>
            </a:r>
            <a:endParaRPr/>
          </a:p>
          <a:p>
            <a:pPr marL="0" lvl="0" indent="0" algn="l" rtl="0">
              <a:spcBef>
                <a:spcPts val="1200"/>
              </a:spcBef>
              <a:spcAft>
                <a:spcPts val="0"/>
              </a:spcAft>
              <a:buNone/>
            </a:pPr>
            <a:r>
              <a:rPr lang="en"/>
              <a:t>Make and view the line graph with each library.</a:t>
            </a:r>
            <a:endParaRPr/>
          </a:p>
          <a:p>
            <a:pPr marL="0" lvl="0" indent="0" algn="l" rtl="0">
              <a:spcBef>
                <a:spcPts val="1200"/>
              </a:spcBef>
              <a:spcAft>
                <a:spcPts val="1200"/>
              </a:spcAft>
              <a:buNone/>
            </a:pPr>
            <a:r>
              <a:rPr lang="en"/>
              <a:t>What differences do you see between the libraries?</a:t>
            </a:r>
            <a:endParaRPr/>
          </a:p>
        </p:txBody>
      </p:sp>
      <p:pic>
        <p:nvPicPr>
          <p:cNvPr id="84" name="Google Shape;84;p18"/>
          <p:cNvPicPr preferRelativeResize="0"/>
          <p:nvPr/>
        </p:nvPicPr>
        <p:blipFill>
          <a:blip r:embed="rId3">
            <a:alphaModFix/>
          </a:blip>
          <a:stretch>
            <a:fillRect/>
          </a:stretch>
        </p:blipFill>
        <p:spPr>
          <a:xfrm>
            <a:off x="222875" y="1017725"/>
            <a:ext cx="3543300" cy="685800"/>
          </a:xfrm>
          <a:prstGeom prst="rect">
            <a:avLst/>
          </a:prstGeom>
          <a:noFill/>
          <a:ln>
            <a:noFill/>
          </a:ln>
        </p:spPr>
      </p:pic>
      <p:pic>
        <p:nvPicPr>
          <p:cNvPr id="85" name="Google Shape;85;p18"/>
          <p:cNvPicPr preferRelativeResize="0"/>
          <p:nvPr/>
        </p:nvPicPr>
        <p:blipFill>
          <a:blip r:embed="rId4">
            <a:alphaModFix/>
          </a:blip>
          <a:stretch>
            <a:fillRect/>
          </a:stretch>
        </p:blipFill>
        <p:spPr>
          <a:xfrm>
            <a:off x="311700" y="1822900"/>
            <a:ext cx="3797928" cy="572700"/>
          </a:xfrm>
          <a:prstGeom prst="rect">
            <a:avLst/>
          </a:prstGeom>
          <a:noFill/>
          <a:ln>
            <a:noFill/>
          </a:ln>
        </p:spPr>
      </p:pic>
      <p:pic>
        <p:nvPicPr>
          <p:cNvPr id="86" name="Google Shape;86;p18"/>
          <p:cNvPicPr preferRelativeResize="0"/>
          <p:nvPr/>
        </p:nvPicPr>
        <p:blipFill>
          <a:blip r:embed="rId5">
            <a:alphaModFix/>
          </a:blip>
          <a:stretch>
            <a:fillRect/>
          </a:stretch>
        </p:blipFill>
        <p:spPr>
          <a:xfrm>
            <a:off x="164138" y="2514963"/>
            <a:ext cx="4410075" cy="6762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Comparing visualization libraries</a:t>
            </a:r>
            <a:endParaRPr/>
          </a:p>
        </p:txBody>
      </p:sp>
      <p:sp>
        <p:nvSpPr>
          <p:cNvPr id="92" name="Google Shape;92;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61950" algn="l" rtl="0">
              <a:spcBef>
                <a:spcPts val="0"/>
              </a:spcBef>
              <a:spcAft>
                <a:spcPts val="0"/>
              </a:spcAft>
              <a:buSzPts val="2100"/>
              <a:buChar char="-"/>
            </a:pPr>
            <a:r>
              <a:rPr lang="en" dirty="0"/>
              <a:t>Matplotlib has a different argument format  (although in matplotlib you can use the seaborn format too)</a:t>
            </a:r>
            <a:endParaRPr dirty="0"/>
          </a:p>
          <a:p>
            <a:pPr marL="914400" lvl="1" indent="-342900" algn="l" rtl="0">
              <a:spcBef>
                <a:spcPts val="0"/>
              </a:spcBef>
              <a:spcAft>
                <a:spcPts val="0"/>
              </a:spcAft>
              <a:buSzPts val="1800"/>
              <a:buChar char="-"/>
            </a:pPr>
            <a:r>
              <a:rPr lang="en" dirty="0"/>
              <a:t>Both (df.age, df.avg_height) and (data=df, x="age", y="avg_height") can be used in matplotlib</a:t>
            </a:r>
            <a:endParaRPr dirty="0"/>
          </a:p>
          <a:p>
            <a:pPr marL="457200" lvl="0" indent="-361950" algn="l" rtl="0">
              <a:spcBef>
                <a:spcPts val="0"/>
              </a:spcBef>
              <a:spcAft>
                <a:spcPts val="0"/>
              </a:spcAft>
              <a:buSzPts val="2100"/>
              <a:buChar char="-"/>
            </a:pPr>
            <a:r>
              <a:rPr lang="en" dirty="0"/>
              <a:t>Seaborn automatically labels x and y axes</a:t>
            </a:r>
            <a:endParaRPr dirty="0"/>
          </a:p>
          <a:p>
            <a:pPr marL="457200" lvl="0" indent="-361950" algn="l" rtl="0">
              <a:spcBef>
                <a:spcPts val="0"/>
              </a:spcBef>
              <a:spcAft>
                <a:spcPts val="0"/>
              </a:spcAft>
              <a:buSzPts val="2100"/>
              <a:buChar char="-"/>
            </a:pPr>
            <a:r>
              <a:rPr lang="en" dirty="0"/>
              <a:t>Plotly shows information if user hovers over a data point</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Adding labels to seaborn and matplotlib graphs</a:t>
            </a:r>
            <a:endParaRPr/>
          </a:p>
        </p:txBody>
      </p:sp>
      <p:sp>
        <p:nvSpPr>
          <p:cNvPr id="98" name="Google Shape;98;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plt.title("Average Height by Age")</a:t>
            </a:r>
            <a:endParaRPr dirty="0"/>
          </a:p>
          <a:p>
            <a:pPr marL="0" lvl="0" indent="0" algn="l" rtl="0">
              <a:spcBef>
                <a:spcPts val="1200"/>
              </a:spcBef>
              <a:spcAft>
                <a:spcPts val="0"/>
              </a:spcAft>
              <a:buNone/>
            </a:pPr>
            <a:r>
              <a:rPr lang="en" dirty="0"/>
              <a:t>plt.xlabel("Age")</a:t>
            </a:r>
            <a:endParaRPr dirty="0"/>
          </a:p>
          <a:p>
            <a:pPr marL="0" lvl="0" indent="0" algn="l" rtl="0">
              <a:spcBef>
                <a:spcPts val="1200"/>
              </a:spcBef>
              <a:spcAft>
                <a:spcPts val="0"/>
              </a:spcAft>
              <a:buNone/>
            </a:pPr>
            <a:r>
              <a:rPr lang="en" dirty="0"/>
              <a:t>plt.ylabel("Average Height")</a:t>
            </a:r>
          </a:p>
          <a:p>
            <a:pPr marL="0" lvl="0" indent="0" algn="l" rtl="0">
              <a:spcBef>
                <a:spcPts val="1200"/>
              </a:spcBef>
              <a:spcAft>
                <a:spcPts val="0"/>
              </a:spcAft>
              <a:buNone/>
            </a:pPr>
            <a:r>
              <a:rPr lang="en-GB" dirty="0"/>
              <a:t>I</a:t>
            </a:r>
            <a:r>
              <a:rPr lang="en" dirty="0"/>
              <a:t>f you want to add a legend:</a:t>
            </a:r>
            <a:endParaRPr dirty="0"/>
          </a:p>
          <a:p>
            <a:pPr marL="0" lvl="0" indent="0" algn="l" rtl="0">
              <a:spcBef>
                <a:spcPts val="1200"/>
              </a:spcBef>
              <a:spcAft>
                <a:spcPts val="1200"/>
              </a:spcAft>
              <a:buNone/>
            </a:pPr>
            <a:r>
              <a:rPr lang="en" dirty="0"/>
              <a:t>plt.legend()</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Adding labels to plotly graphs</a:t>
            </a:r>
            <a:endParaRPr/>
          </a:p>
        </p:txBody>
      </p:sp>
      <p:sp>
        <p:nvSpPr>
          <p:cNvPr id="104" name="Google Shape;104;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lgn="l" rtl="0">
              <a:lnSpc>
                <a:spcPct val="100000"/>
              </a:lnSpc>
              <a:spcBef>
                <a:spcPts val="0"/>
              </a:spcBef>
              <a:spcAft>
                <a:spcPts val="0"/>
              </a:spcAft>
              <a:buNone/>
            </a:pPr>
            <a:r>
              <a:rPr lang="en"/>
              <a:t>Add arguments directly into the function, for example:</a:t>
            </a:r>
            <a:endParaRPr/>
          </a:p>
          <a:p>
            <a:pPr marL="0" lvl="0" indent="0" algn="l" rtl="0">
              <a:lnSpc>
                <a:spcPct val="100000"/>
              </a:lnSpc>
              <a:spcBef>
                <a:spcPts val="0"/>
              </a:spcBef>
              <a:spcAft>
                <a:spcPts val="0"/>
              </a:spcAft>
              <a:buNone/>
            </a:pPr>
            <a:br>
              <a:rPr lang="en"/>
            </a:br>
            <a:r>
              <a:rPr lang="en" sz="1918"/>
              <a:t>px.line(</a:t>
            </a:r>
            <a:endParaRPr sz="1918"/>
          </a:p>
          <a:p>
            <a:pPr marL="0" lvl="0" indent="0" algn="l" rtl="0">
              <a:lnSpc>
                <a:spcPct val="100000"/>
              </a:lnSpc>
              <a:spcBef>
                <a:spcPts val="0"/>
              </a:spcBef>
              <a:spcAft>
                <a:spcPts val="0"/>
              </a:spcAft>
              <a:buNone/>
            </a:pPr>
            <a:r>
              <a:rPr lang="en" sz="1918"/>
              <a:t>    df,</a:t>
            </a:r>
            <a:endParaRPr sz="1918"/>
          </a:p>
          <a:p>
            <a:pPr marL="0" lvl="0" indent="0" algn="l" rtl="0">
              <a:lnSpc>
                <a:spcPct val="100000"/>
              </a:lnSpc>
              <a:spcBef>
                <a:spcPts val="0"/>
              </a:spcBef>
              <a:spcAft>
                <a:spcPts val="0"/>
              </a:spcAft>
              <a:buNone/>
            </a:pPr>
            <a:r>
              <a:rPr lang="en" sz="1918"/>
              <a:t>    x="age",</a:t>
            </a:r>
            <a:endParaRPr sz="1918"/>
          </a:p>
          <a:p>
            <a:pPr marL="0" lvl="0" indent="0" algn="l" rtl="0">
              <a:lnSpc>
                <a:spcPct val="100000"/>
              </a:lnSpc>
              <a:spcBef>
                <a:spcPts val="0"/>
              </a:spcBef>
              <a:spcAft>
                <a:spcPts val="0"/>
              </a:spcAft>
              <a:buNone/>
            </a:pPr>
            <a:r>
              <a:rPr lang="en" sz="1918"/>
              <a:t>    y="avg_height",</a:t>
            </a:r>
            <a:endParaRPr sz="1918"/>
          </a:p>
          <a:p>
            <a:pPr marL="0" lvl="0" indent="0" algn="l" rtl="0">
              <a:lnSpc>
                <a:spcPct val="100000"/>
              </a:lnSpc>
              <a:spcBef>
                <a:spcPts val="0"/>
              </a:spcBef>
              <a:spcAft>
                <a:spcPts val="0"/>
              </a:spcAft>
              <a:buNone/>
            </a:pPr>
            <a:r>
              <a:rPr lang="en" sz="1918">
                <a:solidFill>
                  <a:schemeClr val="accent5"/>
                </a:solidFill>
              </a:rPr>
              <a:t>    title="Average Height by Age",</a:t>
            </a:r>
            <a:endParaRPr sz="1918">
              <a:solidFill>
                <a:schemeClr val="accent5"/>
              </a:solidFill>
            </a:endParaRPr>
          </a:p>
          <a:p>
            <a:pPr marL="0" lvl="0" indent="0" algn="l" rtl="0">
              <a:lnSpc>
                <a:spcPct val="100000"/>
              </a:lnSpc>
              <a:spcBef>
                <a:spcPts val="0"/>
              </a:spcBef>
              <a:spcAft>
                <a:spcPts val="0"/>
              </a:spcAft>
              <a:buNone/>
            </a:pPr>
            <a:r>
              <a:rPr lang="en" sz="1918">
                <a:solidFill>
                  <a:schemeClr val="accent5"/>
                </a:solidFill>
              </a:rPr>
              <a:t>    labels={</a:t>
            </a:r>
            <a:endParaRPr sz="1918">
              <a:solidFill>
                <a:schemeClr val="accent5"/>
              </a:solidFill>
            </a:endParaRPr>
          </a:p>
          <a:p>
            <a:pPr marL="0" lvl="0" indent="0" algn="l" rtl="0">
              <a:lnSpc>
                <a:spcPct val="100000"/>
              </a:lnSpc>
              <a:spcBef>
                <a:spcPts val="0"/>
              </a:spcBef>
              <a:spcAft>
                <a:spcPts val="0"/>
              </a:spcAft>
              <a:buNone/>
            </a:pPr>
            <a:r>
              <a:rPr lang="en" sz="1918">
                <a:solidFill>
                  <a:schemeClr val="accent5"/>
                </a:solidFill>
              </a:rPr>
              <a:t>        "age": "Age",</a:t>
            </a:r>
            <a:endParaRPr sz="1918">
              <a:solidFill>
                <a:schemeClr val="accent5"/>
              </a:solidFill>
            </a:endParaRPr>
          </a:p>
          <a:p>
            <a:pPr marL="0" lvl="0" indent="0" algn="l" rtl="0">
              <a:lnSpc>
                <a:spcPct val="100000"/>
              </a:lnSpc>
              <a:spcBef>
                <a:spcPts val="0"/>
              </a:spcBef>
              <a:spcAft>
                <a:spcPts val="0"/>
              </a:spcAft>
              <a:buNone/>
            </a:pPr>
            <a:r>
              <a:rPr lang="en" sz="1918">
                <a:solidFill>
                  <a:schemeClr val="accent5"/>
                </a:solidFill>
              </a:rPr>
              <a:t>        "avg_height": "Average Height"</a:t>
            </a:r>
            <a:endParaRPr sz="1918">
              <a:solidFill>
                <a:schemeClr val="accent5"/>
              </a:solidFill>
            </a:endParaRPr>
          </a:p>
          <a:p>
            <a:pPr marL="0" lvl="0" indent="0" algn="l" rtl="0">
              <a:lnSpc>
                <a:spcPct val="100000"/>
              </a:lnSpc>
              <a:spcBef>
                <a:spcPts val="0"/>
              </a:spcBef>
              <a:spcAft>
                <a:spcPts val="0"/>
              </a:spcAft>
              <a:buNone/>
            </a:pPr>
            <a:r>
              <a:rPr lang="en" sz="1918">
                <a:solidFill>
                  <a:schemeClr val="accent5"/>
                </a:solidFill>
              </a:rPr>
              <a:t>    }</a:t>
            </a:r>
            <a:endParaRPr sz="1918">
              <a:solidFill>
                <a:schemeClr val="accent5"/>
              </a:solidFill>
            </a:endParaRPr>
          </a:p>
          <a:p>
            <a:pPr marL="0" lvl="0" indent="0" algn="l" rtl="0">
              <a:lnSpc>
                <a:spcPct val="100000"/>
              </a:lnSpc>
              <a:spcBef>
                <a:spcPts val="0"/>
              </a:spcBef>
              <a:spcAft>
                <a:spcPts val="0"/>
              </a:spcAft>
              <a:buNone/>
            </a:pPr>
            <a:r>
              <a:rPr lang="en" sz="1918"/>
              <a:t>)</a:t>
            </a:r>
            <a:endParaRPr sz="1918"/>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In your notebook..</a:t>
            </a:r>
            <a:endParaRPr/>
          </a:p>
        </p:txBody>
      </p:sp>
      <p:sp>
        <p:nvSpPr>
          <p:cNvPr id="110" name="Google Shape;110;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In your notebook, add labels to the graph</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3"/>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dirty="0"/>
              <a:t>Bar charts</a:t>
            </a:r>
            <a:endParaRPr dirty="0"/>
          </a:p>
        </p:txBody>
      </p:sp>
      <p:sp>
        <p:nvSpPr>
          <p:cNvPr id="2" name="Text Placeholder 1">
            <a:extLst>
              <a:ext uri="{FF2B5EF4-FFF2-40B4-BE49-F238E27FC236}">
                <a16:creationId xmlns:a16="http://schemas.microsoft.com/office/drawing/2014/main" id="{D5C07D23-2289-5078-BC6B-8DCE13D2A307}"/>
              </a:ext>
            </a:extLst>
          </p:cNvPr>
          <p:cNvSpPr>
            <a:spLocks noGrp="1"/>
          </p:cNvSpPr>
          <p:nvPr>
            <p:ph type="body" idx="1"/>
          </p:nvPr>
        </p:nvSpPr>
        <p:spPr/>
        <p:txBody>
          <a:bodyPr/>
          <a:lstStyle/>
          <a:p>
            <a:pPr marL="139700" indent="0">
              <a:buNone/>
            </a:pPr>
            <a:r>
              <a:rPr lang="en-GB" sz="1800" dirty="0"/>
              <a:t>Bar charts are used to compare values across different categories or groups. They display data using rectangular bars, where the height (or length) of each bar represents the size or magnitude of the value.</a:t>
            </a:r>
          </a:p>
          <a:p>
            <a:endParaRPr lang="en-GB" dirty="0"/>
          </a:p>
        </p:txBody>
      </p:sp>
      <p:pic>
        <p:nvPicPr>
          <p:cNvPr id="116" name="Google Shape;116;p23"/>
          <p:cNvPicPr preferRelativeResize="0"/>
          <p:nvPr/>
        </p:nvPicPr>
        <p:blipFill>
          <a:blip r:embed="rId3">
            <a:alphaModFix/>
          </a:blip>
          <a:stretch>
            <a:fillRect/>
          </a:stretch>
        </p:blipFill>
        <p:spPr>
          <a:xfrm>
            <a:off x="4572000" y="1152475"/>
            <a:ext cx="4260300" cy="3416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Bar charts</a:t>
            </a:r>
            <a:endParaRPr/>
          </a:p>
        </p:txBody>
      </p:sp>
      <p:sp>
        <p:nvSpPr>
          <p:cNvPr id="122" name="Google Shape;122;p24"/>
          <p:cNvSpPr txBox="1">
            <a:spLocks noGrp="1"/>
          </p:cNvSpPr>
          <p:nvPr>
            <p:ph type="body" idx="1"/>
          </p:nvPr>
        </p:nvSpPr>
        <p:spPr>
          <a:xfrm>
            <a:off x="311700" y="1152475"/>
            <a:ext cx="83337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To make a bar chart, use:</a:t>
            </a:r>
            <a:endParaRPr/>
          </a:p>
          <a:p>
            <a:pPr marL="0" lvl="0" indent="0" algn="l" rtl="0">
              <a:spcBef>
                <a:spcPts val="1200"/>
              </a:spcBef>
              <a:spcAft>
                <a:spcPts val="0"/>
              </a:spcAft>
              <a:buNone/>
            </a:pPr>
            <a:r>
              <a:rPr lang="en"/>
              <a:t>plt.bar()</a:t>
            </a:r>
            <a:endParaRPr/>
          </a:p>
          <a:p>
            <a:pPr marL="0" lvl="0" indent="0" algn="l" rtl="0">
              <a:spcBef>
                <a:spcPts val="1200"/>
              </a:spcBef>
              <a:spcAft>
                <a:spcPts val="0"/>
              </a:spcAft>
              <a:buNone/>
            </a:pPr>
            <a:r>
              <a:rPr lang="en"/>
              <a:t>sns.barplot()</a:t>
            </a:r>
            <a:endParaRPr/>
          </a:p>
          <a:p>
            <a:pPr marL="0" lvl="0" indent="0" algn="l" rtl="0">
              <a:spcBef>
                <a:spcPts val="1200"/>
              </a:spcBef>
              <a:spcAft>
                <a:spcPts val="0"/>
              </a:spcAft>
              <a:buNone/>
            </a:pPr>
            <a:r>
              <a:rPr lang="en"/>
              <a:t>px.bar()</a:t>
            </a:r>
            <a:endParaRPr/>
          </a:p>
          <a:p>
            <a:pPr marL="0" lvl="0" indent="0" algn="l" rtl="0">
              <a:spcBef>
                <a:spcPts val="1200"/>
              </a:spcBef>
              <a:spcAft>
                <a:spcPts val="120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Bar charts</a:t>
            </a:r>
            <a:endParaRPr/>
          </a:p>
        </p:txBody>
      </p:sp>
      <p:sp>
        <p:nvSpPr>
          <p:cNvPr id="128" name="Google Shape;128;p25"/>
          <p:cNvSpPr txBox="1">
            <a:spLocks noGrp="1"/>
          </p:cNvSpPr>
          <p:nvPr>
            <p:ph type="body" idx="1"/>
          </p:nvPr>
        </p:nvSpPr>
        <p:spPr>
          <a:xfrm>
            <a:off x="311700" y="1132050"/>
            <a:ext cx="8333700" cy="3436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Arguments: </a:t>
            </a:r>
            <a:endParaRPr/>
          </a:p>
          <a:p>
            <a:pPr marL="457200" lvl="0" indent="-361950" algn="l" rtl="0">
              <a:spcBef>
                <a:spcPts val="1200"/>
              </a:spcBef>
              <a:spcAft>
                <a:spcPts val="0"/>
              </a:spcAft>
              <a:buSzPts val="2100"/>
              <a:buChar char="-"/>
            </a:pPr>
            <a:r>
              <a:rPr lang="en"/>
              <a:t>In plotly, try adding the color argument. color="choose_a_variable"</a:t>
            </a:r>
            <a:endParaRPr/>
          </a:p>
          <a:p>
            <a:pPr marL="457200" lvl="0" indent="-361950" algn="l" rtl="0">
              <a:spcBef>
                <a:spcPts val="0"/>
              </a:spcBef>
              <a:spcAft>
                <a:spcPts val="0"/>
              </a:spcAft>
              <a:buSzPts val="2100"/>
              <a:buChar char="-"/>
            </a:pPr>
            <a:r>
              <a:rPr lang="en"/>
              <a:t>Do the same in seaborn, except instead of color, call it hue.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Bar charts</a:t>
            </a:r>
            <a:endParaRPr/>
          </a:p>
        </p:txBody>
      </p:sp>
      <p:sp>
        <p:nvSpPr>
          <p:cNvPr id="134" name="Google Shape;134;p26"/>
          <p:cNvSpPr txBox="1">
            <a:spLocks noGrp="1"/>
          </p:cNvSpPr>
          <p:nvPr>
            <p:ph type="body" idx="1"/>
          </p:nvPr>
        </p:nvSpPr>
        <p:spPr>
          <a:xfrm>
            <a:off x="311700" y="1132050"/>
            <a:ext cx="8333700" cy="3436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Arguments: </a:t>
            </a:r>
            <a:endParaRPr/>
          </a:p>
          <a:p>
            <a:pPr marL="457200" lvl="0" indent="-361950" algn="l" rtl="0">
              <a:spcBef>
                <a:spcPts val="1200"/>
              </a:spcBef>
              <a:spcAft>
                <a:spcPts val="0"/>
              </a:spcAft>
              <a:buSzPts val="2100"/>
              <a:buChar char="-"/>
            </a:pPr>
            <a:r>
              <a:rPr lang="en"/>
              <a:t>In plotly, try adding or taking away the argument barmode="group"</a:t>
            </a:r>
            <a:endParaRPr/>
          </a:p>
          <a:p>
            <a:pPr marL="457200" lvl="0" indent="-361950" algn="l" rtl="0">
              <a:spcBef>
                <a:spcPts val="0"/>
              </a:spcBef>
              <a:spcAft>
                <a:spcPts val="0"/>
              </a:spcAft>
              <a:buSzPts val="2100"/>
              <a:buChar char="-"/>
            </a:pPr>
            <a:r>
              <a:rPr lang="en"/>
              <a:t>In seaborn, estimator can be 'median'/'min'/'max'/'mean' - what does that mean?</a:t>
            </a:r>
            <a:endParaRPr/>
          </a:p>
          <a:p>
            <a:pPr marL="457200" lvl="0" indent="-361950" algn="l" rtl="0">
              <a:spcBef>
                <a:spcPts val="0"/>
              </a:spcBef>
              <a:spcAft>
                <a:spcPts val="0"/>
              </a:spcAft>
              <a:buSzPts val="2100"/>
              <a:buChar char="-"/>
            </a:pPr>
            <a:r>
              <a:rPr lang="en"/>
              <a:t>In seaborn, try adding or taking away the errorbar=None argument</a:t>
            </a:r>
            <a:endParaRPr/>
          </a:p>
          <a:p>
            <a:pPr marL="0" lvl="0" indent="0" algn="l" rtl="0">
              <a:spcBef>
                <a:spcPts val="1200"/>
              </a:spcBef>
              <a:spcAft>
                <a:spcPts val="120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7"/>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Histograms</a:t>
            </a:r>
            <a:endParaRPr/>
          </a:p>
        </p:txBody>
      </p:sp>
      <p:sp>
        <p:nvSpPr>
          <p:cNvPr id="2" name="Text Placeholder 1">
            <a:extLst>
              <a:ext uri="{FF2B5EF4-FFF2-40B4-BE49-F238E27FC236}">
                <a16:creationId xmlns:a16="http://schemas.microsoft.com/office/drawing/2014/main" id="{59183FD6-7339-B9F4-E5A4-A4E78385A225}"/>
              </a:ext>
            </a:extLst>
          </p:cNvPr>
          <p:cNvSpPr>
            <a:spLocks noGrp="1"/>
          </p:cNvSpPr>
          <p:nvPr>
            <p:ph type="body" idx="1"/>
          </p:nvPr>
        </p:nvSpPr>
        <p:spPr/>
        <p:txBody>
          <a:bodyPr/>
          <a:lstStyle/>
          <a:p>
            <a:pPr marL="139700" indent="0">
              <a:buNone/>
            </a:pPr>
            <a:r>
              <a:rPr lang="en-GB" sz="1800" dirty="0"/>
              <a:t>A histogram is a type of chart that shows how often values occur in a dataset. It groups the data into intervals (called bins) and displays a bar for each interval, where the height of the bar represents the number of observations in that interval.</a:t>
            </a:r>
          </a:p>
          <a:p>
            <a:endParaRPr lang="en-GB" dirty="0"/>
          </a:p>
        </p:txBody>
      </p:sp>
      <p:pic>
        <p:nvPicPr>
          <p:cNvPr id="141" name="Google Shape;141;p27"/>
          <p:cNvPicPr preferRelativeResize="0"/>
          <p:nvPr/>
        </p:nvPicPr>
        <p:blipFill>
          <a:blip r:embed="rId3">
            <a:alphaModFix/>
          </a:blip>
          <a:stretch>
            <a:fillRect/>
          </a:stretch>
        </p:blipFill>
        <p:spPr>
          <a:xfrm>
            <a:off x="4403040" y="1152475"/>
            <a:ext cx="4583018" cy="335620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498803-BD62-5510-91C6-D67FB46EAF97}"/>
              </a:ext>
            </a:extLst>
          </p:cNvPr>
          <p:cNvSpPr>
            <a:spLocks noGrp="1"/>
          </p:cNvSpPr>
          <p:nvPr>
            <p:ph type="title"/>
          </p:nvPr>
        </p:nvSpPr>
        <p:spPr/>
        <p:txBody>
          <a:bodyPr>
            <a:normAutofit fontScale="90000"/>
          </a:bodyPr>
          <a:lstStyle/>
          <a:p>
            <a:r>
              <a:rPr lang="en-GB" dirty="0"/>
              <a:t>Histograms</a:t>
            </a:r>
          </a:p>
        </p:txBody>
      </p:sp>
      <p:sp>
        <p:nvSpPr>
          <p:cNvPr id="6" name="Text Placeholder 5">
            <a:extLst>
              <a:ext uri="{FF2B5EF4-FFF2-40B4-BE49-F238E27FC236}">
                <a16:creationId xmlns:a16="http://schemas.microsoft.com/office/drawing/2014/main" id="{3D55C728-B56F-8951-E462-A52F2F6CA4C2}"/>
              </a:ext>
            </a:extLst>
          </p:cNvPr>
          <p:cNvSpPr>
            <a:spLocks noGrp="1"/>
          </p:cNvSpPr>
          <p:nvPr>
            <p:ph type="body" idx="1"/>
          </p:nvPr>
        </p:nvSpPr>
        <p:spPr/>
        <p:txBody>
          <a:bodyPr/>
          <a:lstStyle/>
          <a:p>
            <a:pPr marL="95250" indent="0">
              <a:buNone/>
            </a:pPr>
            <a:r>
              <a:rPr lang="en-GB" dirty="0"/>
              <a:t>How is it different from a bar chart? </a:t>
            </a:r>
          </a:p>
          <a:p>
            <a:pPr marL="95250" indent="0">
              <a:buNone/>
            </a:pPr>
            <a:endParaRPr lang="en-GB" dirty="0"/>
          </a:p>
          <a:p>
            <a:pPr marL="95250" indent="0">
              <a:buNone/>
            </a:pPr>
            <a:r>
              <a:rPr lang="en-GB" dirty="0"/>
              <a:t>- Bar chart → compares different categories (like fruits)</a:t>
            </a:r>
          </a:p>
          <a:p>
            <a:pPr marL="95250" indent="0">
              <a:buNone/>
            </a:pPr>
            <a:endParaRPr lang="en-GB" dirty="0"/>
          </a:p>
          <a:p>
            <a:pPr marL="95250" indent="0">
              <a:buNone/>
            </a:pPr>
            <a:r>
              <a:rPr lang="en-GB" dirty="0"/>
              <a:t>- Histogram → shows distribution of a single numeric variable (like ages, test scores, heights)</a:t>
            </a:r>
          </a:p>
          <a:p>
            <a:endParaRPr lang="en-GB" dirty="0"/>
          </a:p>
        </p:txBody>
      </p:sp>
    </p:spTree>
    <p:extLst>
      <p:ext uri="{BB962C8B-B14F-4D97-AF65-F5344CB8AC3E}">
        <p14:creationId xmlns:p14="http://schemas.microsoft.com/office/powerpoint/2010/main" val="39597771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Histograms</a:t>
            </a:r>
            <a:endParaRPr/>
          </a:p>
        </p:txBody>
      </p:sp>
      <p:sp>
        <p:nvSpPr>
          <p:cNvPr id="147" name="Google Shape;147;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plt.hist()</a:t>
            </a:r>
            <a:endParaRPr dirty="0"/>
          </a:p>
          <a:p>
            <a:pPr marL="0" lvl="0" indent="0" algn="l" rtl="0">
              <a:spcBef>
                <a:spcPts val="1200"/>
              </a:spcBef>
              <a:spcAft>
                <a:spcPts val="0"/>
              </a:spcAft>
              <a:buNone/>
            </a:pPr>
            <a:r>
              <a:rPr lang="en" dirty="0"/>
              <a:t>sns.histplot()</a:t>
            </a:r>
            <a:endParaRPr dirty="0"/>
          </a:p>
          <a:p>
            <a:pPr marL="0" lvl="0" indent="0" algn="l" rtl="0">
              <a:spcBef>
                <a:spcPts val="1200"/>
              </a:spcBef>
              <a:spcAft>
                <a:spcPts val="1200"/>
              </a:spcAft>
              <a:buNone/>
            </a:pPr>
            <a:r>
              <a:rPr lang="en" dirty="0"/>
              <a:t>px.histogram()</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Histograms</a:t>
            </a:r>
            <a:endParaRPr/>
          </a:p>
        </p:txBody>
      </p:sp>
      <p:sp>
        <p:nvSpPr>
          <p:cNvPr id="153" name="Google Shape;153;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Arguments - try changing these values and see what happens: </a:t>
            </a:r>
            <a:endParaRPr/>
          </a:p>
          <a:p>
            <a:pPr marL="457200" lvl="0" indent="-361950" algn="l" rtl="0">
              <a:spcBef>
                <a:spcPts val="1200"/>
              </a:spcBef>
              <a:spcAft>
                <a:spcPts val="0"/>
              </a:spcAft>
              <a:buSzPts val="2100"/>
              <a:buChar char="-"/>
            </a:pPr>
            <a:r>
              <a:rPr lang="en"/>
              <a:t>nbins(plotly) or bins(seaborn and matplotlib) </a:t>
            </a:r>
            <a:endParaRPr/>
          </a:p>
          <a:p>
            <a:pPr marL="457200" lvl="0" indent="-361950" algn="l" rtl="0">
              <a:spcBef>
                <a:spcPts val="0"/>
              </a:spcBef>
              <a:spcAft>
                <a:spcPts val="0"/>
              </a:spcAft>
              <a:buSzPts val="2100"/>
              <a:buChar char="-"/>
            </a:pPr>
            <a:r>
              <a:rPr lang="en"/>
              <a:t>hue (sns) or color (px)</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0DD76-5FF9-7303-1BA8-99F16871E673}"/>
              </a:ext>
            </a:extLst>
          </p:cNvPr>
          <p:cNvSpPr>
            <a:spLocks noGrp="1"/>
          </p:cNvSpPr>
          <p:nvPr>
            <p:ph type="title"/>
          </p:nvPr>
        </p:nvSpPr>
        <p:spPr/>
        <p:txBody>
          <a:bodyPr>
            <a:normAutofit fontScale="90000"/>
          </a:bodyPr>
          <a:lstStyle/>
          <a:p>
            <a:r>
              <a:rPr lang="en-GB" b="1" dirty="0"/>
              <a:t>Exporting the Graph</a:t>
            </a:r>
            <a:br>
              <a:rPr lang="en-GB" dirty="0"/>
            </a:br>
            <a:endParaRPr lang="en-GB" dirty="0"/>
          </a:p>
        </p:txBody>
      </p:sp>
      <p:sp>
        <p:nvSpPr>
          <p:cNvPr id="3" name="Text Placeholder 2">
            <a:extLst>
              <a:ext uri="{FF2B5EF4-FFF2-40B4-BE49-F238E27FC236}">
                <a16:creationId xmlns:a16="http://schemas.microsoft.com/office/drawing/2014/main" id="{53781149-4054-2990-9049-67CAA12218D1}"/>
              </a:ext>
            </a:extLst>
          </p:cNvPr>
          <p:cNvSpPr>
            <a:spLocks noGrp="1"/>
          </p:cNvSpPr>
          <p:nvPr>
            <p:ph type="body" idx="1"/>
          </p:nvPr>
        </p:nvSpPr>
        <p:spPr/>
        <p:txBody>
          <a:bodyPr>
            <a:normAutofit/>
          </a:bodyPr>
          <a:lstStyle/>
          <a:p>
            <a:pPr marL="95250" indent="0">
              <a:buNone/>
            </a:pPr>
            <a:r>
              <a:rPr lang="en-GB" dirty="0"/>
              <a:t>When you run </a:t>
            </a:r>
            <a:r>
              <a:rPr lang="en-GB" dirty="0" err="1"/>
              <a:t>plt.show</a:t>
            </a:r>
            <a:r>
              <a:rPr lang="en-GB" dirty="0"/>
              <a:t>() the chart only appears in the notebook or Python window and disappears when you close it. </a:t>
            </a:r>
          </a:p>
          <a:p>
            <a:pPr marL="95250" indent="0">
              <a:buNone/>
            </a:pPr>
            <a:endParaRPr lang="en-GB" dirty="0"/>
          </a:p>
          <a:p>
            <a:pPr marL="95250" indent="0">
              <a:buNone/>
            </a:pPr>
            <a:r>
              <a:rPr lang="en-GB" dirty="0"/>
              <a:t>With </a:t>
            </a:r>
            <a:r>
              <a:rPr lang="en-GB" dirty="0" err="1"/>
              <a:t>plt.savefig</a:t>
            </a:r>
            <a:r>
              <a:rPr lang="en-GB" dirty="0"/>
              <a:t>() you export the chart to a file that you can reuse elsewhere. </a:t>
            </a:r>
          </a:p>
          <a:p>
            <a:pPr marL="95250" indent="0">
              <a:buNone/>
            </a:pPr>
            <a:endParaRPr lang="en-GB" dirty="0"/>
          </a:p>
          <a:p>
            <a:pPr marL="95250" indent="0">
              <a:buNone/>
            </a:pPr>
            <a:r>
              <a:rPr lang="en-GB" dirty="0"/>
              <a:t>Seaborn uses the same </a:t>
            </a:r>
            <a:r>
              <a:rPr lang="en-GB" dirty="0" err="1"/>
              <a:t>plt.savefig</a:t>
            </a:r>
            <a:r>
              <a:rPr lang="en-GB" dirty="0"/>
              <a:t>() </a:t>
            </a:r>
          </a:p>
          <a:p>
            <a:pPr marL="95250" indent="0">
              <a:buNone/>
            </a:pPr>
            <a:endParaRPr lang="en-GB" dirty="0"/>
          </a:p>
        </p:txBody>
      </p:sp>
    </p:spTree>
    <p:extLst>
      <p:ext uri="{BB962C8B-B14F-4D97-AF65-F5344CB8AC3E}">
        <p14:creationId xmlns:p14="http://schemas.microsoft.com/office/powerpoint/2010/main" val="858181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BBD5D-97A0-78D1-F974-5D80C8792C28}"/>
              </a:ext>
            </a:extLst>
          </p:cNvPr>
          <p:cNvSpPr>
            <a:spLocks noGrp="1"/>
          </p:cNvSpPr>
          <p:nvPr>
            <p:ph type="title"/>
          </p:nvPr>
        </p:nvSpPr>
        <p:spPr/>
        <p:txBody>
          <a:bodyPr>
            <a:normAutofit fontScale="90000"/>
          </a:bodyPr>
          <a:lstStyle/>
          <a:p>
            <a:r>
              <a:rPr lang="en-GB" dirty="0"/>
              <a:t>Exporting the Graph</a:t>
            </a:r>
          </a:p>
        </p:txBody>
      </p:sp>
      <p:sp>
        <p:nvSpPr>
          <p:cNvPr id="3" name="Text Placeholder 2">
            <a:extLst>
              <a:ext uri="{FF2B5EF4-FFF2-40B4-BE49-F238E27FC236}">
                <a16:creationId xmlns:a16="http://schemas.microsoft.com/office/drawing/2014/main" id="{BB8DB362-0A53-0A96-1F95-3163C727082D}"/>
              </a:ext>
            </a:extLst>
          </p:cNvPr>
          <p:cNvSpPr>
            <a:spLocks noGrp="1"/>
          </p:cNvSpPr>
          <p:nvPr>
            <p:ph type="body" idx="1"/>
          </p:nvPr>
        </p:nvSpPr>
        <p:spPr/>
        <p:txBody>
          <a:bodyPr/>
          <a:lstStyle/>
          <a:p>
            <a:pPr marL="95250" indent="0">
              <a:buNone/>
            </a:pPr>
            <a:r>
              <a:rPr lang="en-GB" dirty="0" err="1"/>
              <a:t>Plotly</a:t>
            </a:r>
            <a:r>
              <a:rPr lang="en-GB" dirty="0"/>
              <a:t> uses </a:t>
            </a:r>
            <a:r>
              <a:rPr lang="en-GB" dirty="0" err="1"/>
              <a:t>fig.write_image</a:t>
            </a:r>
            <a:r>
              <a:rPr lang="en-GB" dirty="0"/>
              <a:t>(), but you need to install </a:t>
            </a:r>
            <a:r>
              <a:rPr lang="en-GB" dirty="0" err="1"/>
              <a:t>kaleido</a:t>
            </a:r>
            <a:r>
              <a:rPr lang="en-GB" dirty="0"/>
              <a:t> library first or it won’t work.</a:t>
            </a:r>
          </a:p>
          <a:p>
            <a:pPr marL="95250" indent="0">
              <a:buNone/>
            </a:pPr>
            <a:endParaRPr lang="en-GB" dirty="0"/>
          </a:p>
          <a:p>
            <a:pPr marL="95250" indent="0">
              <a:buNone/>
            </a:pPr>
            <a:r>
              <a:rPr lang="en-GB" dirty="0"/>
              <a:t>pip install </a:t>
            </a:r>
            <a:r>
              <a:rPr lang="en-GB" dirty="0" err="1"/>
              <a:t>kaleido</a:t>
            </a:r>
            <a:endParaRPr lang="en-GB" dirty="0"/>
          </a:p>
          <a:p>
            <a:endParaRPr lang="en-GB" dirty="0"/>
          </a:p>
          <a:p>
            <a:pPr marL="95250" indent="0">
              <a:buNone/>
            </a:pPr>
            <a:r>
              <a:rPr lang="en-GB" dirty="0"/>
              <a:t>Or if you want to keep interactivity:</a:t>
            </a:r>
          </a:p>
          <a:p>
            <a:pPr marL="95250" indent="0">
              <a:buNone/>
            </a:pPr>
            <a:r>
              <a:rPr lang="en-GB" dirty="0" err="1"/>
              <a:t>fig.write_html</a:t>
            </a:r>
            <a:r>
              <a:rPr lang="en-GB" dirty="0"/>
              <a:t>()</a:t>
            </a:r>
          </a:p>
        </p:txBody>
      </p:sp>
    </p:spTree>
    <p:extLst>
      <p:ext uri="{BB962C8B-B14F-4D97-AF65-F5344CB8AC3E}">
        <p14:creationId xmlns:p14="http://schemas.microsoft.com/office/powerpoint/2010/main" val="33244488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64DF9-69BF-7753-5231-4FFFB689255E}"/>
              </a:ext>
            </a:extLst>
          </p:cNvPr>
          <p:cNvSpPr>
            <a:spLocks noGrp="1"/>
          </p:cNvSpPr>
          <p:nvPr>
            <p:ph type="title"/>
          </p:nvPr>
        </p:nvSpPr>
        <p:spPr/>
        <p:txBody>
          <a:bodyPr>
            <a:normAutofit fontScale="90000"/>
          </a:bodyPr>
          <a:lstStyle/>
          <a:p>
            <a:r>
              <a:rPr lang="en-GB" dirty="0"/>
              <a:t>Exporting the Graph</a:t>
            </a:r>
          </a:p>
        </p:txBody>
      </p:sp>
      <p:sp>
        <p:nvSpPr>
          <p:cNvPr id="3" name="Text Placeholder 2">
            <a:extLst>
              <a:ext uri="{FF2B5EF4-FFF2-40B4-BE49-F238E27FC236}">
                <a16:creationId xmlns:a16="http://schemas.microsoft.com/office/drawing/2014/main" id="{C8D6FA7B-B4C8-9C42-BA27-BD5C7CF07B79}"/>
              </a:ext>
            </a:extLst>
          </p:cNvPr>
          <p:cNvSpPr>
            <a:spLocks noGrp="1"/>
          </p:cNvSpPr>
          <p:nvPr>
            <p:ph type="body" idx="1"/>
          </p:nvPr>
        </p:nvSpPr>
        <p:spPr/>
        <p:txBody>
          <a:bodyPr>
            <a:normAutofit fontScale="92500" lnSpcReduction="20000"/>
          </a:bodyPr>
          <a:lstStyle/>
          <a:p>
            <a:pPr marL="95250" indent="0">
              <a:buNone/>
            </a:pPr>
            <a:r>
              <a:rPr lang="en-GB" dirty="0"/>
              <a:t>Common file formats you can save:</a:t>
            </a:r>
          </a:p>
          <a:p>
            <a:pPr marL="95250" indent="0">
              <a:buNone/>
            </a:pPr>
            <a:endParaRPr lang="en-GB" dirty="0"/>
          </a:p>
          <a:p>
            <a:pPr marL="95250" indent="0">
              <a:buNone/>
            </a:pPr>
            <a:r>
              <a:rPr lang="en-GB" dirty="0" err="1"/>
              <a:t>plt.savefig</a:t>
            </a:r>
            <a:r>
              <a:rPr lang="en-GB" dirty="0"/>
              <a:t>("chart.png")   # most common</a:t>
            </a:r>
          </a:p>
          <a:p>
            <a:pPr marL="95250" indent="0">
              <a:buNone/>
            </a:pPr>
            <a:r>
              <a:rPr lang="en-GB" dirty="0" err="1"/>
              <a:t>plt.savefig</a:t>
            </a:r>
            <a:r>
              <a:rPr lang="en-GB" dirty="0"/>
              <a:t>("chart.jpg")</a:t>
            </a:r>
          </a:p>
          <a:p>
            <a:pPr marL="95250" indent="0">
              <a:buNone/>
            </a:pPr>
            <a:r>
              <a:rPr lang="en-GB" dirty="0" err="1"/>
              <a:t>plt.savefig</a:t>
            </a:r>
            <a:r>
              <a:rPr lang="en-GB" dirty="0"/>
              <a:t>("chart.pdf")   # great for reports</a:t>
            </a:r>
          </a:p>
          <a:p>
            <a:pPr marL="95250" indent="0">
              <a:buNone/>
            </a:pPr>
            <a:r>
              <a:rPr lang="en-GB" dirty="0" err="1"/>
              <a:t>plt.savefig</a:t>
            </a:r>
            <a:r>
              <a:rPr lang="en-GB" dirty="0"/>
              <a:t>("</a:t>
            </a:r>
            <a:r>
              <a:rPr lang="en-GB" dirty="0" err="1"/>
              <a:t>chart.svg</a:t>
            </a:r>
            <a:r>
              <a:rPr lang="en-GB" dirty="0"/>
              <a:t>")   # scalable graphics</a:t>
            </a:r>
          </a:p>
          <a:p>
            <a:pPr marL="95250" indent="0">
              <a:buNone/>
            </a:pPr>
            <a:br>
              <a:rPr lang="en-GB" dirty="0"/>
            </a:br>
            <a:endParaRPr lang="en-GB" dirty="0"/>
          </a:p>
          <a:p>
            <a:pPr marL="95250" indent="0">
              <a:buNone/>
            </a:pPr>
            <a:r>
              <a:rPr lang="en-GB" dirty="0"/>
              <a:t>If you need it in high resolution (e.g. for reports or printing) you should also add a dpi (dots per inch) value of 300:</a:t>
            </a:r>
          </a:p>
          <a:p>
            <a:pPr marL="95250" indent="0">
              <a:buNone/>
            </a:pPr>
            <a:r>
              <a:rPr lang="en-GB" dirty="0" err="1"/>
              <a:t>plt.savefig</a:t>
            </a:r>
            <a:r>
              <a:rPr lang="en-GB" dirty="0"/>
              <a:t>("chart.png", dpi=300)</a:t>
            </a:r>
          </a:p>
          <a:p>
            <a:endParaRPr lang="en-GB" dirty="0"/>
          </a:p>
        </p:txBody>
      </p:sp>
    </p:spTree>
    <p:extLst>
      <p:ext uri="{BB962C8B-B14F-4D97-AF65-F5344CB8AC3E}">
        <p14:creationId xmlns:p14="http://schemas.microsoft.com/office/powerpoint/2010/main" val="21499596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HOMEWORK</a:t>
            </a:r>
            <a:endParaRPr/>
          </a:p>
        </p:txBody>
      </p:sp>
      <p:sp>
        <p:nvSpPr>
          <p:cNvPr id="159" name="Google Shape;159;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indent="0">
              <a:spcAft>
                <a:spcPts val="1200"/>
              </a:spcAft>
              <a:buNone/>
            </a:pPr>
            <a:r>
              <a:rPr lang="en" dirty="0"/>
              <a:t>Create 3 visuals using matplotlib, </a:t>
            </a:r>
            <a:r>
              <a:rPr lang="en-GB" dirty="0"/>
              <a:t>- choose whatever visuals you like, get creative with your datasets </a:t>
            </a:r>
          </a:p>
          <a:p>
            <a:pPr marL="0" lvl="0" indent="0" algn="l" rtl="0">
              <a:spcBef>
                <a:spcPts val="0"/>
              </a:spcBef>
              <a:spcAft>
                <a:spcPts val="1200"/>
              </a:spcAft>
              <a:buNone/>
            </a:pPr>
            <a:endParaRPr dirty="0"/>
          </a:p>
        </p:txBody>
      </p:sp>
      <p:pic>
        <p:nvPicPr>
          <p:cNvPr id="3" name="Graphic 2" descr="Artificial Intelligence outline">
            <a:extLst>
              <a:ext uri="{FF2B5EF4-FFF2-40B4-BE49-F238E27FC236}">
                <a16:creationId xmlns:a16="http://schemas.microsoft.com/office/drawing/2014/main" id="{12E6361D-B3E7-C40D-8446-028C0F97FF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17198" y="2794173"/>
            <a:ext cx="1305098" cy="1305098"/>
          </a:xfrm>
          <a:prstGeom prst="rect">
            <a:avLst/>
          </a:prstGeom>
        </p:spPr>
      </p:pic>
      <p:pic>
        <p:nvPicPr>
          <p:cNvPr id="5" name="Graphic 4" descr="Artist female with solid fill">
            <a:extLst>
              <a:ext uri="{FF2B5EF4-FFF2-40B4-BE49-F238E27FC236}">
                <a16:creationId xmlns:a16="http://schemas.microsoft.com/office/drawing/2014/main" id="{D552B263-F59D-B372-3611-EC6CCE0FF0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79648" y="2727947"/>
            <a:ext cx="1437550" cy="143755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Resources</a:t>
            </a:r>
            <a:endParaRPr/>
          </a:p>
        </p:txBody>
      </p:sp>
      <p:sp>
        <p:nvSpPr>
          <p:cNvPr id="165" name="Google Shape;165;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hlinkClick r:id="rId3"/>
              </a:rPr>
              <a:t>Matplotlib Docs</a:t>
            </a:r>
            <a:endParaRPr dirty="0"/>
          </a:p>
          <a:p>
            <a:pPr marL="0" lvl="0" indent="0" algn="l" rtl="0">
              <a:spcBef>
                <a:spcPts val="1200"/>
              </a:spcBef>
              <a:spcAft>
                <a:spcPts val="1200"/>
              </a:spcAft>
              <a:buNone/>
            </a:pPr>
            <a:r>
              <a:rPr lang="en" dirty="0">
                <a:hlinkClick r:id="rId4"/>
              </a:rPr>
              <a:t>DataCamp Intro to Plotting</a:t>
            </a:r>
            <a:endParaRPr lang="en" dirty="0"/>
          </a:p>
          <a:p>
            <a:pPr marL="0" lvl="0" indent="0">
              <a:spcBef>
                <a:spcPts val="1200"/>
              </a:spcBef>
              <a:spcAft>
                <a:spcPts val="1200"/>
              </a:spcAft>
              <a:buNone/>
            </a:pPr>
            <a:r>
              <a:rPr lang="en-GB" dirty="0">
                <a:hlinkClick r:id="rId5"/>
              </a:rPr>
              <a:t>Data Visualization using Matplotlib in Python – </a:t>
            </a:r>
            <a:r>
              <a:rPr lang="en-GB" dirty="0" err="1">
                <a:hlinkClick r:id="rId5"/>
              </a:rPr>
              <a:t>GeeksforGeeks</a:t>
            </a:r>
            <a:endParaRPr lang="en-GB" dirty="0"/>
          </a:p>
          <a:p>
            <a:pPr marL="0" lvl="0" indent="0">
              <a:spcBef>
                <a:spcPts val="1200"/>
              </a:spcBef>
              <a:spcAft>
                <a:spcPts val="1200"/>
              </a:spcAft>
              <a:buNone/>
            </a:pPr>
            <a:r>
              <a:rPr lang="en-GB" dirty="0">
                <a:hlinkClick r:id="rId6"/>
              </a:rPr>
              <a:t>W3Schools Matplotlib Tutorial</a:t>
            </a:r>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2"/>
          <p:cNvSpPr txBox="1">
            <a:spLocks noGrp="1"/>
          </p:cNvSpPr>
          <p:nvPr>
            <p:ph type="title"/>
          </p:nvPr>
        </p:nvSpPr>
        <p:spPr>
          <a:xfrm>
            <a:off x="311700" y="1472600"/>
            <a:ext cx="8520600" cy="22077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a:t>Class 2</a:t>
            </a:r>
            <a:endParaRPr/>
          </a:p>
          <a:p>
            <a:pPr marL="457200" lvl="0" indent="-434340" algn="ctr" rtl="0">
              <a:spcBef>
                <a:spcPts val="0"/>
              </a:spcBef>
              <a:spcAft>
                <a:spcPts val="0"/>
              </a:spcAft>
              <a:buSzPct val="100000"/>
              <a:buChar char="-"/>
            </a:pPr>
            <a:r>
              <a:rPr lang="en"/>
              <a:t>Scatterplots, heatmaps, pairplots</a:t>
            </a:r>
            <a:endParaRPr/>
          </a:p>
          <a:p>
            <a:pPr marL="457200" lvl="0" indent="-434340" algn="ctr" rtl="0">
              <a:spcBef>
                <a:spcPts val="0"/>
              </a:spcBef>
              <a:spcAft>
                <a:spcPts val="0"/>
              </a:spcAft>
              <a:buSzPct val="100000"/>
              <a:buChar char="-"/>
            </a:pPr>
            <a:r>
              <a:rPr lang="en"/>
              <a:t>Explore relationships</a:t>
            </a:r>
            <a:endParaRPr/>
          </a:p>
          <a:p>
            <a:pPr marL="457200" lvl="0" indent="-434340" algn="ctr" rtl="0">
              <a:spcBef>
                <a:spcPts val="0"/>
              </a:spcBef>
              <a:spcAft>
                <a:spcPts val="0"/>
              </a:spcAft>
              <a:buSzPct val="100000"/>
              <a:buChar char="-"/>
            </a:pPr>
            <a:r>
              <a:rPr lang="en"/>
              <a:t>Add color and style to plots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dirty="0"/>
              <a:t>Scatter plots</a:t>
            </a:r>
            <a:endParaRPr dirty="0"/>
          </a:p>
        </p:txBody>
      </p:sp>
      <p:pic>
        <p:nvPicPr>
          <p:cNvPr id="176" name="Google Shape;176;p33"/>
          <p:cNvPicPr preferRelativeResize="0"/>
          <p:nvPr/>
        </p:nvPicPr>
        <p:blipFill>
          <a:blip r:embed="rId3">
            <a:alphaModFix/>
          </a:blip>
          <a:stretch>
            <a:fillRect/>
          </a:stretch>
        </p:blipFill>
        <p:spPr>
          <a:xfrm>
            <a:off x="4438955" y="1166467"/>
            <a:ext cx="4393345" cy="3402408"/>
          </a:xfrm>
          <a:prstGeom prst="rect">
            <a:avLst/>
          </a:prstGeom>
          <a:noFill/>
          <a:ln>
            <a:noFill/>
          </a:ln>
        </p:spPr>
      </p:pic>
      <p:sp>
        <p:nvSpPr>
          <p:cNvPr id="4" name="Text Placeholder 1">
            <a:extLst>
              <a:ext uri="{FF2B5EF4-FFF2-40B4-BE49-F238E27FC236}">
                <a16:creationId xmlns:a16="http://schemas.microsoft.com/office/drawing/2014/main" id="{C8485027-3191-AA63-74C5-AD73CA97153B}"/>
              </a:ext>
            </a:extLst>
          </p:cNvPr>
          <p:cNvSpPr>
            <a:spLocks noGrp="1"/>
          </p:cNvSpPr>
          <p:nvPr>
            <p:ph type="body" idx="1"/>
          </p:nvPr>
        </p:nvSpPr>
        <p:spPr>
          <a:xfrm>
            <a:off x="311700" y="1152475"/>
            <a:ext cx="3999900" cy="3416400"/>
          </a:xfrm>
        </p:spPr>
        <p:txBody>
          <a:bodyPr>
            <a:normAutofit fontScale="92500" lnSpcReduction="10000"/>
          </a:bodyPr>
          <a:lstStyle/>
          <a:p>
            <a:pPr marL="139700" indent="0">
              <a:buNone/>
            </a:pPr>
            <a:r>
              <a:rPr lang="en-GB" sz="1800" dirty="0"/>
              <a:t>A </a:t>
            </a:r>
            <a:r>
              <a:rPr lang="en-GB" dirty="0"/>
              <a:t>uses dots to represent values for two different numeric variables.  Scatter plots’ primary uses are to observe and show relationships between two numeric variables. The dots in a scatter plot not only report the values of individual data points, but also patterns when the data are taken as a whole.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4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Scatterplot relationship</a:t>
            </a:r>
            <a:endParaRPr/>
          </a:p>
        </p:txBody>
      </p:sp>
      <p:sp>
        <p:nvSpPr>
          <p:cNvPr id="239" name="Google Shape;239;p4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According to this image, what can you infer about weight and cost?</a:t>
            </a:r>
            <a:endParaRPr/>
          </a:p>
          <a:p>
            <a:pPr marL="0" lvl="0" indent="0" algn="l" rtl="0">
              <a:spcBef>
                <a:spcPts val="1200"/>
              </a:spcBef>
              <a:spcAft>
                <a:spcPts val="1200"/>
              </a:spcAft>
              <a:buNone/>
            </a:pPr>
            <a:endParaRPr/>
          </a:p>
        </p:txBody>
      </p:sp>
      <p:pic>
        <p:nvPicPr>
          <p:cNvPr id="240" name="Google Shape;240;p43"/>
          <p:cNvPicPr preferRelativeResize="0"/>
          <p:nvPr/>
        </p:nvPicPr>
        <p:blipFill>
          <a:blip r:embed="rId3">
            <a:alphaModFix/>
          </a:blip>
          <a:stretch>
            <a:fillRect/>
          </a:stretch>
        </p:blipFill>
        <p:spPr>
          <a:xfrm>
            <a:off x="2385225" y="1773756"/>
            <a:ext cx="4373550" cy="30729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Scatterplot relationship</a:t>
            </a:r>
            <a:endParaRPr/>
          </a:p>
        </p:txBody>
      </p:sp>
      <p:sp>
        <p:nvSpPr>
          <p:cNvPr id="246" name="Google Shape;246;p44"/>
          <p:cNvSpPr txBox="1">
            <a:spLocks noGrp="1"/>
          </p:cNvSpPr>
          <p:nvPr>
            <p:ph type="body" idx="1"/>
          </p:nvPr>
        </p:nvSpPr>
        <p:spPr>
          <a:xfrm>
            <a:off x="4746575" y="1152475"/>
            <a:ext cx="4086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Weight and cost are positively correlated - as weight goes up, so does cost. </a:t>
            </a:r>
            <a:endParaRPr/>
          </a:p>
          <a:p>
            <a:pPr marL="0" lvl="0" indent="0" algn="l" rtl="0">
              <a:spcBef>
                <a:spcPts val="1200"/>
              </a:spcBef>
              <a:spcAft>
                <a:spcPts val="1200"/>
              </a:spcAft>
              <a:buNone/>
            </a:pPr>
            <a:endParaRPr/>
          </a:p>
        </p:txBody>
      </p:sp>
      <p:pic>
        <p:nvPicPr>
          <p:cNvPr id="247" name="Google Shape;247;p44"/>
          <p:cNvPicPr preferRelativeResize="0"/>
          <p:nvPr/>
        </p:nvPicPr>
        <p:blipFill>
          <a:blip r:embed="rId3">
            <a:alphaModFix/>
          </a:blip>
          <a:stretch>
            <a:fillRect/>
          </a:stretch>
        </p:blipFill>
        <p:spPr>
          <a:xfrm>
            <a:off x="581890" y="1324190"/>
            <a:ext cx="3990109" cy="300674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4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Scatterplot relationship</a:t>
            </a:r>
            <a:endParaRPr/>
          </a:p>
        </p:txBody>
      </p:sp>
      <p:pic>
        <p:nvPicPr>
          <p:cNvPr id="254" name="Google Shape;254;p45"/>
          <p:cNvPicPr preferRelativeResize="0"/>
          <p:nvPr/>
        </p:nvPicPr>
        <p:blipFill>
          <a:blip r:embed="rId3">
            <a:alphaModFix/>
          </a:blip>
          <a:stretch>
            <a:fillRect/>
          </a:stretch>
        </p:blipFill>
        <p:spPr>
          <a:xfrm>
            <a:off x="1252749" y="1017725"/>
            <a:ext cx="6382674" cy="391920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Scatter plots</a:t>
            </a:r>
            <a:endParaRPr/>
          </a:p>
        </p:txBody>
      </p:sp>
      <p:sp>
        <p:nvSpPr>
          <p:cNvPr id="182" name="Google Shape;182;p3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buNone/>
            </a:pPr>
            <a:r>
              <a:rPr lang="en" dirty="0"/>
              <a:t>plt.scatter(data=…, x=’…’, y=’…’)</a:t>
            </a:r>
            <a:endParaRPr dirty="0"/>
          </a:p>
          <a:p>
            <a:pPr marL="0" lvl="0" indent="0">
              <a:spcBef>
                <a:spcPts val="1200"/>
              </a:spcBef>
              <a:buNone/>
            </a:pPr>
            <a:r>
              <a:rPr lang="en" dirty="0"/>
              <a:t>sns.scatterplot(data=…, x=’…’, y=’…’)</a:t>
            </a:r>
            <a:endParaRPr dirty="0"/>
          </a:p>
          <a:p>
            <a:pPr marL="0" lvl="0" indent="0">
              <a:spcBef>
                <a:spcPts val="1200"/>
              </a:spcBef>
              <a:spcAft>
                <a:spcPts val="1200"/>
              </a:spcAft>
              <a:buNone/>
            </a:pPr>
            <a:r>
              <a:rPr lang="en" dirty="0"/>
              <a:t>px.scatter(data, x=”…”, y=”…”)</a:t>
            </a:r>
            <a:endParaRP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Plot arguments</a:t>
            </a:r>
            <a:endParaRPr/>
          </a:p>
        </p:txBody>
      </p:sp>
      <p:sp>
        <p:nvSpPr>
          <p:cNvPr id="188" name="Google Shape;188;p3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61950" algn="l" rtl="0">
              <a:spcBef>
                <a:spcPts val="0"/>
              </a:spcBef>
              <a:spcAft>
                <a:spcPts val="0"/>
              </a:spcAft>
              <a:buSzPts val="2100"/>
              <a:buChar char="-"/>
            </a:pPr>
            <a:r>
              <a:rPr lang="en" dirty="0"/>
              <a:t>Optional arguments: </a:t>
            </a:r>
          </a:p>
          <a:p>
            <a:pPr lvl="1" indent="-361950">
              <a:buSzPts val="2100"/>
              <a:buChar char="-"/>
            </a:pPr>
            <a:r>
              <a:rPr lang="en" dirty="0"/>
              <a:t>hue(sns) - </a:t>
            </a:r>
            <a:r>
              <a:rPr lang="en-GB" dirty="0"/>
              <a:t>adds colour grouping based on a category</a:t>
            </a:r>
            <a:endParaRPr lang="en" dirty="0"/>
          </a:p>
          <a:p>
            <a:pPr lvl="1" indent="-361950">
              <a:buSzPts val="2100"/>
              <a:buChar char="-"/>
            </a:pPr>
            <a:r>
              <a:rPr lang="en" dirty="0"/>
              <a:t>color(plotly) - </a:t>
            </a:r>
            <a:r>
              <a:rPr lang="en-GB" dirty="0"/>
              <a:t>controls the colour of the plot</a:t>
            </a:r>
            <a:endParaRPr lang="en" dirty="0"/>
          </a:p>
          <a:p>
            <a:pPr lvl="1" indent="-361950">
              <a:buSzPts val="2100"/>
              <a:buChar char="-"/>
            </a:pPr>
            <a:r>
              <a:rPr lang="en" dirty="0"/>
              <a:t>s - </a:t>
            </a:r>
            <a:r>
              <a:rPr lang="en-GB" dirty="0"/>
              <a:t>controls the size of points</a:t>
            </a:r>
            <a:endParaRPr lang="en" dirty="0"/>
          </a:p>
          <a:p>
            <a:pPr lvl="1" indent="-361950">
              <a:buSzPts val="2100"/>
              <a:buChar char="-"/>
            </a:pPr>
            <a:r>
              <a:rPr lang="en-GB" dirty="0"/>
              <a:t>A</a:t>
            </a:r>
            <a:r>
              <a:rPr lang="en" dirty="0"/>
              <a:t>lpha - </a:t>
            </a:r>
            <a:r>
              <a:rPr lang="en-GB" dirty="0"/>
              <a:t>opacity (transparency) (alpha = 1 - fully solid, alpha = 0 – invisible, alpha = 0.3 → semi-transparent)</a:t>
            </a:r>
            <a:endParaRPr dirty="0"/>
          </a:p>
          <a:p>
            <a:pPr marL="457200" lvl="0" indent="-361950" algn="l" rtl="0">
              <a:spcBef>
                <a:spcPts val="0"/>
              </a:spcBef>
              <a:spcAft>
                <a:spcPts val="0"/>
              </a:spcAft>
              <a:buSzPts val="2100"/>
              <a:buChar char="-"/>
            </a:pPr>
            <a:r>
              <a:rPr lang="en" dirty="0"/>
              <a:t>Argument in plotly: hover_data=["variable1", "variable2"] </a:t>
            </a:r>
            <a:endParaRPr dirty="0"/>
          </a:p>
          <a:p>
            <a:pPr marL="0" lvl="0" indent="0" algn="l" rtl="0">
              <a:spcBef>
                <a:spcPts val="1200"/>
              </a:spcBef>
              <a:spcAft>
                <a:spcPts val="0"/>
              </a:spcAft>
              <a:buNone/>
            </a:pPr>
            <a:r>
              <a:rPr lang="en" dirty="0"/>
              <a:t>Try changing the optional arguments around in your notebook to figure out what they do. </a:t>
            </a:r>
            <a:endParaRPr dirty="0"/>
          </a:p>
          <a:p>
            <a:pPr marL="0" lvl="0" indent="0" algn="l" rtl="0">
              <a:spcBef>
                <a:spcPts val="1200"/>
              </a:spcBef>
              <a:spcAft>
                <a:spcPts val="1200"/>
              </a:spcAft>
              <a:buNone/>
            </a:pPr>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dirty="0"/>
              <a:t>Heatmaps</a:t>
            </a:r>
            <a:endParaRPr dirty="0"/>
          </a:p>
        </p:txBody>
      </p:sp>
      <p:sp>
        <p:nvSpPr>
          <p:cNvPr id="194" name="Google Shape;194;p36"/>
          <p:cNvSpPr txBox="1">
            <a:spLocks noGrp="1"/>
          </p:cNvSpPr>
          <p:nvPr>
            <p:ph type="body" idx="1"/>
          </p:nvPr>
        </p:nvSpPr>
        <p:spPr>
          <a:xfrm>
            <a:off x="311700" y="1152475"/>
            <a:ext cx="3462278" cy="3546000"/>
          </a:xfrm>
          <a:prstGeom prst="rect">
            <a:avLst/>
          </a:prstGeom>
        </p:spPr>
        <p:txBody>
          <a:bodyPr spcFirstLastPara="1" wrap="square" lIns="91425" tIns="91425" rIns="91425" bIns="91425" anchor="t" anchorCtr="0">
            <a:normAutofit fontScale="92500" lnSpcReduction="20000"/>
          </a:bodyPr>
          <a:lstStyle/>
          <a:p>
            <a:pPr marL="0" lvl="0" indent="0">
              <a:spcAft>
                <a:spcPts val="1200"/>
              </a:spcAft>
              <a:buNone/>
            </a:pPr>
            <a:r>
              <a:rPr lang="en-GB" sz="1800" dirty="0"/>
              <a:t>Use heatmaps to visualize complex datasets, identify patterns, or detect hotspots across two dimensions using colour intensity. They are best for spotting trends in large datasets, optimizing website user experience (UX) via click/scroll behaviour, analysing spatial data, and identifying outliers. Heatmaps turn dense numerical data into intuitive visual insights.</a:t>
            </a:r>
            <a:endParaRPr sz="1800" dirty="0"/>
          </a:p>
        </p:txBody>
      </p:sp>
      <p:pic>
        <p:nvPicPr>
          <p:cNvPr id="195" name="Google Shape;195;p36"/>
          <p:cNvPicPr preferRelativeResize="0"/>
          <p:nvPr/>
        </p:nvPicPr>
        <p:blipFill>
          <a:blip r:embed="rId3">
            <a:alphaModFix/>
          </a:blip>
          <a:stretch>
            <a:fillRect/>
          </a:stretch>
        </p:blipFill>
        <p:spPr>
          <a:xfrm>
            <a:off x="4216340" y="1085575"/>
            <a:ext cx="4447176" cy="36129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Heatmaps</a:t>
            </a:r>
            <a:endParaRPr/>
          </a:p>
        </p:txBody>
      </p:sp>
      <p:sp>
        <p:nvSpPr>
          <p:cNvPr id="207" name="Google Shape;207;p3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What do you think the numbers and colors in the chart represent?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Heatmaps</a:t>
            </a:r>
            <a:endParaRPr/>
          </a:p>
        </p:txBody>
      </p:sp>
      <p:sp>
        <p:nvSpPr>
          <p:cNvPr id="213" name="Google Shape;213;p39"/>
          <p:cNvSpPr txBox="1">
            <a:spLocks noGrp="1"/>
          </p:cNvSpPr>
          <p:nvPr>
            <p:ph type="body" idx="1"/>
          </p:nvPr>
        </p:nvSpPr>
        <p:spPr>
          <a:xfrm>
            <a:off x="4957950" y="1152475"/>
            <a:ext cx="38742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1 is perfect correlation. </a:t>
            </a:r>
            <a:endParaRPr/>
          </a:p>
          <a:p>
            <a:pPr marL="0" lvl="0" indent="0" algn="l" rtl="0">
              <a:spcBef>
                <a:spcPts val="1200"/>
              </a:spcBef>
              <a:spcAft>
                <a:spcPts val="0"/>
              </a:spcAft>
              <a:buNone/>
            </a:pPr>
            <a:r>
              <a:rPr lang="en"/>
              <a:t>Values closer to 0 show no correlation</a:t>
            </a:r>
            <a:endParaRPr/>
          </a:p>
          <a:p>
            <a:pPr marL="0" lvl="0" indent="0" algn="l" rtl="0">
              <a:spcBef>
                <a:spcPts val="1200"/>
              </a:spcBef>
              <a:spcAft>
                <a:spcPts val="0"/>
              </a:spcAft>
              <a:buNone/>
            </a:pPr>
            <a:r>
              <a:rPr lang="en"/>
              <a:t>Values closer to -1 show negative correlation</a:t>
            </a:r>
            <a:endParaRPr/>
          </a:p>
          <a:p>
            <a:pPr marL="0" lvl="0" indent="0" algn="l" rtl="0">
              <a:spcBef>
                <a:spcPts val="1200"/>
              </a:spcBef>
              <a:spcAft>
                <a:spcPts val="1200"/>
              </a:spcAft>
              <a:buNone/>
            </a:pPr>
            <a:r>
              <a:rPr lang="en"/>
              <a:t>Values closer to 1 show positive correlation</a:t>
            </a:r>
            <a:endParaRPr/>
          </a:p>
        </p:txBody>
      </p:sp>
      <p:pic>
        <p:nvPicPr>
          <p:cNvPr id="214" name="Google Shape;214;p39"/>
          <p:cNvPicPr preferRelativeResize="0"/>
          <p:nvPr/>
        </p:nvPicPr>
        <p:blipFill>
          <a:blip r:embed="rId3">
            <a:alphaModFix/>
          </a:blip>
          <a:stretch>
            <a:fillRect/>
          </a:stretch>
        </p:blipFill>
        <p:spPr>
          <a:xfrm>
            <a:off x="401622" y="1152475"/>
            <a:ext cx="4447176" cy="36129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Heatmap relationship</a:t>
            </a:r>
            <a:endParaRPr/>
          </a:p>
        </p:txBody>
      </p:sp>
      <p:sp>
        <p:nvSpPr>
          <p:cNvPr id="260" name="Google Shape;260;p46"/>
          <p:cNvSpPr txBox="1">
            <a:spLocks noGrp="1"/>
          </p:cNvSpPr>
          <p:nvPr>
            <p:ph type="body" idx="1"/>
          </p:nvPr>
        </p:nvSpPr>
        <p:spPr>
          <a:xfrm>
            <a:off x="3948050" y="1152475"/>
            <a:ext cx="48843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dirty="0"/>
              <a:t>According to this graph, which two variables are the most negatively correlated?</a:t>
            </a:r>
            <a:endParaRPr dirty="0"/>
          </a:p>
        </p:txBody>
      </p:sp>
      <p:pic>
        <p:nvPicPr>
          <p:cNvPr id="261" name="Google Shape;261;p46"/>
          <p:cNvPicPr preferRelativeResize="0"/>
          <p:nvPr/>
        </p:nvPicPr>
        <p:blipFill>
          <a:blip r:embed="rId3">
            <a:alphaModFix/>
          </a:blip>
          <a:stretch>
            <a:fillRect/>
          </a:stretch>
        </p:blipFill>
        <p:spPr>
          <a:xfrm>
            <a:off x="203550" y="1152475"/>
            <a:ext cx="3661350" cy="36613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Heatmap relationship</a:t>
            </a:r>
            <a:endParaRPr/>
          </a:p>
        </p:txBody>
      </p:sp>
      <p:sp>
        <p:nvSpPr>
          <p:cNvPr id="267" name="Google Shape;267;p47"/>
          <p:cNvSpPr txBox="1">
            <a:spLocks noGrp="1"/>
          </p:cNvSpPr>
          <p:nvPr>
            <p:ph type="body" idx="1"/>
          </p:nvPr>
        </p:nvSpPr>
        <p:spPr>
          <a:xfrm>
            <a:off x="3948050" y="1152475"/>
            <a:ext cx="48843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According to this graph, which two variables are the most negatively correlated?</a:t>
            </a:r>
            <a:endParaRPr/>
          </a:p>
          <a:p>
            <a:pPr marL="0" lvl="0" indent="0" algn="l" rtl="0">
              <a:spcBef>
                <a:spcPts val="1200"/>
              </a:spcBef>
              <a:spcAft>
                <a:spcPts val="1200"/>
              </a:spcAft>
              <a:buNone/>
            </a:pPr>
            <a:r>
              <a:rPr lang="en"/>
              <a:t>Mpg and wt </a:t>
            </a:r>
            <a:endParaRPr/>
          </a:p>
        </p:txBody>
      </p:sp>
      <p:pic>
        <p:nvPicPr>
          <p:cNvPr id="268" name="Google Shape;268;p47"/>
          <p:cNvPicPr preferRelativeResize="0"/>
          <p:nvPr/>
        </p:nvPicPr>
        <p:blipFill>
          <a:blip r:embed="rId3">
            <a:alphaModFix/>
          </a:blip>
          <a:stretch>
            <a:fillRect/>
          </a:stretch>
        </p:blipFill>
        <p:spPr>
          <a:xfrm>
            <a:off x="203550" y="1152475"/>
            <a:ext cx="3661350" cy="36613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4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Heatmap relationship</a:t>
            </a:r>
            <a:endParaRPr/>
          </a:p>
        </p:txBody>
      </p:sp>
      <p:sp>
        <p:nvSpPr>
          <p:cNvPr id="274" name="Google Shape;274;p48"/>
          <p:cNvSpPr txBox="1">
            <a:spLocks noGrp="1"/>
          </p:cNvSpPr>
          <p:nvPr>
            <p:ph type="body" idx="1"/>
          </p:nvPr>
        </p:nvSpPr>
        <p:spPr>
          <a:xfrm>
            <a:off x="3948050" y="1152475"/>
            <a:ext cx="48843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dirty="0"/>
              <a:t>According to this graph, which two variables are the least correlated?</a:t>
            </a:r>
            <a:endParaRPr dirty="0"/>
          </a:p>
        </p:txBody>
      </p:sp>
      <p:pic>
        <p:nvPicPr>
          <p:cNvPr id="275" name="Google Shape;275;p48"/>
          <p:cNvPicPr preferRelativeResize="0"/>
          <p:nvPr/>
        </p:nvPicPr>
        <p:blipFill>
          <a:blip r:embed="rId3">
            <a:alphaModFix/>
          </a:blip>
          <a:stretch>
            <a:fillRect/>
          </a:stretch>
        </p:blipFill>
        <p:spPr>
          <a:xfrm>
            <a:off x="162413" y="1037125"/>
            <a:ext cx="3661350" cy="36613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4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Heatmap relationship</a:t>
            </a:r>
            <a:endParaRPr/>
          </a:p>
        </p:txBody>
      </p:sp>
      <p:sp>
        <p:nvSpPr>
          <p:cNvPr id="281" name="Google Shape;281;p49"/>
          <p:cNvSpPr txBox="1">
            <a:spLocks noGrp="1"/>
          </p:cNvSpPr>
          <p:nvPr>
            <p:ph type="body" idx="1"/>
          </p:nvPr>
        </p:nvSpPr>
        <p:spPr>
          <a:xfrm>
            <a:off x="3948050" y="1152475"/>
            <a:ext cx="48843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According to this graph, which two variables are the least correlated?</a:t>
            </a:r>
            <a:endParaRPr/>
          </a:p>
          <a:p>
            <a:pPr marL="0" lvl="0" indent="0" algn="l" rtl="0">
              <a:spcBef>
                <a:spcPts val="1200"/>
              </a:spcBef>
              <a:spcAft>
                <a:spcPts val="1200"/>
              </a:spcAft>
              <a:buNone/>
            </a:pPr>
            <a:r>
              <a:rPr lang="en"/>
              <a:t>Drat and qsec</a:t>
            </a:r>
            <a:endParaRPr/>
          </a:p>
        </p:txBody>
      </p:sp>
      <p:pic>
        <p:nvPicPr>
          <p:cNvPr id="282" name="Google Shape;282;p49"/>
          <p:cNvPicPr preferRelativeResize="0"/>
          <p:nvPr/>
        </p:nvPicPr>
        <p:blipFill>
          <a:blip r:embed="rId3">
            <a:alphaModFix/>
          </a:blip>
          <a:stretch>
            <a:fillRect/>
          </a:stretch>
        </p:blipFill>
        <p:spPr>
          <a:xfrm>
            <a:off x="203550" y="1152475"/>
            <a:ext cx="3661350" cy="36613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Heatmaps</a:t>
            </a:r>
            <a:endParaRPr/>
          </a:p>
        </p:txBody>
      </p:sp>
      <p:sp>
        <p:nvSpPr>
          <p:cNvPr id="201" name="Google Shape;201;p3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sns.heatmap(numerical_df.corr(), annot=True)</a:t>
            </a:r>
          </a:p>
          <a:p>
            <a:pPr marL="0" lvl="0" indent="0">
              <a:buNone/>
            </a:pPr>
            <a:r>
              <a:rPr lang="en" dirty="0"/>
              <a:t>annot=True - a</a:t>
            </a:r>
            <a:r>
              <a:rPr lang="en-GB" dirty="0" err="1"/>
              <a:t>dds</a:t>
            </a:r>
            <a:r>
              <a:rPr lang="en-GB" dirty="0"/>
              <a:t> the actual correlation values inside each cell</a:t>
            </a:r>
          </a:p>
          <a:p>
            <a:pPr marL="0" lvl="0" indent="0">
              <a:buNone/>
            </a:pPr>
            <a:r>
              <a:rPr lang="en-GB" dirty="0"/>
              <a:t>.</a:t>
            </a:r>
            <a:r>
              <a:rPr lang="en-GB" dirty="0" err="1"/>
              <a:t>corr</a:t>
            </a:r>
            <a:r>
              <a:rPr lang="en-GB" dirty="0"/>
              <a:t>() - computes the correlation matrix</a:t>
            </a:r>
            <a:endParaRPr dirty="0"/>
          </a:p>
          <a:p>
            <a:pPr marL="0" lvl="0" indent="0" algn="l" rtl="0">
              <a:spcBef>
                <a:spcPts val="1200"/>
              </a:spcBef>
              <a:spcAft>
                <a:spcPts val="1200"/>
              </a:spcAft>
              <a:buNone/>
            </a:pPr>
            <a:r>
              <a:rPr lang="en" dirty="0"/>
              <a:t>px.imshow(numerical_df.corr())</a:t>
            </a:r>
            <a:endParaRPr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Pairplots</a:t>
            </a:r>
            <a:endParaRPr/>
          </a:p>
        </p:txBody>
      </p:sp>
      <p:sp>
        <p:nvSpPr>
          <p:cNvPr id="220" name="Google Shape;220;p40"/>
          <p:cNvSpPr txBox="1">
            <a:spLocks noGrp="1"/>
          </p:cNvSpPr>
          <p:nvPr>
            <p:ph type="body" idx="1"/>
          </p:nvPr>
        </p:nvSpPr>
        <p:spPr>
          <a:xfrm>
            <a:off x="311700" y="1152474"/>
            <a:ext cx="3886227" cy="3486027"/>
          </a:xfrm>
          <a:prstGeom prst="rect">
            <a:avLst/>
          </a:prstGeom>
        </p:spPr>
        <p:txBody>
          <a:bodyPr spcFirstLastPara="1" wrap="square" lIns="91425" tIns="91425" rIns="91425" bIns="91425" anchor="t" anchorCtr="0">
            <a:normAutofit fontScale="92500" lnSpcReduction="10000"/>
          </a:bodyPr>
          <a:lstStyle/>
          <a:p>
            <a:pPr marL="0" lvl="0" indent="0">
              <a:spcAft>
                <a:spcPts val="1200"/>
              </a:spcAft>
              <a:buNone/>
            </a:pPr>
            <a:r>
              <a:rPr lang="en-GB" dirty="0"/>
              <a:t>Use a </a:t>
            </a:r>
            <a:r>
              <a:rPr lang="en-GB" dirty="0" err="1"/>
              <a:t>pairplot</a:t>
            </a:r>
            <a:r>
              <a:rPr lang="en-GB" dirty="0"/>
              <a:t> during initial Exploratory Data Analysis (EDA) to visualize pairwise relationships, distributions, and correlations across multiple numerical variables simultaneously. It is best used to quickly identify trends, clusters, outliers, and linear/non-linear relationships in a dataset.</a:t>
            </a:r>
            <a:endParaRPr dirty="0"/>
          </a:p>
        </p:txBody>
      </p:sp>
      <p:pic>
        <p:nvPicPr>
          <p:cNvPr id="221" name="Google Shape;221;p40"/>
          <p:cNvPicPr preferRelativeResize="0"/>
          <p:nvPr/>
        </p:nvPicPr>
        <p:blipFill>
          <a:blip r:embed="rId3">
            <a:alphaModFix/>
          </a:blip>
          <a:stretch>
            <a:fillRect/>
          </a:stretch>
        </p:blipFill>
        <p:spPr>
          <a:xfrm>
            <a:off x="4885422" y="1039286"/>
            <a:ext cx="3712401" cy="3712401"/>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5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Pairplot relationship</a:t>
            </a:r>
            <a:endParaRPr/>
          </a:p>
        </p:txBody>
      </p:sp>
      <p:sp>
        <p:nvSpPr>
          <p:cNvPr id="288" name="Google Shape;288;p50"/>
          <p:cNvSpPr txBox="1">
            <a:spLocks noGrp="1"/>
          </p:cNvSpPr>
          <p:nvPr>
            <p:ph type="body" idx="1"/>
          </p:nvPr>
        </p:nvSpPr>
        <p:spPr>
          <a:xfrm>
            <a:off x="505669" y="1144163"/>
            <a:ext cx="3393000" cy="3416400"/>
          </a:xfrm>
          <a:prstGeom prst="rect">
            <a:avLst/>
          </a:prstGeom>
        </p:spPr>
        <p:txBody>
          <a:bodyPr spcFirstLastPara="1" wrap="square" lIns="91425" tIns="91425" rIns="91425" bIns="91425" anchor="t" anchorCtr="0">
            <a:normAutofit fontScale="92500" lnSpcReduction="10000"/>
          </a:bodyPr>
          <a:lstStyle/>
          <a:p>
            <a:pPr marL="0" lvl="0" indent="0">
              <a:spcAft>
                <a:spcPts val="1200"/>
              </a:spcAft>
              <a:buNone/>
            </a:pPr>
            <a:r>
              <a:rPr lang="en-GB" sz="1800" dirty="0"/>
              <a:t>Pair plots, or scatterplot matrices, visualize relationships between all numerical variables in a dataset by creating a grid of subplots. They pair each variable with every other, using scatter plots for relationships (off-diagonal) and histograms or kernel density plots (KDE) to show individual distributions (diagonal).</a:t>
            </a:r>
            <a:endParaRPr sz="1800" dirty="0"/>
          </a:p>
        </p:txBody>
      </p:sp>
      <p:pic>
        <p:nvPicPr>
          <p:cNvPr id="289" name="Google Shape;289;p50"/>
          <p:cNvPicPr preferRelativeResize="0"/>
          <p:nvPr/>
        </p:nvPicPr>
        <p:blipFill>
          <a:blip r:embed="rId3">
            <a:alphaModFix/>
          </a:blip>
          <a:stretch>
            <a:fillRect/>
          </a:stretch>
        </p:blipFill>
        <p:spPr>
          <a:xfrm>
            <a:off x="4181302" y="1144163"/>
            <a:ext cx="4457029" cy="2937386"/>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86">
          <a:extLst>
            <a:ext uri="{FF2B5EF4-FFF2-40B4-BE49-F238E27FC236}">
              <a16:creationId xmlns:a16="http://schemas.microsoft.com/office/drawing/2014/main" id="{3CFB0DBD-262B-D855-DEAC-D9468BB0E415}"/>
            </a:ext>
          </a:extLst>
        </p:cNvPr>
        <p:cNvGrpSpPr/>
        <p:nvPr/>
      </p:nvGrpSpPr>
      <p:grpSpPr>
        <a:xfrm>
          <a:off x="0" y="0"/>
          <a:ext cx="0" cy="0"/>
          <a:chOff x="0" y="0"/>
          <a:chExt cx="0" cy="0"/>
        </a:xfrm>
      </p:grpSpPr>
      <p:sp>
        <p:nvSpPr>
          <p:cNvPr id="287" name="Google Shape;287;p50">
            <a:extLst>
              <a:ext uri="{FF2B5EF4-FFF2-40B4-BE49-F238E27FC236}">
                <a16:creationId xmlns:a16="http://schemas.microsoft.com/office/drawing/2014/main" id="{646C19E9-552E-39AB-940B-97046486DB58}"/>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Pairplot relationship</a:t>
            </a:r>
            <a:endParaRPr/>
          </a:p>
        </p:txBody>
      </p:sp>
      <p:sp>
        <p:nvSpPr>
          <p:cNvPr id="288" name="Google Shape;288;p50">
            <a:extLst>
              <a:ext uri="{FF2B5EF4-FFF2-40B4-BE49-F238E27FC236}">
                <a16:creationId xmlns:a16="http://schemas.microsoft.com/office/drawing/2014/main" id="{69B7A788-7FAC-561E-ACB7-4198E60929A7}"/>
              </a:ext>
            </a:extLst>
          </p:cNvPr>
          <p:cNvSpPr txBox="1">
            <a:spLocks noGrp="1"/>
          </p:cNvSpPr>
          <p:nvPr>
            <p:ph type="body" idx="1"/>
          </p:nvPr>
        </p:nvSpPr>
        <p:spPr>
          <a:xfrm>
            <a:off x="5439425" y="1152475"/>
            <a:ext cx="3393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In the pairplot, do body mass and bill length show any relationship?</a:t>
            </a:r>
            <a:endParaRPr/>
          </a:p>
        </p:txBody>
      </p:sp>
      <p:pic>
        <p:nvPicPr>
          <p:cNvPr id="289" name="Google Shape;289;p50">
            <a:extLst>
              <a:ext uri="{FF2B5EF4-FFF2-40B4-BE49-F238E27FC236}">
                <a16:creationId xmlns:a16="http://schemas.microsoft.com/office/drawing/2014/main" id="{862489DF-9946-BE26-9E84-8FFA646B6950}"/>
              </a:ext>
            </a:extLst>
          </p:cNvPr>
          <p:cNvPicPr preferRelativeResize="0"/>
          <p:nvPr/>
        </p:nvPicPr>
        <p:blipFill>
          <a:blip r:embed="rId3">
            <a:alphaModFix/>
          </a:blip>
          <a:stretch>
            <a:fillRect/>
          </a:stretch>
        </p:blipFill>
        <p:spPr>
          <a:xfrm>
            <a:off x="311694" y="1228745"/>
            <a:ext cx="4908699" cy="3168688"/>
          </a:xfrm>
          <a:prstGeom prst="rect">
            <a:avLst/>
          </a:prstGeom>
          <a:noFill/>
          <a:ln>
            <a:noFill/>
          </a:ln>
        </p:spPr>
      </p:pic>
    </p:spTree>
    <p:extLst>
      <p:ext uri="{BB962C8B-B14F-4D97-AF65-F5344CB8AC3E}">
        <p14:creationId xmlns:p14="http://schemas.microsoft.com/office/powerpoint/2010/main" val="28145099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5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Pairplot relationship</a:t>
            </a:r>
            <a:endParaRPr/>
          </a:p>
        </p:txBody>
      </p:sp>
      <p:sp>
        <p:nvSpPr>
          <p:cNvPr id="295" name="Google Shape;295;p51"/>
          <p:cNvSpPr txBox="1">
            <a:spLocks noGrp="1"/>
          </p:cNvSpPr>
          <p:nvPr>
            <p:ph type="body" idx="1"/>
          </p:nvPr>
        </p:nvSpPr>
        <p:spPr>
          <a:xfrm>
            <a:off x="5439425" y="1152475"/>
            <a:ext cx="3393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In the pairplot, do body mass and bill length show any relationship?</a:t>
            </a:r>
            <a:endParaRPr/>
          </a:p>
          <a:p>
            <a:pPr marL="0" lvl="0" indent="0" algn="l" rtl="0">
              <a:spcBef>
                <a:spcPts val="1200"/>
              </a:spcBef>
              <a:spcAft>
                <a:spcPts val="1200"/>
              </a:spcAft>
              <a:buNone/>
            </a:pPr>
            <a:r>
              <a:rPr lang="en"/>
              <a:t>They show a positive correlation.</a:t>
            </a:r>
            <a:endParaRPr/>
          </a:p>
        </p:txBody>
      </p:sp>
      <p:pic>
        <p:nvPicPr>
          <p:cNvPr id="296" name="Google Shape;296;p51"/>
          <p:cNvPicPr preferRelativeResize="0"/>
          <p:nvPr/>
        </p:nvPicPr>
        <p:blipFill>
          <a:blip r:embed="rId3">
            <a:alphaModFix/>
          </a:blip>
          <a:stretch>
            <a:fillRect/>
          </a:stretch>
        </p:blipFill>
        <p:spPr>
          <a:xfrm>
            <a:off x="311695" y="1228745"/>
            <a:ext cx="4900386" cy="3193626"/>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Pairplots</a:t>
            </a:r>
            <a:endParaRPr/>
          </a:p>
        </p:txBody>
      </p:sp>
      <p:sp>
        <p:nvSpPr>
          <p:cNvPr id="227" name="Google Shape;227;p4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sns.pairplot(df)</a:t>
            </a:r>
            <a:endParaRPr/>
          </a:p>
          <a:p>
            <a:pPr marL="0" lvl="0" indent="0" algn="l" rtl="0">
              <a:spcBef>
                <a:spcPts val="1200"/>
              </a:spcBef>
              <a:spcAft>
                <a:spcPts val="0"/>
              </a:spcAft>
              <a:buNone/>
            </a:pPr>
            <a:r>
              <a:rPr lang="en"/>
              <a:t>px.scatter_matrix(df)</a:t>
            </a:r>
            <a:endParaRPr/>
          </a:p>
          <a:p>
            <a:pPr marL="457200" lvl="0" indent="-361950" algn="l" rtl="0">
              <a:spcBef>
                <a:spcPts val="1200"/>
              </a:spcBef>
              <a:spcAft>
                <a:spcPts val="0"/>
              </a:spcAft>
              <a:buSzPts val="2100"/>
              <a:buChar char="-"/>
            </a:pPr>
            <a:r>
              <a:rPr lang="en"/>
              <a:t>In your notebook, try adding hue or color arguments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5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Extra charts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5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Count plots</a:t>
            </a:r>
            <a:endParaRPr/>
          </a:p>
        </p:txBody>
      </p:sp>
      <p:pic>
        <p:nvPicPr>
          <p:cNvPr id="308" name="Google Shape;308;p53"/>
          <p:cNvPicPr preferRelativeResize="0"/>
          <p:nvPr/>
        </p:nvPicPr>
        <p:blipFill>
          <a:blip r:embed="rId3">
            <a:alphaModFix/>
          </a:blip>
          <a:stretch>
            <a:fillRect/>
          </a:stretch>
        </p:blipFill>
        <p:spPr>
          <a:xfrm>
            <a:off x="4197927" y="1017725"/>
            <a:ext cx="4696146" cy="3687279"/>
          </a:xfrm>
          <a:prstGeom prst="rect">
            <a:avLst/>
          </a:prstGeom>
          <a:noFill/>
          <a:ln>
            <a:noFill/>
          </a:ln>
        </p:spPr>
      </p:pic>
      <p:sp>
        <p:nvSpPr>
          <p:cNvPr id="2" name="Google Shape;220;p40">
            <a:extLst>
              <a:ext uri="{FF2B5EF4-FFF2-40B4-BE49-F238E27FC236}">
                <a16:creationId xmlns:a16="http://schemas.microsoft.com/office/drawing/2014/main" id="{A4B0ED25-542C-E1A4-44FB-BC4BD4206899}"/>
              </a:ext>
            </a:extLst>
          </p:cNvPr>
          <p:cNvSpPr txBox="1">
            <a:spLocks noGrp="1"/>
          </p:cNvSpPr>
          <p:nvPr>
            <p:ph type="body" idx="1"/>
          </p:nvPr>
        </p:nvSpPr>
        <p:spPr>
          <a:xfrm>
            <a:off x="311700" y="1152474"/>
            <a:ext cx="3886227" cy="3486027"/>
          </a:xfrm>
          <a:prstGeom prst="rect">
            <a:avLst/>
          </a:prstGeom>
        </p:spPr>
        <p:txBody>
          <a:bodyPr spcFirstLastPara="1" wrap="square" lIns="91425" tIns="91425" rIns="91425" bIns="91425" anchor="t" anchorCtr="0">
            <a:normAutofit lnSpcReduction="10000"/>
          </a:bodyPr>
          <a:lstStyle/>
          <a:p>
            <a:pPr marL="0" lvl="0" indent="0">
              <a:spcAft>
                <a:spcPts val="1200"/>
              </a:spcAft>
              <a:buNone/>
            </a:pPr>
            <a:r>
              <a:rPr lang="en-GB" dirty="0"/>
              <a:t>A </a:t>
            </a:r>
            <a:r>
              <a:rPr lang="en-GB" dirty="0" err="1"/>
              <a:t>countplot</a:t>
            </a:r>
            <a:r>
              <a:rPr lang="en-GB" dirty="0"/>
              <a:t> is a type of categorical plot in the Seaborn library that displays the frequency (count) of observations in each category using bars. It acts as a histogram for categorical variables rather than continuous numerical data.</a:t>
            </a:r>
            <a:endParaRPr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5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Count plots</a:t>
            </a:r>
            <a:endParaRPr/>
          </a:p>
        </p:txBody>
      </p:sp>
      <p:sp>
        <p:nvSpPr>
          <p:cNvPr id="314" name="Google Shape;314;p5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indent="0">
              <a:buNone/>
            </a:pPr>
            <a:r>
              <a:rPr lang="en" dirty="0"/>
              <a:t>sns.countplot(</a:t>
            </a:r>
            <a:r>
              <a:rPr lang="en-GB" dirty="0"/>
              <a:t>data=tips, x='…'</a:t>
            </a:r>
            <a:r>
              <a:rPr lang="en" dirty="0"/>
              <a:t>)</a:t>
            </a:r>
            <a:endParaRPr dirty="0"/>
          </a:p>
          <a:p>
            <a:pPr marL="0" lvl="0" indent="0" algn="l" rtl="0">
              <a:spcBef>
                <a:spcPts val="1200"/>
              </a:spcBef>
              <a:spcAft>
                <a:spcPts val="1200"/>
              </a:spcAft>
              <a:buNone/>
            </a:pPr>
            <a:endParaRPr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5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Box plots</a:t>
            </a:r>
            <a:endParaRPr/>
          </a:p>
        </p:txBody>
      </p:sp>
      <p:pic>
        <p:nvPicPr>
          <p:cNvPr id="321" name="Google Shape;321;p55"/>
          <p:cNvPicPr preferRelativeResize="0"/>
          <p:nvPr/>
        </p:nvPicPr>
        <p:blipFill>
          <a:blip r:embed="rId3">
            <a:alphaModFix/>
          </a:blip>
          <a:stretch>
            <a:fillRect/>
          </a:stretch>
        </p:blipFill>
        <p:spPr>
          <a:xfrm>
            <a:off x="1338700" y="1105500"/>
            <a:ext cx="6609549" cy="371787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920E2C6-5835-D867-5B62-437AE47F49A4}"/>
              </a:ext>
            </a:extLst>
          </p:cNvPr>
          <p:cNvSpPr/>
          <p:nvPr/>
        </p:nvSpPr>
        <p:spPr>
          <a:xfrm>
            <a:off x="1088966" y="1021297"/>
            <a:ext cx="6966066" cy="38007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C7B4A1-2ED8-2870-1ACD-0958BCEAEB5C}"/>
              </a:ext>
            </a:extLst>
          </p:cNvPr>
          <p:cNvSpPr>
            <a:spLocks noGrp="1"/>
          </p:cNvSpPr>
          <p:nvPr>
            <p:ph type="title"/>
          </p:nvPr>
        </p:nvSpPr>
        <p:spPr/>
        <p:txBody>
          <a:bodyPr>
            <a:normAutofit fontScale="90000"/>
          </a:bodyPr>
          <a:lstStyle/>
          <a:p>
            <a:r>
              <a:rPr lang="en-GB" dirty="0"/>
              <a:t>Box plots</a:t>
            </a:r>
          </a:p>
        </p:txBody>
      </p:sp>
      <p:pic>
        <p:nvPicPr>
          <p:cNvPr id="2050" name="Picture 2" descr="Diagram showing how box and whiskers are derived from a set of data.">
            <a:extLst>
              <a:ext uri="{FF2B5EF4-FFF2-40B4-BE49-F238E27FC236}">
                <a16:creationId xmlns:a16="http://schemas.microsoft.com/office/drawing/2014/main" id="{CDA4A990-E02E-B5D2-A3A4-EB44A7541E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6553" y="1418802"/>
            <a:ext cx="5910893" cy="32796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882806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9F880-7278-824E-6350-C6C30032AFF7}"/>
              </a:ext>
            </a:extLst>
          </p:cNvPr>
          <p:cNvSpPr>
            <a:spLocks noGrp="1"/>
          </p:cNvSpPr>
          <p:nvPr>
            <p:ph type="title"/>
          </p:nvPr>
        </p:nvSpPr>
        <p:spPr/>
        <p:txBody>
          <a:bodyPr>
            <a:normAutofit fontScale="90000"/>
          </a:bodyPr>
          <a:lstStyle/>
          <a:p>
            <a:r>
              <a:rPr lang="en-GB" dirty="0"/>
              <a:t>Box plots</a:t>
            </a:r>
          </a:p>
        </p:txBody>
      </p:sp>
      <p:sp>
        <p:nvSpPr>
          <p:cNvPr id="3" name="Text Placeholder 2">
            <a:extLst>
              <a:ext uri="{FF2B5EF4-FFF2-40B4-BE49-F238E27FC236}">
                <a16:creationId xmlns:a16="http://schemas.microsoft.com/office/drawing/2014/main" id="{902D4F96-E46E-C99D-A789-1579F4D48547}"/>
              </a:ext>
            </a:extLst>
          </p:cNvPr>
          <p:cNvSpPr>
            <a:spLocks noGrp="1"/>
          </p:cNvSpPr>
          <p:nvPr>
            <p:ph type="body" idx="1"/>
          </p:nvPr>
        </p:nvSpPr>
        <p:spPr/>
        <p:txBody>
          <a:bodyPr>
            <a:normAutofit lnSpcReduction="10000"/>
          </a:bodyPr>
          <a:lstStyle/>
          <a:p>
            <a:pPr marL="95250" indent="0">
              <a:buNone/>
            </a:pPr>
            <a:r>
              <a:rPr lang="en-GB" dirty="0"/>
              <a:t>Boxplots (box-and-whisker plots) are best used for comparing distributions across multiple groups, identifying outliers, and understanding data spread (variance, skewness, and symmetry) at a glance. </a:t>
            </a:r>
            <a:endParaRPr lang="en" dirty="0"/>
          </a:p>
          <a:p>
            <a:pPr marL="95250" indent="0">
              <a:buNone/>
            </a:pPr>
            <a:endParaRPr lang="en-GB" dirty="0"/>
          </a:p>
          <a:p>
            <a:pPr marL="95250" indent="0">
              <a:buNone/>
            </a:pPr>
            <a:r>
              <a:rPr lang="en-GB" dirty="0"/>
              <a:t>Box limits indicate the range of the central 50% of the data, with a central line marking the median value. Lines extend from each box to capture the range of the remaining data, with dots placed past the line edges to indicate outliers.</a:t>
            </a:r>
          </a:p>
        </p:txBody>
      </p:sp>
    </p:spTree>
    <p:extLst>
      <p:ext uri="{BB962C8B-B14F-4D97-AF65-F5344CB8AC3E}">
        <p14:creationId xmlns:p14="http://schemas.microsoft.com/office/powerpoint/2010/main" val="13104755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5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Box plots</a:t>
            </a:r>
            <a:endParaRPr/>
          </a:p>
        </p:txBody>
      </p:sp>
      <p:sp>
        <p:nvSpPr>
          <p:cNvPr id="327" name="Google Shape;327;p5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indent="0">
              <a:buNone/>
            </a:pPr>
            <a:r>
              <a:rPr lang="en" dirty="0"/>
              <a:t>sns.boxplot(</a:t>
            </a:r>
            <a:r>
              <a:rPr lang="en-GB" dirty="0"/>
              <a:t>data=…, x=‘…', y=‘…'</a:t>
            </a:r>
            <a:r>
              <a:rPr lang="en" dirty="0"/>
              <a:t>)</a:t>
            </a:r>
            <a:endParaRPr dirty="0"/>
          </a:p>
          <a:p>
            <a:pPr marL="0" lvl="0" indent="0" algn="l" rtl="0">
              <a:spcBef>
                <a:spcPts val="1200"/>
              </a:spcBef>
              <a:spcAft>
                <a:spcPts val="1200"/>
              </a:spcAft>
              <a:buNone/>
            </a:pPr>
            <a:r>
              <a:rPr lang="en" dirty="0"/>
              <a:t>px.box(</a:t>
            </a:r>
            <a:r>
              <a:rPr lang="en-GB" dirty="0"/>
              <a:t>data, x=“…", y=“…"</a:t>
            </a:r>
            <a:r>
              <a:rPr lang="en" dirty="0"/>
              <a:t>)</a:t>
            </a:r>
            <a:endParaRPr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5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Violin plots</a:t>
            </a:r>
            <a:endParaRPr/>
          </a:p>
        </p:txBody>
      </p:sp>
      <p:sp>
        <p:nvSpPr>
          <p:cNvPr id="333" name="Google Shape;333;p57"/>
          <p:cNvSpPr txBox="1">
            <a:spLocks noGrp="1"/>
          </p:cNvSpPr>
          <p:nvPr>
            <p:ph type="body" idx="1"/>
          </p:nvPr>
        </p:nvSpPr>
        <p:spPr>
          <a:xfrm>
            <a:off x="311700" y="1152475"/>
            <a:ext cx="4584496" cy="3660594"/>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1200"/>
              </a:spcAft>
              <a:buNone/>
            </a:pPr>
            <a:r>
              <a:rPr lang="en-GB" dirty="0"/>
              <a:t>Violin plots are best used to compare the density and distribution shape of continuous numerical data across multiple categories (typically 2-7 groups). Unlike box plots, they reveal multi-modal data, peaks, and valleys in distribution, making them ideal for exploring data that isn't normally distributed, such as survey results, test scores, or scientific measurements. </a:t>
            </a:r>
            <a:endParaRPr dirty="0"/>
          </a:p>
        </p:txBody>
      </p:sp>
      <p:pic>
        <p:nvPicPr>
          <p:cNvPr id="334" name="Google Shape;334;p57"/>
          <p:cNvPicPr preferRelativeResize="0"/>
          <p:nvPr/>
        </p:nvPicPr>
        <p:blipFill>
          <a:blip r:embed="rId3">
            <a:alphaModFix/>
          </a:blip>
          <a:stretch>
            <a:fillRect/>
          </a:stretch>
        </p:blipFill>
        <p:spPr>
          <a:xfrm>
            <a:off x="4995949" y="1285327"/>
            <a:ext cx="3936104" cy="339489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5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Violin plots</a:t>
            </a:r>
            <a:endParaRPr/>
          </a:p>
        </p:txBody>
      </p:sp>
      <p:sp>
        <p:nvSpPr>
          <p:cNvPr id="340" name="Google Shape;340;p5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buNone/>
            </a:pPr>
            <a:r>
              <a:rPr lang="en" dirty="0"/>
              <a:t>sns.violinplot(</a:t>
            </a:r>
            <a:r>
              <a:rPr lang="en-GB" dirty="0"/>
              <a:t>data=…, x=‘…', y=‘…'</a:t>
            </a:r>
            <a:r>
              <a:rPr lang="en" dirty="0"/>
              <a:t>)</a:t>
            </a:r>
            <a:endParaRPr dirty="0"/>
          </a:p>
          <a:p>
            <a:pPr marL="0" lvl="0" indent="0">
              <a:spcBef>
                <a:spcPts val="1200"/>
              </a:spcBef>
              <a:spcAft>
                <a:spcPts val="1200"/>
              </a:spcAft>
              <a:buNone/>
            </a:pPr>
            <a:r>
              <a:rPr lang="en" dirty="0"/>
              <a:t>px.violin(</a:t>
            </a:r>
            <a:r>
              <a:rPr lang="en-GB" dirty="0"/>
              <a:t>data, x=“…", y=“…"</a:t>
            </a:r>
            <a:r>
              <a:rPr lang="en" dirty="0"/>
              <a:t>)</a:t>
            </a:r>
            <a:endParaRPr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5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Improving the visualizations</a:t>
            </a:r>
            <a:endParaRPr/>
          </a:p>
        </p:txBody>
      </p:sp>
      <p:sp>
        <p:nvSpPr>
          <p:cNvPr id="346" name="Google Shape;346;p5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Artificial Intelligence can help you make your graphs much more attractive. Before using AI, it is important to have an idea of what you want to show with the data and the type of graph you want to use - then AI can make it look better by adding titles, labels, pretty colors, and more.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6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Homework</a:t>
            </a:r>
            <a:endParaRPr/>
          </a:p>
        </p:txBody>
      </p:sp>
      <p:sp>
        <p:nvSpPr>
          <p:cNvPr id="352" name="Google Shape;352;p6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dirty="0"/>
              <a:t>Seaborn visualization challenges</a:t>
            </a:r>
          </a:p>
          <a:p>
            <a:pPr marL="0" lvl="0" indent="0">
              <a:spcAft>
                <a:spcPts val="1200"/>
              </a:spcAft>
              <a:buNone/>
            </a:pPr>
            <a:r>
              <a:rPr lang="en-GB" dirty="0">
                <a:hlinkClick r:id="rId3"/>
              </a:rPr>
              <a:t>Learn Data Visualization | Kaggle</a:t>
            </a:r>
            <a:endParaRPr lang="en-GB" dirty="0"/>
          </a:p>
          <a:p>
            <a:pPr marL="0" lvl="0" indent="0">
              <a:spcAft>
                <a:spcPts val="1200"/>
              </a:spcAft>
              <a:buNone/>
            </a:pPr>
            <a:endParaRPr lang="en-GB" dirty="0"/>
          </a:p>
          <a:p>
            <a:pPr marL="0" lvl="0" indent="0">
              <a:spcAft>
                <a:spcPts val="1200"/>
              </a:spcAft>
              <a:buNone/>
            </a:pPr>
            <a:endParaRPr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699F3-27E5-0EFA-37AB-F4301179948D}"/>
              </a:ext>
            </a:extLst>
          </p:cNvPr>
          <p:cNvSpPr>
            <a:spLocks noGrp="1"/>
          </p:cNvSpPr>
          <p:nvPr>
            <p:ph type="title"/>
          </p:nvPr>
        </p:nvSpPr>
        <p:spPr/>
        <p:txBody>
          <a:bodyPr>
            <a:normAutofit fontScale="90000"/>
          </a:bodyPr>
          <a:lstStyle/>
          <a:p>
            <a:r>
              <a:rPr lang="en-GB" dirty="0"/>
              <a:t>Resources</a:t>
            </a:r>
          </a:p>
        </p:txBody>
      </p:sp>
      <p:sp>
        <p:nvSpPr>
          <p:cNvPr id="3" name="Text Placeholder 2">
            <a:extLst>
              <a:ext uri="{FF2B5EF4-FFF2-40B4-BE49-F238E27FC236}">
                <a16:creationId xmlns:a16="http://schemas.microsoft.com/office/drawing/2014/main" id="{F7A0F01E-061C-9EB4-5FDE-462F439A4737}"/>
              </a:ext>
            </a:extLst>
          </p:cNvPr>
          <p:cNvSpPr>
            <a:spLocks noGrp="1"/>
          </p:cNvSpPr>
          <p:nvPr>
            <p:ph type="body" idx="1"/>
          </p:nvPr>
        </p:nvSpPr>
        <p:spPr/>
        <p:txBody>
          <a:bodyPr/>
          <a:lstStyle/>
          <a:p>
            <a:r>
              <a:rPr lang="en-GB" dirty="0">
                <a:hlinkClick r:id="rId2"/>
              </a:rPr>
              <a:t>Main differences between matplotlib, seaborn, and </a:t>
            </a:r>
            <a:r>
              <a:rPr lang="en-GB" dirty="0" err="1">
                <a:hlinkClick r:id="rId2"/>
              </a:rPr>
              <a:t>plotly</a:t>
            </a:r>
            <a:r>
              <a:rPr lang="en-GB" dirty="0">
                <a:hlinkClick r:id="rId2"/>
              </a:rPr>
              <a:t> | datons.com</a:t>
            </a:r>
            <a:endParaRPr lang="en-GB" dirty="0"/>
          </a:p>
          <a:p>
            <a:endParaRPr lang="en-GB" dirty="0"/>
          </a:p>
          <a:p>
            <a:r>
              <a:rPr lang="en-GB" dirty="0">
                <a:hlinkClick r:id="rId3"/>
              </a:rPr>
              <a:t>An introduction to seaborn — seaborn 0.13.2 documentation</a:t>
            </a:r>
            <a:endParaRPr lang="en-GB" dirty="0"/>
          </a:p>
          <a:p>
            <a:endParaRPr lang="en-GB" dirty="0"/>
          </a:p>
          <a:p>
            <a:r>
              <a:rPr lang="en-GB" dirty="0">
                <a:hlinkClick r:id="rId4"/>
              </a:rPr>
              <a:t>Learn Data Visualization | Kaggle</a:t>
            </a:r>
            <a:endParaRPr lang="en-GB" dirty="0"/>
          </a:p>
          <a:p>
            <a:endParaRPr lang="en-GB" dirty="0"/>
          </a:p>
          <a:p>
            <a:endParaRPr lang="en-GB" dirty="0"/>
          </a:p>
        </p:txBody>
      </p:sp>
    </p:spTree>
    <p:extLst>
      <p:ext uri="{BB962C8B-B14F-4D97-AF65-F5344CB8AC3E}">
        <p14:creationId xmlns:p14="http://schemas.microsoft.com/office/powerpoint/2010/main" val="297679482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61"/>
          <p:cNvSpPr txBox="1">
            <a:spLocks noGrp="1"/>
          </p:cNvSpPr>
          <p:nvPr>
            <p:ph type="title"/>
          </p:nvPr>
        </p:nvSpPr>
        <p:spPr>
          <a:xfrm>
            <a:off x="311700" y="1038100"/>
            <a:ext cx="8520600" cy="285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Class 3</a:t>
            </a:r>
            <a:endParaRPr/>
          </a:p>
          <a:p>
            <a:pPr marL="457200" lvl="0" indent="-457200" algn="ctr" rtl="0">
              <a:spcBef>
                <a:spcPts val="0"/>
              </a:spcBef>
              <a:spcAft>
                <a:spcPts val="0"/>
              </a:spcAft>
              <a:buSzPts val="3600"/>
              <a:buChar char="-"/>
            </a:pPr>
            <a:r>
              <a:rPr lang="en"/>
              <a:t>Chart selection: Matching visuals to data types</a:t>
            </a:r>
            <a:endParaRPr/>
          </a:p>
          <a:p>
            <a:pPr marL="457200" lvl="0" indent="-457200" algn="ctr" rtl="0">
              <a:spcBef>
                <a:spcPts val="0"/>
              </a:spcBef>
              <a:spcAft>
                <a:spcPts val="0"/>
              </a:spcAft>
              <a:buSzPts val="3600"/>
              <a:buChar char="-"/>
            </a:pPr>
            <a:r>
              <a:rPr lang="en"/>
              <a:t>Avoid misleading visuals</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6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Line graph</a:t>
            </a:r>
            <a:endParaRPr/>
          </a:p>
        </p:txBody>
      </p:sp>
      <p:sp>
        <p:nvSpPr>
          <p:cNvPr id="363" name="Google Shape;363;p6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When would you use a line chart? </a:t>
            </a:r>
            <a:endParaRPr/>
          </a:p>
          <a:p>
            <a:pPr marL="0" lvl="0" indent="0" algn="l" rtl="0">
              <a:spcBef>
                <a:spcPts val="1200"/>
              </a:spcBef>
              <a:spcAft>
                <a:spcPts val="1200"/>
              </a:spcAft>
              <a:buNone/>
            </a:pPr>
            <a:r>
              <a:rPr lang="en"/>
              <a:t>Brainstorm some examples.</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6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Line graph</a:t>
            </a:r>
            <a:endParaRPr/>
          </a:p>
        </p:txBody>
      </p:sp>
      <p:sp>
        <p:nvSpPr>
          <p:cNvPr id="369" name="Google Shape;369;p6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Use a line chart when the x-axis is ordered and you care about change or trend.</a:t>
            </a:r>
            <a:endParaRPr/>
          </a:p>
          <a:p>
            <a:pPr marL="457200" lvl="0" indent="-361950" algn="l" rtl="0">
              <a:spcBef>
                <a:spcPts val="1200"/>
              </a:spcBef>
              <a:spcAft>
                <a:spcPts val="0"/>
              </a:spcAft>
              <a:buSzPts val="2100"/>
              <a:buChar char="-"/>
            </a:pPr>
            <a:r>
              <a:rPr lang="en"/>
              <a:t>Showing Change Over Time. Ex: Hourly temperature readings across a day</a:t>
            </a:r>
            <a:endParaRPr/>
          </a:p>
          <a:p>
            <a:pPr marL="457200" lvl="0" indent="-361950" algn="l" rtl="0">
              <a:spcBef>
                <a:spcPts val="0"/>
              </a:spcBef>
              <a:spcAft>
                <a:spcPts val="0"/>
              </a:spcAft>
              <a:buSzPts val="2100"/>
              <a:buChar char="-"/>
            </a:pPr>
            <a:r>
              <a:rPr lang="en"/>
              <a:t>Comparing Trends Between Groups (multiple lines). Ex: Sales over time by region</a:t>
            </a:r>
            <a:endParaRPr/>
          </a:p>
          <a:p>
            <a:pPr marL="457200" lvl="0" indent="-361950" algn="l" rtl="0">
              <a:spcBef>
                <a:spcPts val="0"/>
              </a:spcBef>
              <a:spcAft>
                <a:spcPts val="0"/>
              </a:spcAft>
              <a:buSzPts val="2100"/>
              <a:buChar char="-"/>
            </a:pPr>
            <a:r>
              <a:rPr lang="en"/>
              <a:t>Showing Averages or Aggregated Trends. Ex: Mean test score by grade level</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6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Scatter plot</a:t>
            </a:r>
            <a:endParaRPr/>
          </a:p>
        </p:txBody>
      </p:sp>
      <p:sp>
        <p:nvSpPr>
          <p:cNvPr id="375" name="Google Shape;375;p6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When would you use a scatter plot? </a:t>
            </a:r>
            <a:endParaRPr/>
          </a:p>
          <a:p>
            <a:pPr marL="0" lvl="0" indent="0" algn="l" rtl="0">
              <a:spcBef>
                <a:spcPts val="1200"/>
              </a:spcBef>
              <a:spcAft>
                <a:spcPts val="1200"/>
              </a:spcAft>
              <a:buNone/>
            </a:pPr>
            <a:r>
              <a:rPr lang="en"/>
              <a:t>Brainstorm some examples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6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Scatter plot</a:t>
            </a:r>
            <a:endParaRPr/>
          </a:p>
        </p:txBody>
      </p:sp>
      <p:sp>
        <p:nvSpPr>
          <p:cNvPr id="381" name="Google Shape;381;p6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Use scatter plots to explore relationships or correlations between two numerical variables. Ex: Hours studied and exam score - does studying more hours show a relationship with grades?</a:t>
            </a:r>
            <a:endParaRPr/>
          </a:p>
          <a:p>
            <a:pPr marL="0" lvl="0" indent="0" algn="l" rtl="0">
              <a:spcBef>
                <a:spcPts val="1200"/>
              </a:spcBef>
              <a:spcAft>
                <a:spcPts val="0"/>
              </a:spcAft>
              <a:buNone/>
            </a:pPr>
            <a:r>
              <a:rPr lang="en"/>
              <a:t>Check for clusters. Ex: Height vs. weight, colored by gender - Are there separate clusters for men and women?</a:t>
            </a:r>
            <a:endParaRPr/>
          </a:p>
          <a:p>
            <a:pPr marL="0" lvl="0" indent="0" algn="l" rtl="0">
              <a:spcBef>
                <a:spcPts val="1200"/>
              </a:spcBef>
              <a:spcAft>
                <a:spcPts val="1200"/>
              </a:spcAft>
              <a:buNone/>
            </a:pPr>
            <a:r>
              <a:rPr lang="en"/>
              <a:t>Spot outliers </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6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Bar Graph</a:t>
            </a:r>
            <a:endParaRPr/>
          </a:p>
        </p:txBody>
      </p:sp>
      <p:sp>
        <p:nvSpPr>
          <p:cNvPr id="387" name="Google Shape;387;p6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When would you use a bar chart? </a:t>
            </a:r>
            <a:endParaRPr/>
          </a:p>
          <a:p>
            <a:pPr marL="0" lvl="0" indent="0" algn="l" rtl="0">
              <a:spcBef>
                <a:spcPts val="1200"/>
              </a:spcBef>
              <a:spcAft>
                <a:spcPts val="1200"/>
              </a:spcAft>
              <a:buNone/>
            </a:pPr>
            <a:r>
              <a:rPr lang="en"/>
              <a:t>Brainstorm some examples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6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Bar Graph</a:t>
            </a:r>
            <a:endParaRPr/>
          </a:p>
        </p:txBody>
      </p:sp>
      <p:sp>
        <p:nvSpPr>
          <p:cNvPr id="393" name="Google Shape;393;p6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Use a bar chart when you want to compare discrete categories, not show trends</a:t>
            </a:r>
            <a:endParaRPr/>
          </a:p>
          <a:p>
            <a:pPr marL="457200" lvl="0" indent="-361950" algn="l" rtl="0">
              <a:spcBef>
                <a:spcPts val="1200"/>
              </a:spcBef>
              <a:spcAft>
                <a:spcPts val="0"/>
              </a:spcAft>
              <a:buSzPts val="2100"/>
              <a:buChar char="-"/>
            </a:pPr>
            <a:r>
              <a:rPr lang="en"/>
              <a:t>Comparing Values Across Categories. Ex: Number of customers by subscription plan</a:t>
            </a:r>
            <a:endParaRPr/>
          </a:p>
          <a:p>
            <a:pPr marL="457200" lvl="0" indent="-361950" algn="l" rtl="0">
              <a:spcBef>
                <a:spcPts val="0"/>
              </a:spcBef>
              <a:spcAft>
                <a:spcPts val="0"/>
              </a:spcAft>
              <a:buSzPts val="2100"/>
              <a:buChar char="-"/>
            </a:pPr>
            <a:r>
              <a:rPr lang="en"/>
              <a:t>Ranking or Ordering Categories. Ex: Countries by population</a:t>
            </a:r>
            <a:endParaRPr/>
          </a:p>
          <a:p>
            <a:pPr marL="457200" lvl="0" indent="-361950" algn="l" rtl="0">
              <a:spcBef>
                <a:spcPts val="0"/>
              </a:spcBef>
              <a:spcAft>
                <a:spcPts val="0"/>
              </a:spcAft>
              <a:buSzPts val="2100"/>
              <a:buChar char="-"/>
            </a:pPr>
            <a:r>
              <a:rPr lang="en"/>
              <a:t>Comparing Aggregated Metrics - What is the average / total / count per category?. Ex: Total sales by month</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6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Count plots </a:t>
            </a:r>
            <a:endParaRPr/>
          </a:p>
        </p:txBody>
      </p:sp>
      <p:sp>
        <p:nvSpPr>
          <p:cNvPr id="399" name="Google Shape;399;p6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When would you use a countplot? </a:t>
            </a:r>
            <a:endParaRPr/>
          </a:p>
          <a:p>
            <a:pPr marL="0" lvl="0" indent="0" algn="l" rtl="0">
              <a:spcBef>
                <a:spcPts val="1200"/>
              </a:spcBef>
              <a:spcAft>
                <a:spcPts val="1200"/>
              </a:spcAft>
              <a:buNone/>
            </a:pPr>
            <a:r>
              <a:rPr lang="en"/>
              <a:t>Brainstorm some examples </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6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Count plots </a:t>
            </a:r>
            <a:endParaRPr/>
          </a:p>
        </p:txBody>
      </p:sp>
      <p:sp>
        <p:nvSpPr>
          <p:cNvPr id="405" name="Google Shape;405;p6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Compare category frequencies</a:t>
            </a:r>
            <a:endParaRPr/>
          </a:p>
          <a:p>
            <a:pPr marL="0" lvl="0" indent="0" algn="l" rtl="0">
              <a:spcBef>
                <a:spcPts val="1200"/>
              </a:spcBef>
              <a:spcAft>
                <a:spcPts val="1200"/>
              </a:spcAft>
              <a:buNone/>
            </a:pPr>
            <a:r>
              <a:rPr lang="en"/>
              <a:t>Detect imbalances - Are some categories over or under represented?</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7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Histograms</a:t>
            </a:r>
            <a:endParaRPr/>
          </a:p>
        </p:txBody>
      </p:sp>
      <p:sp>
        <p:nvSpPr>
          <p:cNvPr id="411" name="Google Shape;411;p7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When would you use a histogram? </a:t>
            </a:r>
            <a:endParaRPr/>
          </a:p>
          <a:p>
            <a:pPr marL="0" lvl="0" indent="0" algn="l" rtl="0">
              <a:spcBef>
                <a:spcPts val="1200"/>
              </a:spcBef>
              <a:spcAft>
                <a:spcPts val="0"/>
              </a:spcAft>
              <a:buNone/>
            </a:pPr>
            <a:r>
              <a:rPr lang="en"/>
              <a:t>Brainstorm some examples </a:t>
            </a:r>
            <a:endParaRPr/>
          </a:p>
          <a:p>
            <a:pPr marL="0" lvl="0" indent="0" algn="l" rtl="0">
              <a:spcBef>
                <a:spcPts val="1200"/>
              </a:spcBef>
              <a:spcAft>
                <a:spcPts val="1200"/>
              </a:spcAft>
              <a:buNone/>
            </a:pPr>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7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Histograms</a:t>
            </a:r>
            <a:endParaRPr/>
          </a:p>
        </p:txBody>
      </p:sp>
      <p:sp>
        <p:nvSpPr>
          <p:cNvPr id="417" name="Google Shape;417;p7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Understanding the shape of data - Ex: Exam scores for a class</a:t>
            </a:r>
            <a:endParaRPr/>
          </a:p>
          <a:p>
            <a:pPr marL="457200" lvl="0" indent="-361950" algn="l" rtl="0">
              <a:spcBef>
                <a:spcPts val="1200"/>
              </a:spcBef>
              <a:spcAft>
                <a:spcPts val="0"/>
              </a:spcAft>
              <a:buSzPts val="2100"/>
              <a:buChar char="-"/>
            </a:pPr>
            <a:r>
              <a:rPr lang="en"/>
              <a:t>Is it normally distributed? Skewed left or right? Are there multiple peaks (bimodal)?</a:t>
            </a:r>
            <a:endParaRPr/>
          </a:p>
          <a:p>
            <a:pPr marL="0" lvl="0" indent="0" algn="l" rtl="0">
              <a:spcBef>
                <a:spcPts val="1200"/>
              </a:spcBef>
              <a:spcAft>
                <a:spcPts val="0"/>
              </a:spcAft>
              <a:buNone/>
            </a:pPr>
            <a:r>
              <a:rPr lang="en"/>
              <a:t>Checking for outliers - extremely high or low values</a:t>
            </a:r>
            <a:endParaRPr/>
          </a:p>
          <a:p>
            <a:pPr marL="0" lvl="0" indent="0" algn="l" rtl="0">
              <a:spcBef>
                <a:spcPts val="1200"/>
              </a:spcBef>
              <a:spcAft>
                <a:spcPts val="1200"/>
              </a:spcAft>
              <a:buNone/>
            </a:pPr>
            <a:r>
              <a:rPr lang="en"/>
              <a:t>Understanding your data - as a quick check for numerical data distributions in general in your dataset. </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7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Heatmaps</a:t>
            </a:r>
            <a:endParaRPr/>
          </a:p>
        </p:txBody>
      </p:sp>
      <p:sp>
        <p:nvSpPr>
          <p:cNvPr id="423" name="Google Shape;423;p7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When would you use a heatmap? </a:t>
            </a:r>
            <a:endParaRPr/>
          </a:p>
          <a:p>
            <a:pPr marL="0" lvl="0" indent="0" algn="l" rtl="0">
              <a:spcBef>
                <a:spcPts val="1200"/>
              </a:spcBef>
              <a:spcAft>
                <a:spcPts val="1200"/>
              </a:spcAft>
              <a:buNone/>
            </a:pPr>
            <a:r>
              <a:rPr lang="en"/>
              <a:t>Brainstorm some examples.</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7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Heatmaps</a:t>
            </a:r>
            <a:endParaRPr/>
          </a:p>
        </p:txBody>
      </p:sp>
      <p:sp>
        <p:nvSpPr>
          <p:cNvPr id="429" name="Google Shape;429;p7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Use heatmaps to show correlations </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7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Box plots and violin plots</a:t>
            </a:r>
            <a:endParaRPr/>
          </a:p>
        </p:txBody>
      </p:sp>
      <p:sp>
        <p:nvSpPr>
          <p:cNvPr id="435" name="Google Shape;435;p7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Use box plots or violin plots when you want median, quartiles, spread, and outliers, especially to compare groups.</a:t>
            </a:r>
            <a:endParaRPr/>
          </a:p>
          <a:p>
            <a:pPr marL="0" lvl="0" indent="0" algn="l" rtl="0">
              <a:spcBef>
                <a:spcPts val="1200"/>
              </a:spcBef>
              <a:spcAft>
                <a:spcPts val="1200"/>
              </a:spcAft>
              <a:buNone/>
            </a:pPr>
            <a:r>
              <a:rPr lang="en"/>
              <a:t>For example, to compare exam performance in different classes or house prices by neighborhood. </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7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Quiz</a:t>
            </a:r>
            <a:endParaRPr/>
          </a:p>
        </p:txBody>
      </p:sp>
      <p:sp>
        <p:nvSpPr>
          <p:cNvPr id="441" name="Google Shape;441;p7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For each scenario, choose the type of graph you would use to best visualize the data. Options: Line, Scatter, Bar, Count, Histogram, Box, Heatmap.</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7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Quiz</a:t>
            </a:r>
            <a:endParaRPr/>
          </a:p>
        </p:txBody>
      </p:sp>
      <p:sp>
        <p:nvSpPr>
          <p:cNvPr id="447" name="Google Shape;447;p7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77500" lnSpcReduction="20000"/>
          </a:bodyPr>
          <a:lstStyle/>
          <a:p>
            <a:pPr marL="0" lvl="0" indent="0" algn="l" rtl="0">
              <a:spcBef>
                <a:spcPts val="0"/>
              </a:spcBef>
              <a:spcAft>
                <a:spcPts val="0"/>
              </a:spcAft>
              <a:buNone/>
            </a:pPr>
            <a:r>
              <a:rPr lang="en"/>
              <a:t>1. A company wants to see how its monthly sales revenue has changed over the past 5 years.</a:t>
            </a:r>
            <a:endParaRPr/>
          </a:p>
          <a:p>
            <a:pPr marL="0" lvl="0" indent="0" algn="l" rtl="0">
              <a:spcBef>
                <a:spcPts val="1200"/>
              </a:spcBef>
              <a:spcAft>
                <a:spcPts val="0"/>
              </a:spcAft>
              <a:buNone/>
            </a:pPr>
            <a:r>
              <a:rPr lang="en"/>
              <a:t>2. A researcher collects data on hours studied and exam scores for 200 students to see if there’s a relationship between the two variables</a:t>
            </a:r>
            <a:endParaRPr/>
          </a:p>
          <a:p>
            <a:pPr marL="0" lvl="0" indent="0" algn="l" rtl="0">
              <a:spcBef>
                <a:spcPts val="1200"/>
              </a:spcBef>
              <a:spcAft>
                <a:spcPts val="0"/>
              </a:spcAft>
              <a:buNone/>
            </a:pPr>
            <a:r>
              <a:rPr lang="en"/>
              <a:t>3. A supermarket wants to show the total sales of different product categories (like dairy, produce, and snacks) in the last quarter.</a:t>
            </a:r>
            <a:endParaRPr/>
          </a:p>
          <a:p>
            <a:pPr marL="0" lvl="0" indent="0" algn="l" rtl="0">
              <a:spcBef>
                <a:spcPts val="1200"/>
              </a:spcBef>
              <a:spcAft>
                <a:spcPts val="0"/>
              </a:spcAft>
              <a:buNone/>
            </a:pPr>
            <a:r>
              <a:rPr lang="en"/>
              <a:t>4. A social media analyst wants to show the number of posts made by users each day of the week.</a:t>
            </a:r>
            <a:endParaRPr/>
          </a:p>
          <a:p>
            <a:pPr marL="0" lvl="0" indent="0" algn="l" rtl="0">
              <a:spcBef>
                <a:spcPts val="1200"/>
              </a:spcBef>
              <a:spcAft>
                <a:spcPts val="1200"/>
              </a:spcAft>
              <a:buNone/>
            </a:pPr>
            <a:r>
              <a:rPr lang="en"/>
              <a:t>5. A teacher wants to understand the distribution of test scores for a class of 50 students.</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7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Answers</a:t>
            </a:r>
            <a:endParaRPr/>
          </a:p>
        </p:txBody>
      </p:sp>
      <p:sp>
        <p:nvSpPr>
          <p:cNvPr id="453" name="Google Shape;453;p7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0"/>
              </a:spcAft>
              <a:buNone/>
            </a:pPr>
            <a:r>
              <a:rPr lang="en"/>
              <a:t>1. A company wants to see how its monthly sales revenue has changed over the past 5 years. </a:t>
            </a:r>
            <a:r>
              <a:rPr lang="en" b="1"/>
              <a:t>Line graph. </a:t>
            </a:r>
            <a:endParaRPr/>
          </a:p>
          <a:p>
            <a:pPr marL="457200" lvl="0" indent="-351948" algn="l" rtl="0">
              <a:spcBef>
                <a:spcPts val="1200"/>
              </a:spcBef>
              <a:spcAft>
                <a:spcPts val="0"/>
              </a:spcAft>
              <a:buSzPct val="100000"/>
              <a:buChar char="-"/>
            </a:pPr>
            <a:r>
              <a:rPr lang="en"/>
              <a:t>Line graphs show trends over time </a:t>
            </a:r>
            <a:endParaRPr/>
          </a:p>
          <a:p>
            <a:pPr marL="0" lvl="0" indent="0" algn="l" rtl="0">
              <a:spcBef>
                <a:spcPts val="1200"/>
              </a:spcBef>
              <a:spcAft>
                <a:spcPts val="0"/>
              </a:spcAft>
              <a:buNone/>
            </a:pPr>
            <a:r>
              <a:rPr lang="en"/>
              <a:t>2. A researcher collects data on hours studied and exam scores to see if there’s a relationship between the two variables. </a:t>
            </a:r>
            <a:r>
              <a:rPr lang="en" b="1"/>
              <a:t>Scatter plot</a:t>
            </a:r>
            <a:endParaRPr b="1"/>
          </a:p>
          <a:p>
            <a:pPr marL="457200" lvl="0" indent="-351948" algn="l" rtl="0">
              <a:spcBef>
                <a:spcPts val="1200"/>
              </a:spcBef>
              <a:spcAft>
                <a:spcPts val="0"/>
              </a:spcAft>
              <a:buSzPct val="100000"/>
              <a:buChar char="-"/>
            </a:pPr>
            <a:r>
              <a:rPr lang="en"/>
              <a:t>Scatter plots show the relationship between two numerical variables and help identify correlations.</a:t>
            </a:r>
            <a:endParaRPr/>
          </a:p>
          <a:p>
            <a:pPr marL="0" lvl="0" indent="0" algn="l" rtl="0">
              <a:spcBef>
                <a:spcPts val="1200"/>
              </a:spcBef>
              <a:spcAft>
                <a:spcPts val="1200"/>
              </a:spcAft>
              <a:buNone/>
            </a:pPr>
            <a:r>
              <a:rPr lang="en"/>
              <a:t>3. A supermarket wants to show the total sales of different product categories (like dairy, produce, and snacks) in the last quarter. </a:t>
            </a:r>
            <a:r>
              <a:rPr lang="en" b="1"/>
              <a:t>Bar chart</a:t>
            </a:r>
            <a:endParaRPr b="1"/>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7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Answers</a:t>
            </a:r>
            <a:endParaRPr/>
          </a:p>
        </p:txBody>
      </p:sp>
      <p:sp>
        <p:nvSpPr>
          <p:cNvPr id="459" name="Google Shape;459;p7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b="1"/>
          </a:p>
          <a:p>
            <a:pPr marL="0" lvl="0" indent="0" algn="l" rtl="0">
              <a:spcBef>
                <a:spcPts val="1200"/>
              </a:spcBef>
              <a:spcAft>
                <a:spcPts val="0"/>
              </a:spcAft>
              <a:buNone/>
            </a:pPr>
            <a:r>
              <a:rPr lang="en"/>
              <a:t>4. A social media analyst wants to show the number of posts made by users each day of the week. </a:t>
            </a:r>
            <a:r>
              <a:rPr lang="en" b="1"/>
              <a:t>Count plot</a:t>
            </a:r>
            <a:endParaRPr b="1"/>
          </a:p>
          <a:p>
            <a:pPr marL="457200" lvl="0" indent="-361950" algn="l" rtl="0">
              <a:spcBef>
                <a:spcPts val="1200"/>
              </a:spcBef>
              <a:spcAft>
                <a:spcPts val="0"/>
              </a:spcAft>
              <a:buSzPts val="2100"/>
              <a:buChar char="-"/>
            </a:pPr>
            <a:r>
              <a:rPr lang="en"/>
              <a:t>Count plots show frequency by category</a:t>
            </a:r>
            <a:endParaRPr/>
          </a:p>
          <a:p>
            <a:pPr marL="0" lvl="0" indent="0" algn="l" rtl="0">
              <a:spcBef>
                <a:spcPts val="1200"/>
              </a:spcBef>
              <a:spcAft>
                <a:spcPts val="0"/>
              </a:spcAft>
              <a:buNone/>
            </a:pPr>
            <a:r>
              <a:rPr lang="en"/>
              <a:t>5. A teacher wants to understand the distribution of test scores for a class of 50 students. </a:t>
            </a:r>
            <a:r>
              <a:rPr lang="en" b="1"/>
              <a:t>Histogram </a:t>
            </a:r>
            <a:endParaRPr b="1"/>
          </a:p>
          <a:p>
            <a:pPr marL="457200" lvl="0" indent="-361950" algn="l" rtl="0">
              <a:spcBef>
                <a:spcPts val="1200"/>
              </a:spcBef>
              <a:spcAft>
                <a:spcPts val="0"/>
              </a:spcAft>
              <a:buSzPts val="2100"/>
              <a:buChar char="-"/>
            </a:pPr>
            <a:r>
              <a:rPr lang="en"/>
              <a:t>Histograms show distribution</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7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Quiz</a:t>
            </a:r>
            <a:endParaRPr/>
          </a:p>
        </p:txBody>
      </p:sp>
      <p:sp>
        <p:nvSpPr>
          <p:cNvPr id="465" name="Google Shape;465;p79"/>
          <p:cNvSpPr txBox="1">
            <a:spLocks noGrp="1"/>
          </p:cNvSpPr>
          <p:nvPr>
            <p:ph type="body" idx="1"/>
          </p:nvPr>
        </p:nvSpPr>
        <p:spPr>
          <a:xfrm>
            <a:off x="311700" y="1199450"/>
            <a:ext cx="8520600" cy="3416400"/>
          </a:xfrm>
          <a:prstGeom prst="rect">
            <a:avLst/>
          </a:prstGeom>
        </p:spPr>
        <p:txBody>
          <a:bodyPr spcFirstLastPara="1" wrap="square" lIns="91425" tIns="91425" rIns="91425" bIns="91425" anchor="t" anchorCtr="0">
            <a:normAutofit fontScale="77500" lnSpcReduction="20000"/>
          </a:bodyPr>
          <a:lstStyle/>
          <a:p>
            <a:pPr marL="0" lvl="0" indent="0" algn="l" rtl="0">
              <a:spcBef>
                <a:spcPts val="0"/>
              </a:spcBef>
              <a:spcAft>
                <a:spcPts val="0"/>
              </a:spcAft>
              <a:buNone/>
            </a:pPr>
            <a:r>
              <a:rPr lang="en"/>
              <a:t>6. A data analyst wants to compare the median, quartiles, and outliers in salaries across three different departments in a company. </a:t>
            </a:r>
            <a:endParaRPr b="1"/>
          </a:p>
          <a:p>
            <a:pPr marL="0" lvl="0" indent="0" algn="l" rtl="0">
              <a:spcBef>
                <a:spcPts val="1200"/>
              </a:spcBef>
              <a:spcAft>
                <a:spcPts val="0"/>
              </a:spcAft>
              <a:buNone/>
            </a:pPr>
            <a:r>
              <a:rPr lang="en"/>
              <a:t>7. A meteorologist wants to visualize temperature variations across different cities and months of the year in a single chart.</a:t>
            </a:r>
            <a:endParaRPr/>
          </a:p>
          <a:p>
            <a:pPr marL="0" lvl="0" indent="0" algn="l" rtl="0">
              <a:spcBef>
                <a:spcPts val="1200"/>
              </a:spcBef>
              <a:spcAft>
                <a:spcPts val="0"/>
              </a:spcAft>
              <a:buNone/>
            </a:pPr>
            <a:r>
              <a:rPr lang="en"/>
              <a:t>8. A tech company wants to see the relationship between the number of hours spent on its app and the number of in-app purchases per user.</a:t>
            </a:r>
            <a:endParaRPr/>
          </a:p>
          <a:p>
            <a:pPr marL="0" lvl="0" indent="0" algn="l" rtl="0">
              <a:spcBef>
                <a:spcPts val="1200"/>
              </a:spcBef>
              <a:spcAft>
                <a:spcPts val="0"/>
              </a:spcAft>
              <a:buNone/>
            </a:pPr>
            <a:r>
              <a:rPr lang="en"/>
              <a:t>9. A store manager wants to visualize the most popular T-shirt sizes purchased over the past month.</a:t>
            </a:r>
            <a:endParaRPr/>
          </a:p>
          <a:p>
            <a:pPr marL="0" lvl="0" indent="0" algn="l" rtl="0">
              <a:spcBef>
                <a:spcPts val="1200"/>
              </a:spcBef>
              <a:spcAft>
                <a:spcPts val="1200"/>
              </a:spcAft>
              <a:buNone/>
            </a:pPr>
            <a:r>
              <a:rPr lang="en"/>
              <a:t>10. A fitness coach wants to show the trend of weekly step counts for a group of clients over a year.</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8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Answers</a:t>
            </a:r>
            <a:endParaRPr/>
          </a:p>
        </p:txBody>
      </p:sp>
      <p:sp>
        <p:nvSpPr>
          <p:cNvPr id="471" name="Google Shape;471;p80"/>
          <p:cNvSpPr txBox="1">
            <a:spLocks noGrp="1"/>
          </p:cNvSpPr>
          <p:nvPr>
            <p:ph type="body" idx="1"/>
          </p:nvPr>
        </p:nvSpPr>
        <p:spPr>
          <a:xfrm>
            <a:off x="311700" y="1199450"/>
            <a:ext cx="8520600" cy="3416400"/>
          </a:xfrm>
          <a:prstGeom prst="rect">
            <a:avLst/>
          </a:prstGeom>
        </p:spPr>
        <p:txBody>
          <a:bodyPr spcFirstLastPara="1" wrap="square" lIns="91425" tIns="91425" rIns="91425" bIns="91425" anchor="t" anchorCtr="0">
            <a:normAutofit fontScale="85000" lnSpcReduction="10000"/>
          </a:bodyPr>
          <a:lstStyle/>
          <a:p>
            <a:pPr marL="0" lvl="0" indent="0" algn="l" rtl="0">
              <a:spcBef>
                <a:spcPts val="0"/>
              </a:spcBef>
              <a:spcAft>
                <a:spcPts val="0"/>
              </a:spcAft>
              <a:buNone/>
            </a:pPr>
            <a:r>
              <a:rPr lang="en"/>
              <a:t>6. A data analyst wants to compare the median, quartiles, and outliers in salaries across three different departments in a company. </a:t>
            </a:r>
            <a:r>
              <a:rPr lang="en" b="1"/>
              <a:t>Box plot</a:t>
            </a:r>
            <a:endParaRPr b="1"/>
          </a:p>
          <a:p>
            <a:pPr marL="0" lvl="0" indent="0" algn="l" rtl="0">
              <a:spcBef>
                <a:spcPts val="1200"/>
              </a:spcBef>
              <a:spcAft>
                <a:spcPts val="0"/>
              </a:spcAft>
              <a:buNone/>
            </a:pPr>
            <a:r>
              <a:rPr lang="en"/>
              <a:t>7. A meteorologist wants to visualize correlations between many weather-related variables including rainfall cm, wind speed, and temperature. </a:t>
            </a:r>
            <a:r>
              <a:rPr lang="en" b="1"/>
              <a:t>Heatmap</a:t>
            </a:r>
            <a:endParaRPr b="1"/>
          </a:p>
          <a:p>
            <a:pPr marL="0" lvl="0" indent="0" algn="l" rtl="0">
              <a:spcBef>
                <a:spcPts val="1200"/>
              </a:spcBef>
              <a:spcAft>
                <a:spcPts val="0"/>
              </a:spcAft>
              <a:buNone/>
            </a:pPr>
            <a:r>
              <a:rPr lang="en"/>
              <a:t>8. A tech company wants to see the relationship between the number of hours spent on its app and the number of in-app purchases per user. </a:t>
            </a:r>
            <a:r>
              <a:rPr lang="en" b="1"/>
              <a:t>Scatter plot</a:t>
            </a:r>
            <a:endParaRPr b="1"/>
          </a:p>
          <a:p>
            <a:pPr marL="0" lvl="0" indent="0" algn="l" rtl="0">
              <a:spcBef>
                <a:spcPts val="1200"/>
              </a:spcBef>
              <a:spcAft>
                <a:spcPts val="1200"/>
              </a:spcAft>
              <a:buNone/>
            </a:pPr>
            <a:r>
              <a:rPr lang="en"/>
              <a:t>9. A store manager wants to visualize the most popular T-shirt sizes purchased over the past month. </a:t>
            </a:r>
            <a:r>
              <a:rPr lang="en" b="1"/>
              <a:t>Countplot</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81"/>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Avoid misleading values</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8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Correlation≠ Causation</a:t>
            </a:r>
            <a:endParaRPr/>
          </a:p>
        </p:txBody>
      </p:sp>
      <p:sp>
        <p:nvSpPr>
          <p:cNvPr id="482" name="Google Shape;482;p8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u="sng" dirty="0">
                <a:solidFill>
                  <a:schemeClr val="hlink"/>
                </a:solidFill>
                <a:hlinkClick r:id="rId3"/>
              </a:rPr>
              <a:t>https://www.tylervigen.com/spurious-correlations</a:t>
            </a:r>
            <a:endParaRPr dirty="0"/>
          </a:p>
          <a:p>
            <a:pPr marL="0" lvl="0" indent="0" algn="l" rtl="0">
              <a:spcBef>
                <a:spcPts val="1200"/>
              </a:spcBef>
              <a:spcAft>
                <a:spcPts val="0"/>
              </a:spcAft>
              <a:buNone/>
            </a:pPr>
            <a:r>
              <a:rPr lang="en" dirty="0"/>
              <a:t>What is the difference between correlation and causation?</a:t>
            </a:r>
            <a:endParaRPr dirty="0"/>
          </a:p>
          <a:p>
            <a:pPr marL="0" lvl="0" indent="0" algn="l" rtl="0">
              <a:spcBef>
                <a:spcPts val="1200"/>
              </a:spcBef>
              <a:spcAft>
                <a:spcPts val="1200"/>
              </a:spcAft>
              <a:buNone/>
            </a:pPr>
            <a:endParaRPr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8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Colors</a:t>
            </a:r>
            <a:endParaRPr/>
          </a:p>
        </p:txBody>
      </p:sp>
      <p:sp>
        <p:nvSpPr>
          <p:cNvPr id="488" name="Google Shape;488;p8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Be careful with colors</a:t>
            </a:r>
            <a:endParaRPr/>
          </a:p>
          <a:p>
            <a:pPr marL="0" lvl="0" indent="0" algn="l" rtl="0">
              <a:spcBef>
                <a:spcPts val="1200"/>
              </a:spcBef>
              <a:spcAft>
                <a:spcPts val="0"/>
              </a:spcAft>
              <a:buNone/>
            </a:pPr>
            <a:r>
              <a:rPr lang="en"/>
              <a:t>For example:</a:t>
            </a:r>
            <a:endParaRPr/>
          </a:p>
          <a:p>
            <a:pPr marL="457200" lvl="0" indent="-361950" algn="l" rtl="0">
              <a:spcBef>
                <a:spcPts val="1200"/>
              </a:spcBef>
              <a:spcAft>
                <a:spcPts val="0"/>
              </a:spcAft>
              <a:buSzPts val="2100"/>
              <a:buChar char="-"/>
            </a:pPr>
            <a:r>
              <a:rPr lang="en"/>
              <a:t>Red/green scales can imply good/bad</a:t>
            </a:r>
            <a:endParaRPr/>
          </a:p>
          <a:p>
            <a:pPr marL="457200" lvl="0" indent="-361950" algn="l" rtl="0">
              <a:spcBef>
                <a:spcPts val="0"/>
              </a:spcBef>
              <a:spcAft>
                <a:spcPts val="0"/>
              </a:spcAft>
              <a:buSzPts val="2100"/>
              <a:buChar char="-"/>
            </a:pPr>
            <a:r>
              <a:rPr lang="en"/>
              <a:t>Too many colors can be distracting</a:t>
            </a:r>
            <a:endParaRPr/>
          </a:p>
          <a:p>
            <a:pPr marL="457200" lvl="0" indent="-361950" algn="l" rtl="0">
              <a:spcBef>
                <a:spcPts val="0"/>
              </a:spcBef>
              <a:spcAft>
                <a:spcPts val="0"/>
              </a:spcAft>
              <a:buSzPts val="2100"/>
              <a:buChar char="-"/>
            </a:pPr>
            <a:r>
              <a:rPr lang="en"/>
              <a:t>Very similar colors for different values make charts difficult to read</a:t>
            </a:r>
            <a:endParaRPr/>
          </a:p>
          <a:p>
            <a:pPr marL="457200" lvl="0" indent="-361950" algn="l" rtl="0">
              <a:spcBef>
                <a:spcPts val="0"/>
              </a:spcBef>
              <a:spcAft>
                <a:spcPts val="0"/>
              </a:spcAft>
              <a:buSzPts val="2100"/>
              <a:buChar char="-"/>
            </a:pPr>
            <a:r>
              <a:rPr lang="en"/>
              <a:t>Remember color blindness is pretty common</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8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Chart choice mistakes</a:t>
            </a:r>
            <a:endParaRPr/>
          </a:p>
        </p:txBody>
      </p:sp>
      <p:sp>
        <p:nvSpPr>
          <p:cNvPr id="494" name="Google Shape;494;p8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Don't use a line chart for unordered data</a:t>
            </a:r>
            <a:endParaRPr/>
          </a:p>
          <a:p>
            <a:pPr marL="0" lvl="0" indent="0" algn="l" rtl="0">
              <a:spcBef>
                <a:spcPts val="1200"/>
              </a:spcBef>
              <a:spcAft>
                <a:spcPts val="1200"/>
              </a:spcAft>
              <a:buNone/>
            </a:pPr>
            <a:r>
              <a:rPr lang="en"/>
              <a:t>Don't use a pie chart with too many slices</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8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Practice</a:t>
            </a:r>
            <a:endParaRPr/>
          </a:p>
        </p:txBody>
      </p:sp>
      <p:sp>
        <p:nvSpPr>
          <p:cNvPr id="500" name="Google Shape;500;p8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In the notebook, practice by fixing the misleading or bad graphs. </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8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Homework</a:t>
            </a:r>
            <a:endParaRPr/>
          </a:p>
        </p:txBody>
      </p:sp>
      <p:sp>
        <p:nvSpPr>
          <p:cNvPr id="506" name="Google Shape;506;p8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Create a misleading chart.</a:t>
            </a:r>
            <a:endParaRPr/>
          </a:p>
          <a:p>
            <a:pPr marL="0" lvl="0" indent="0" algn="l" rtl="0">
              <a:spcBef>
                <a:spcPts val="1200"/>
              </a:spcBef>
              <a:spcAft>
                <a:spcPts val="0"/>
              </a:spcAft>
              <a:buNone/>
            </a:pPr>
            <a:r>
              <a:rPr lang="en"/>
              <a:t>Explain why it is misleading. </a:t>
            </a:r>
            <a:endParaRPr/>
          </a:p>
          <a:p>
            <a:pPr marL="0" lvl="0" indent="0" algn="l" rtl="0">
              <a:spcBef>
                <a:spcPts val="1200"/>
              </a:spcBef>
              <a:spcAft>
                <a:spcPts val="1200"/>
              </a:spcAft>
              <a:buNone/>
            </a:pPr>
            <a:r>
              <a:rPr lang="en"/>
              <a:t>Show how to fix it. </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8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Resources</a:t>
            </a:r>
            <a:endParaRPr/>
          </a:p>
        </p:txBody>
      </p:sp>
      <p:sp>
        <p:nvSpPr>
          <p:cNvPr id="512" name="Google Shape;512;p8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From Data to Viz</a:t>
            </a:r>
            <a:endParaRPr/>
          </a:p>
          <a:p>
            <a:pPr marL="0" lvl="0" indent="0" algn="l" rtl="0">
              <a:spcBef>
                <a:spcPts val="1200"/>
              </a:spcBef>
              <a:spcAft>
                <a:spcPts val="1200"/>
              </a:spcAft>
              <a:buNone/>
            </a:pPr>
            <a:r>
              <a:rPr lang="en"/>
              <a:t>Data Journalism: Interpreting Visuals</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88"/>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Data storytelling frameworks</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D64B39D-6D38-15B4-AF1E-42DC7EB79C69}"/>
              </a:ext>
            </a:extLst>
          </p:cNvPr>
          <p:cNvSpPr>
            <a:spLocks noGrp="1"/>
          </p:cNvSpPr>
          <p:nvPr>
            <p:ph type="title"/>
          </p:nvPr>
        </p:nvSpPr>
        <p:spPr/>
        <p:txBody>
          <a:bodyPr>
            <a:normAutofit fontScale="90000"/>
          </a:bodyPr>
          <a:lstStyle/>
          <a:p>
            <a:r>
              <a:rPr lang="en-GB" dirty="0"/>
              <a:t>Data Storytelling</a:t>
            </a:r>
          </a:p>
        </p:txBody>
      </p:sp>
      <p:pic>
        <p:nvPicPr>
          <p:cNvPr id="6146" name="Picture 2" descr="Two silhouettes of business presenters. On the left, it shows &quot;inform&quot; under most data communications. &quot;Know this&quot; is listed under inform. On the right, you have &quot;influence&quot; under &quot;Data Storytelling&quot;. Below it are listed understand this, feel this, and do this.">
            <a:extLst>
              <a:ext uri="{FF2B5EF4-FFF2-40B4-BE49-F238E27FC236}">
                <a16:creationId xmlns:a16="http://schemas.microsoft.com/office/drawing/2014/main" id="{FB8E6AFE-B153-4D9D-D534-5686B349B9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829" y="1373216"/>
            <a:ext cx="7609522" cy="29909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357249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10E0C-8AB2-E8F2-4241-FF2EC8B4F37D}"/>
              </a:ext>
            </a:extLst>
          </p:cNvPr>
          <p:cNvSpPr>
            <a:spLocks noGrp="1"/>
          </p:cNvSpPr>
          <p:nvPr>
            <p:ph type="title"/>
          </p:nvPr>
        </p:nvSpPr>
        <p:spPr/>
        <p:txBody>
          <a:bodyPr>
            <a:normAutofit fontScale="90000"/>
          </a:bodyPr>
          <a:lstStyle/>
          <a:p>
            <a:r>
              <a:rPr lang="en-GB" dirty="0"/>
              <a:t>Why do we need it? </a:t>
            </a:r>
          </a:p>
        </p:txBody>
      </p:sp>
      <p:pic>
        <p:nvPicPr>
          <p:cNvPr id="5" name="Picture 4">
            <a:extLst>
              <a:ext uri="{FF2B5EF4-FFF2-40B4-BE49-F238E27FC236}">
                <a16:creationId xmlns:a16="http://schemas.microsoft.com/office/drawing/2014/main" id="{10970E37-AA10-5243-17A7-CC01DACF8764}"/>
              </a:ext>
            </a:extLst>
          </p:cNvPr>
          <p:cNvPicPr>
            <a:picLocks noChangeAspect="1"/>
          </p:cNvPicPr>
          <p:nvPr/>
        </p:nvPicPr>
        <p:blipFill>
          <a:blip r:embed="rId3"/>
          <a:stretch>
            <a:fillRect/>
          </a:stretch>
        </p:blipFill>
        <p:spPr>
          <a:xfrm>
            <a:off x="490576" y="1218695"/>
            <a:ext cx="8162847" cy="3479780"/>
          </a:xfrm>
          <a:prstGeom prst="rect">
            <a:avLst/>
          </a:prstGeom>
        </p:spPr>
      </p:pic>
    </p:spTree>
    <p:extLst>
      <p:ext uri="{BB962C8B-B14F-4D97-AF65-F5344CB8AC3E}">
        <p14:creationId xmlns:p14="http://schemas.microsoft.com/office/powerpoint/2010/main" val="104166560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2AE66-00C2-E998-BCC9-1B108752D3BE}"/>
              </a:ext>
            </a:extLst>
          </p:cNvPr>
          <p:cNvSpPr>
            <a:spLocks noGrp="1"/>
          </p:cNvSpPr>
          <p:nvPr>
            <p:ph type="title"/>
          </p:nvPr>
        </p:nvSpPr>
        <p:spPr>
          <a:xfrm>
            <a:off x="311700" y="445025"/>
            <a:ext cx="8520600" cy="572700"/>
          </a:xfrm>
        </p:spPr>
        <p:txBody>
          <a:bodyPr wrap="square" anchor="ctr">
            <a:normAutofit/>
          </a:bodyPr>
          <a:lstStyle/>
          <a:p>
            <a:r>
              <a:rPr lang="en-GB" dirty="0"/>
              <a:t>Data Storytelling Frameworks</a:t>
            </a:r>
          </a:p>
        </p:txBody>
      </p:sp>
      <p:sp>
        <p:nvSpPr>
          <p:cNvPr id="5" name="TextBox 4">
            <a:extLst>
              <a:ext uri="{FF2B5EF4-FFF2-40B4-BE49-F238E27FC236}">
                <a16:creationId xmlns:a16="http://schemas.microsoft.com/office/drawing/2014/main" id="{67997A8E-A6DA-4391-9C98-79898EA5DEC5}"/>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06950" y="1100159"/>
            <a:ext cx="4165050" cy="3598315"/>
          </a:xfrm>
          <a:prstGeom prst="rect">
            <a:avLst/>
          </a:prstGeom>
          <a:noFill/>
          <a:ln>
            <a:noFill/>
          </a:ln>
        </p:spPr>
        <p:txBody>
          <a:bodyPr>
            <a:normAutofit fontScale="92500" lnSpcReduction="20000"/>
          </a:bodyPr>
          <a:lstStyle/>
          <a:p>
            <a:pPr marL="0" indent="0">
              <a:lnSpc>
                <a:spcPct val="90000"/>
              </a:lnSpc>
              <a:spcBef>
                <a:spcPts val="2500"/>
              </a:spcBef>
              <a:buClr>
                <a:srgbClr val="D9D9D9"/>
              </a:buClr>
              <a:buSzPts val="1200"/>
              <a:buFont typeface="Maven Pro"/>
              <a:buNone/>
            </a:pPr>
            <a:r>
              <a:rPr lang="en-GB" sz="1500" b="1" dirty="0">
                <a:solidFill>
                  <a:schemeClr val="tx1"/>
                </a:solidFill>
                <a:latin typeface="Maven Pro" panose="020B0604020202020204" charset="0"/>
              </a:rPr>
              <a:t>Audience Understanding</a:t>
            </a:r>
          </a:p>
          <a:p>
            <a:pPr marL="0" lvl="1" indent="0">
              <a:lnSpc>
                <a:spcPct val="90000"/>
              </a:lnSpc>
              <a:buClr>
                <a:srgbClr val="D9D9D9"/>
              </a:buClr>
              <a:buSzPts val="1200"/>
              <a:buFont typeface="Maven Pro"/>
              <a:buNone/>
            </a:pPr>
            <a:r>
              <a:rPr lang="en-GB" sz="1500" dirty="0">
                <a:solidFill>
                  <a:schemeClr val="tx1"/>
                </a:solidFill>
                <a:latin typeface="Maven Pro" panose="020B0604020202020204" charset="0"/>
              </a:rPr>
              <a:t>Effective data storytelling begins by understanding the audience's needs, preferences, and background to tailor the narrative.</a:t>
            </a:r>
          </a:p>
          <a:p>
            <a:pPr marL="0" indent="0">
              <a:lnSpc>
                <a:spcPct val="90000"/>
              </a:lnSpc>
              <a:spcBef>
                <a:spcPts val="2500"/>
              </a:spcBef>
              <a:buClr>
                <a:srgbClr val="D9D9D9"/>
              </a:buClr>
              <a:buSzPts val="1200"/>
              <a:buFont typeface="Maven Pro"/>
              <a:buNone/>
            </a:pPr>
            <a:r>
              <a:rPr lang="en-GB" sz="1500" b="1" dirty="0">
                <a:solidFill>
                  <a:schemeClr val="tx1"/>
                </a:solidFill>
                <a:latin typeface="Maven Pro" panose="020B0604020202020204" charset="0"/>
              </a:rPr>
              <a:t>Clear Message Definition</a:t>
            </a:r>
          </a:p>
          <a:p>
            <a:pPr marL="0" lvl="1" indent="0">
              <a:lnSpc>
                <a:spcPct val="90000"/>
              </a:lnSpc>
              <a:buClr>
                <a:srgbClr val="D9D9D9"/>
              </a:buClr>
              <a:buSzPts val="1200"/>
              <a:buFont typeface="Maven Pro"/>
              <a:buNone/>
            </a:pPr>
            <a:r>
              <a:rPr lang="en-GB" sz="1500" dirty="0">
                <a:solidFill>
                  <a:schemeClr val="tx1"/>
                </a:solidFill>
                <a:latin typeface="Maven Pro" panose="020B0604020202020204" charset="0"/>
              </a:rPr>
              <a:t>Defining a concise, focused message helps drive the story and ensures clarity throughout the presentation.</a:t>
            </a:r>
          </a:p>
          <a:p>
            <a:pPr marL="0" indent="0">
              <a:lnSpc>
                <a:spcPct val="90000"/>
              </a:lnSpc>
              <a:spcBef>
                <a:spcPts val="2500"/>
              </a:spcBef>
              <a:buClr>
                <a:srgbClr val="D9D9D9"/>
              </a:buClr>
              <a:buSzPts val="1200"/>
              <a:buFont typeface="Maven Pro"/>
              <a:buNone/>
            </a:pPr>
            <a:r>
              <a:rPr lang="en-GB" sz="1500" b="1" dirty="0">
                <a:solidFill>
                  <a:schemeClr val="tx1"/>
                </a:solidFill>
                <a:latin typeface="Maven Pro" panose="020B0604020202020204" charset="0"/>
              </a:rPr>
              <a:t>Supporting Visuals</a:t>
            </a:r>
          </a:p>
          <a:p>
            <a:pPr marL="0" lvl="1" indent="0">
              <a:lnSpc>
                <a:spcPct val="90000"/>
              </a:lnSpc>
              <a:buClr>
                <a:srgbClr val="D9D9D9"/>
              </a:buClr>
              <a:buSzPts val="1200"/>
              <a:buFont typeface="Maven Pro"/>
              <a:buNone/>
            </a:pPr>
            <a:r>
              <a:rPr lang="en-GB" sz="1500" dirty="0">
                <a:solidFill>
                  <a:schemeClr val="tx1"/>
                </a:solidFill>
                <a:latin typeface="Maven Pro" panose="020B0604020202020204" charset="0"/>
              </a:rPr>
              <a:t>Using charts, graphs, and imagery makes key insights more impactful and helps viewers understand complex data easily.</a:t>
            </a:r>
          </a:p>
          <a:p>
            <a:pPr marL="0" indent="0">
              <a:lnSpc>
                <a:spcPct val="90000"/>
              </a:lnSpc>
              <a:spcBef>
                <a:spcPts val="2500"/>
              </a:spcBef>
              <a:buClr>
                <a:srgbClr val="D9D9D9"/>
              </a:buClr>
              <a:buSzPts val="1200"/>
              <a:buFont typeface="Maven Pro"/>
              <a:buNone/>
            </a:pPr>
            <a:r>
              <a:rPr lang="en-GB" sz="1500" b="1" dirty="0">
                <a:solidFill>
                  <a:schemeClr val="tx1"/>
                </a:solidFill>
                <a:latin typeface="Maven Pro" panose="020B0604020202020204" charset="0"/>
              </a:rPr>
              <a:t>Storytelling Frameworks</a:t>
            </a:r>
          </a:p>
          <a:p>
            <a:pPr marL="0" lvl="1" indent="0">
              <a:lnSpc>
                <a:spcPct val="90000"/>
              </a:lnSpc>
              <a:buClr>
                <a:srgbClr val="D9D9D9"/>
              </a:buClr>
              <a:buSzPts val="1200"/>
              <a:buFont typeface="Maven Pro"/>
              <a:buNone/>
            </a:pPr>
            <a:r>
              <a:rPr lang="en-GB" sz="1500" dirty="0">
                <a:solidFill>
                  <a:schemeClr val="tx1"/>
                </a:solidFill>
                <a:latin typeface="Maven Pro" panose="020B0604020202020204" charset="0"/>
              </a:rPr>
              <a:t>Frameworks guide viewers through engaging narratives that drive understanding and action.</a:t>
            </a:r>
          </a:p>
        </p:txBody>
      </p:sp>
      <p:pic>
        <p:nvPicPr>
          <p:cNvPr id="4" name="Picture 3">
            <a:extLst>
              <a:ext uri="{FF2B5EF4-FFF2-40B4-BE49-F238E27FC236}">
                <a16:creationId xmlns:a16="http://schemas.microsoft.com/office/drawing/2014/main" id="{B02056FF-4AD4-490C-83F7-78BCEAD97173}"/>
              </a:ext>
            </a:extLst>
          </p:cNvPr>
          <p:cNvPicPr>
            <a:picLocks noChangeAspect="1"/>
          </p:cNvPicPr>
          <p:nvPr/>
        </p:nvPicPr>
        <p:blipFill>
          <a:blip r:embed="rId3"/>
          <a:srcRect l="12410" r="13230" b="2"/>
          <a:stretch>
            <a:fillRect/>
          </a:stretch>
        </p:blipFill>
        <p:spPr>
          <a:xfrm>
            <a:off x="4667250" y="1208225"/>
            <a:ext cx="4165050" cy="3360650"/>
          </a:xfrm>
          <a:prstGeom prst="rect">
            <a:avLst/>
          </a:prstGeom>
          <a:ln>
            <a:noFill/>
          </a:ln>
        </p:spPr>
      </p:pic>
    </p:spTree>
    <p:extLst>
      <p:ext uri="{BB962C8B-B14F-4D97-AF65-F5344CB8AC3E}">
        <p14:creationId xmlns:p14="http://schemas.microsoft.com/office/powerpoint/2010/main" val="69820090"/>
      </p:ext>
    </p:extLst>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8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dirty="0"/>
              <a:t>Data Storytelling Frameworks</a:t>
            </a:r>
            <a:endParaRPr dirty="0"/>
          </a:p>
        </p:txBody>
      </p:sp>
      <p:sp>
        <p:nvSpPr>
          <p:cNvPr id="523" name="Google Shape;523;p8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1200"/>
              </a:spcAft>
              <a:buNone/>
            </a:pPr>
            <a:r>
              <a:rPr lang="en-GB" b="1" dirty="0"/>
              <a:t>1. OIA (Observation-Insight-Action): </a:t>
            </a:r>
            <a:r>
              <a:rPr lang="en-GB" dirty="0"/>
              <a:t>Best for operational teams. 1) State the Observation (data fact), 2) Explain the Insight (why it matters), 3) Define the Action (what to do).</a:t>
            </a:r>
          </a:p>
          <a:p>
            <a:pPr marL="0" lvl="0" indent="0">
              <a:spcAft>
                <a:spcPts val="1200"/>
              </a:spcAft>
              <a:buNone/>
            </a:pPr>
            <a:r>
              <a:rPr lang="en-GB" b="1" dirty="0"/>
              <a:t>2. SCQA Method</a:t>
            </a:r>
            <a:r>
              <a:rPr lang="en-GB" dirty="0"/>
              <a:t>: Structured narrative for presentations. Situation (context), Complication (problem), Question (what now?), Answer (solution).</a:t>
            </a:r>
          </a:p>
          <a:p>
            <a:pPr marL="0" lvl="0" indent="0">
              <a:spcAft>
                <a:spcPts val="1200"/>
              </a:spcAft>
              <a:buNone/>
            </a:pPr>
            <a:r>
              <a:rPr lang="en-GB" b="1" dirty="0"/>
              <a:t>3. DIKW Framework</a:t>
            </a:r>
            <a:r>
              <a:rPr lang="en-GB" dirty="0"/>
              <a:t>: Shows the analytical process from raw data to insight. Data, Information, Knowledge, Wisdom (mapping visual elements to the narrative).</a:t>
            </a:r>
            <a:endParaRPr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B4A11-03BC-38EC-DEB6-2165F148476B}"/>
              </a:ext>
            </a:extLst>
          </p:cNvPr>
          <p:cNvSpPr>
            <a:spLocks noGrp="1"/>
          </p:cNvSpPr>
          <p:nvPr>
            <p:ph type="title"/>
          </p:nvPr>
        </p:nvSpPr>
        <p:spPr/>
        <p:txBody>
          <a:bodyPr>
            <a:normAutofit fontScale="90000"/>
          </a:bodyPr>
          <a:lstStyle/>
          <a:p>
            <a:r>
              <a:rPr lang="en-GB" dirty="0"/>
              <a:t>The OIA Framework Breakdown</a:t>
            </a:r>
            <a:br>
              <a:rPr lang="en-GB" dirty="0"/>
            </a:br>
            <a:endParaRPr lang="en-GB" dirty="0"/>
          </a:p>
        </p:txBody>
      </p:sp>
      <p:sp>
        <p:nvSpPr>
          <p:cNvPr id="3" name="Text Placeholder 2">
            <a:extLst>
              <a:ext uri="{FF2B5EF4-FFF2-40B4-BE49-F238E27FC236}">
                <a16:creationId xmlns:a16="http://schemas.microsoft.com/office/drawing/2014/main" id="{88418765-0773-0249-7C7A-DAD162077921}"/>
              </a:ext>
            </a:extLst>
          </p:cNvPr>
          <p:cNvSpPr>
            <a:spLocks noGrp="1"/>
          </p:cNvSpPr>
          <p:nvPr>
            <p:ph type="body" idx="1"/>
          </p:nvPr>
        </p:nvSpPr>
        <p:spPr/>
        <p:txBody>
          <a:bodyPr>
            <a:normAutofit/>
          </a:bodyPr>
          <a:lstStyle/>
          <a:p>
            <a:r>
              <a:rPr lang="en-GB" b="1" dirty="0"/>
              <a:t>Observation (Data Fact): </a:t>
            </a:r>
            <a:r>
              <a:rPr lang="en-GB" dirty="0"/>
              <a:t>State the raw fact, data point, or behaviour observed. This is objective and verifiable </a:t>
            </a:r>
          </a:p>
          <a:p>
            <a:r>
              <a:rPr lang="en-GB" b="1" dirty="0"/>
              <a:t>Insight (Why it Matters): </a:t>
            </a:r>
            <a:r>
              <a:rPr lang="en-GB" dirty="0"/>
              <a:t>Analyse the "so what?" to explain the cause or impact on the business. This adds context to the observation </a:t>
            </a:r>
          </a:p>
          <a:p>
            <a:r>
              <a:rPr lang="en-GB" b="1" dirty="0"/>
              <a:t>Action (What to Do): </a:t>
            </a:r>
            <a:r>
              <a:rPr lang="en-GB" dirty="0"/>
              <a:t>Define a concrete, actionable step to take. This must be specific, measurable, and aimed at resolving the issue.</a:t>
            </a:r>
          </a:p>
        </p:txBody>
      </p:sp>
    </p:spTree>
    <p:extLst>
      <p:ext uri="{BB962C8B-B14F-4D97-AF65-F5344CB8AC3E}">
        <p14:creationId xmlns:p14="http://schemas.microsoft.com/office/powerpoint/2010/main" val="406363374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79761-95C3-9AE6-E538-A7C81B191D0F}"/>
              </a:ext>
            </a:extLst>
          </p:cNvPr>
          <p:cNvSpPr>
            <a:spLocks noGrp="1"/>
          </p:cNvSpPr>
          <p:nvPr>
            <p:ph type="title"/>
          </p:nvPr>
        </p:nvSpPr>
        <p:spPr/>
        <p:txBody>
          <a:bodyPr>
            <a:normAutofit fontScale="90000"/>
          </a:bodyPr>
          <a:lstStyle/>
          <a:p>
            <a:r>
              <a:rPr lang="en-GB" dirty="0"/>
              <a:t>OIA in Action</a:t>
            </a:r>
            <a:br>
              <a:rPr lang="en-GB" dirty="0"/>
            </a:br>
            <a:endParaRPr lang="en-GB" dirty="0"/>
          </a:p>
        </p:txBody>
      </p:sp>
      <p:sp>
        <p:nvSpPr>
          <p:cNvPr id="3" name="Text Placeholder 2">
            <a:extLst>
              <a:ext uri="{FF2B5EF4-FFF2-40B4-BE49-F238E27FC236}">
                <a16:creationId xmlns:a16="http://schemas.microsoft.com/office/drawing/2014/main" id="{27734C0D-D140-45C0-0A09-EB6DBA0167D6}"/>
              </a:ext>
            </a:extLst>
          </p:cNvPr>
          <p:cNvSpPr>
            <a:spLocks noGrp="1"/>
          </p:cNvSpPr>
          <p:nvPr>
            <p:ph type="body" idx="1"/>
          </p:nvPr>
        </p:nvSpPr>
        <p:spPr/>
        <p:txBody>
          <a:bodyPr/>
          <a:lstStyle/>
          <a:p>
            <a:pPr marL="95250" indent="0">
              <a:buNone/>
            </a:pPr>
            <a:r>
              <a:rPr lang="en-GB" dirty="0"/>
              <a:t>Example: Marketing Performance</a:t>
            </a:r>
          </a:p>
          <a:p>
            <a:r>
              <a:rPr lang="en-GB" dirty="0"/>
              <a:t>Observation: Web conversions dropped 14% this quarter.</a:t>
            </a:r>
          </a:p>
          <a:p>
            <a:r>
              <a:rPr lang="en-GB" dirty="0"/>
              <a:t>Insight: Data shows that paid traffic quality declined, indicating low-intent users are clicking ads.</a:t>
            </a:r>
          </a:p>
          <a:p>
            <a:r>
              <a:rPr lang="en-GB" dirty="0"/>
              <a:t>Action: Pause underperforming ad campaigns and reallocate the budget toward higher-intent organic channels.</a:t>
            </a:r>
          </a:p>
        </p:txBody>
      </p:sp>
    </p:spTree>
    <p:extLst>
      <p:ext uri="{BB962C8B-B14F-4D97-AF65-F5344CB8AC3E}">
        <p14:creationId xmlns:p14="http://schemas.microsoft.com/office/powerpoint/2010/main" val="152613652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BDEC4-3369-E290-8757-9324DC3551B9}"/>
              </a:ext>
            </a:extLst>
          </p:cNvPr>
          <p:cNvSpPr>
            <a:spLocks noGrp="1"/>
          </p:cNvSpPr>
          <p:nvPr>
            <p:ph type="title"/>
          </p:nvPr>
        </p:nvSpPr>
        <p:spPr/>
        <p:txBody>
          <a:bodyPr>
            <a:normAutofit fontScale="90000"/>
          </a:bodyPr>
          <a:lstStyle/>
          <a:p>
            <a:r>
              <a:rPr lang="en-GB" dirty="0"/>
              <a:t>SCQA Method</a:t>
            </a:r>
          </a:p>
        </p:txBody>
      </p:sp>
      <p:sp>
        <p:nvSpPr>
          <p:cNvPr id="3" name="Text Placeholder 2">
            <a:extLst>
              <a:ext uri="{FF2B5EF4-FFF2-40B4-BE49-F238E27FC236}">
                <a16:creationId xmlns:a16="http://schemas.microsoft.com/office/drawing/2014/main" id="{C0D5E264-B556-F28C-D58D-461000F1D267}"/>
              </a:ext>
            </a:extLst>
          </p:cNvPr>
          <p:cNvSpPr>
            <a:spLocks noGrp="1"/>
          </p:cNvSpPr>
          <p:nvPr>
            <p:ph type="body" idx="1"/>
          </p:nvPr>
        </p:nvSpPr>
        <p:spPr>
          <a:xfrm>
            <a:off x="640080" y="1152476"/>
            <a:ext cx="7570148" cy="958957"/>
          </a:xfrm>
        </p:spPr>
        <p:txBody>
          <a:bodyPr/>
          <a:lstStyle/>
          <a:p>
            <a:pPr marL="95250" indent="0">
              <a:buNone/>
            </a:pPr>
            <a:r>
              <a:rPr lang="en-GB" dirty="0"/>
              <a:t>Situation (context), Complication (problem), Question (what now?), Answer (solution)</a:t>
            </a:r>
          </a:p>
        </p:txBody>
      </p:sp>
      <p:pic>
        <p:nvPicPr>
          <p:cNvPr id="3074" name="Picture 2" descr="The diagram shows the Data Storytelling Arc with the four stages: setting + hook, rising points, aha moment, and solution + next steps. On the right it maps each stage to its purpose: setting + hook (relevance/intrigue), rising points (explanation), aha moment (value/significance), and solution + next steps (action)">
            <a:extLst>
              <a:ext uri="{FF2B5EF4-FFF2-40B4-BE49-F238E27FC236}">
                <a16:creationId xmlns:a16="http://schemas.microsoft.com/office/drawing/2014/main" id="{D55AABFC-B2D0-969C-CF3C-E6FA47F5CF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4698" y="2151516"/>
            <a:ext cx="8194603" cy="2476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362672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6BEC5-FB3F-073A-B5F4-E46C84500D14}"/>
              </a:ext>
            </a:extLst>
          </p:cNvPr>
          <p:cNvSpPr>
            <a:spLocks noGrp="1"/>
          </p:cNvSpPr>
          <p:nvPr>
            <p:ph type="title"/>
          </p:nvPr>
        </p:nvSpPr>
        <p:spPr/>
        <p:txBody>
          <a:bodyPr>
            <a:normAutofit fontScale="90000"/>
          </a:bodyPr>
          <a:lstStyle/>
          <a:p>
            <a:r>
              <a:rPr lang="en-GB" dirty="0"/>
              <a:t>SCQA Method in Action</a:t>
            </a:r>
          </a:p>
        </p:txBody>
      </p:sp>
      <p:sp>
        <p:nvSpPr>
          <p:cNvPr id="3" name="Text Placeholder 2">
            <a:extLst>
              <a:ext uri="{FF2B5EF4-FFF2-40B4-BE49-F238E27FC236}">
                <a16:creationId xmlns:a16="http://schemas.microsoft.com/office/drawing/2014/main" id="{D3BE0BFE-A5BA-3500-C6D6-A8ED1ECE74A2}"/>
              </a:ext>
            </a:extLst>
          </p:cNvPr>
          <p:cNvSpPr>
            <a:spLocks noGrp="1"/>
          </p:cNvSpPr>
          <p:nvPr>
            <p:ph type="body" idx="1"/>
          </p:nvPr>
        </p:nvSpPr>
        <p:spPr/>
        <p:txBody>
          <a:bodyPr>
            <a:normAutofit fontScale="77500" lnSpcReduction="20000"/>
          </a:bodyPr>
          <a:lstStyle/>
          <a:p>
            <a:pPr marL="95250" indent="0">
              <a:buNone/>
            </a:pPr>
            <a:r>
              <a:rPr lang="en-GB" b="1" dirty="0"/>
              <a:t>Example</a:t>
            </a:r>
          </a:p>
          <a:p>
            <a:r>
              <a:rPr lang="en-GB" b="1" dirty="0"/>
              <a:t>Situation</a:t>
            </a:r>
            <a:br>
              <a:rPr lang="en-GB" dirty="0"/>
            </a:br>
            <a:r>
              <a:rPr lang="en-GB" dirty="0"/>
              <a:t>A company has been growing steadily for the past 5 years and has a strong presence in its market.</a:t>
            </a:r>
          </a:p>
          <a:p>
            <a:r>
              <a:rPr lang="en-GB" b="1" dirty="0"/>
              <a:t>Complication</a:t>
            </a:r>
            <a:br>
              <a:rPr lang="en-GB" dirty="0"/>
            </a:br>
            <a:r>
              <a:rPr lang="en-GB" dirty="0"/>
              <a:t>Over the last 6 months, sales have dropped by 15% despite no major internal changes.</a:t>
            </a:r>
          </a:p>
          <a:p>
            <a:r>
              <a:rPr lang="en-GB" b="1" dirty="0"/>
              <a:t>Question</a:t>
            </a:r>
            <a:br>
              <a:rPr lang="en-GB" dirty="0"/>
            </a:br>
            <a:r>
              <a:rPr lang="en-GB" dirty="0"/>
              <a:t>What is causing the decline in sales, and how can the company reverse it?</a:t>
            </a:r>
          </a:p>
          <a:p>
            <a:r>
              <a:rPr lang="en-GB" b="1" dirty="0"/>
              <a:t>Answer</a:t>
            </a:r>
            <a:br>
              <a:rPr lang="en-GB" dirty="0"/>
            </a:br>
            <a:r>
              <a:rPr lang="en-GB" dirty="0"/>
              <a:t>The decline is likely due to increased competition and changing customer preferences. The company should:</a:t>
            </a:r>
          </a:p>
          <a:p>
            <a:pPr lvl="1"/>
            <a:r>
              <a:rPr lang="en-GB" dirty="0"/>
              <a:t>Reassess its pricing strategy </a:t>
            </a:r>
          </a:p>
          <a:p>
            <a:pPr lvl="1"/>
            <a:r>
              <a:rPr lang="en-GB" dirty="0"/>
              <a:t>Improve product differentiation </a:t>
            </a:r>
          </a:p>
        </p:txBody>
      </p:sp>
    </p:spTree>
    <p:extLst>
      <p:ext uri="{BB962C8B-B14F-4D97-AF65-F5344CB8AC3E}">
        <p14:creationId xmlns:p14="http://schemas.microsoft.com/office/powerpoint/2010/main" val="334631185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CA13C-1EBB-B331-F72A-CA854899AB07}"/>
              </a:ext>
            </a:extLst>
          </p:cNvPr>
          <p:cNvSpPr>
            <a:spLocks noGrp="1"/>
          </p:cNvSpPr>
          <p:nvPr>
            <p:ph type="title"/>
          </p:nvPr>
        </p:nvSpPr>
        <p:spPr/>
        <p:txBody>
          <a:bodyPr>
            <a:normAutofit fontScale="90000"/>
          </a:bodyPr>
          <a:lstStyle/>
          <a:p>
            <a:r>
              <a:rPr lang="en-GB" dirty="0"/>
              <a:t>DIKW Framework </a:t>
            </a:r>
          </a:p>
        </p:txBody>
      </p:sp>
      <p:pic>
        <p:nvPicPr>
          <p:cNvPr id="1028" name="Picture 4" descr="The DIKW Pyramid and the Process of Conducting an Advanced Review –  Research Moment">
            <a:extLst>
              <a:ext uri="{FF2B5EF4-FFF2-40B4-BE49-F238E27FC236}">
                <a16:creationId xmlns:a16="http://schemas.microsoft.com/office/drawing/2014/main" id="{DA4574FF-B91D-A370-3DE4-A9DE004E77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0654" y="1121992"/>
            <a:ext cx="6625244" cy="3726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455744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C688B-685D-31B8-2C07-9167C5FDA7FA}"/>
              </a:ext>
            </a:extLst>
          </p:cNvPr>
          <p:cNvSpPr>
            <a:spLocks noGrp="1"/>
          </p:cNvSpPr>
          <p:nvPr>
            <p:ph type="title"/>
          </p:nvPr>
        </p:nvSpPr>
        <p:spPr/>
        <p:txBody>
          <a:bodyPr>
            <a:normAutofit fontScale="90000"/>
          </a:bodyPr>
          <a:lstStyle/>
          <a:p>
            <a:r>
              <a:rPr lang="en-GB" dirty="0"/>
              <a:t>DIKW Framework </a:t>
            </a:r>
          </a:p>
        </p:txBody>
      </p:sp>
      <p:sp>
        <p:nvSpPr>
          <p:cNvPr id="3" name="Text Placeholder 2">
            <a:extLst>
              <a:ext uri="{FF2B5EF4-FFF2-40B4-BE49-F238E27FC236}">
                <a16:creationId xmlns:a16="http://schemas.microsoft.com/office/drawing/2014/main" id="{143D96D6-764C-123C-2186-7D93416D7B6A}"/>
              </a:ext>
            </a:extLst>
          </p:cNvPr>
          <p:cNvSpPr>
            <a:spLocks noGrp="1"/>
          </p:cNvSpPr>
          <p:nvPr>
            <p:ph type="body" idx="1"/>
          </p:nvPr>
        </p:nvSpPr>
        <p:spPr/>
        <p:txBody>
          <a:bodyPr>
            <a:normAutofit fontScale="92500"/>
          </a:bodyPr>
          <a:lstStyle/>
          <a:p>
            <a:r>
              <a:rPr lang="en-GB" dirty="0"/>
              <a:t>Shows progression from raw data to actionable insight – Helps analysts articulate the value of their work to non-technical stakeholders. </a:t>
            </a:r>
          </a:p>
          <a:p>
            <a:r>
              <a:rPr lang="en-GB" dirty="0"/>
              <a:t>Maps naturally to storytelling – You can narrate: “We saw this (data), understood this (information), realized this (knowledge), and recommend this (wisdom).”</a:t>
            </a:r>
          </a:p>
          <a:p>
            <a:r>
              <a:rPr lang="en-GB" dirty="0"/>
              <a:t>Supports multiple media – Can be applied in dashboards, slide decks, reports, or verbal presentations. Teaches thinking in layers – Encourages analysts to avoid “just presenting numbers” and instead link them to insights and actions.</a:t>
            </a:r>
          </a:p>
        </p:txBody>
      </p:sp>
    </p:spTree>
    <p:extLst>
      <p:ext uri="{BB962C8B-B14F-4D97-AF65-F5344CB8AC3E}">
        <p14:creationId xmlns:p14="http://schemas.microsoft.com/office/powerpoint/2010/main" val="3860801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A9BD7-5B02-35D8-5376-71C8611875AC}"/>
              </a:ext>
            </a:extLst>
          </p:cNvPr>
          <p:cNvSpPr>
            <a:spLocks noGrp="1"/>
          </p:cNvSpPr>
          <p:nvPr>
            <p:ph type="title"/>
          </p:nvPr>
        </p:nvSpPr>
        <p:spPr/>
        <p:txBody>
          <a:bodyPr>
            <a:normAutofit fontScale="90000"/>
          </a:bodyPr>
          <a:lstStyle/>
          <a:p>
            <a:r>
              <a:rPr lang="en-GB" dirty="0"/>
              <a:t>DIKW Framework in Action</a:t>
            </a:r>
          </a:p>
        </p:txBody>
      </p:sp>
      <p:sp>
        <p:nvSpPr>
          <p:cNvPr id="3" name="Text Placeholder 2">
            <a:extLst>
              <a:ext uri="{FF2B5EF4-FFF2-40B4-BE49-F238E27FC236}">
                <a16:creationId xmlns:a16="http://schemas.microsoft.com/office/drawing/2014/main" id="{B0E19711-CBBB-AB2E-6E2B-ED0AB66570E2}"/>
              </a:ext>
            </a:extLst>
          </p:cNvPr>
          <p:cNvSpPr>
            <a:spLocks noGrp="1"/>
          </p:cNvSpPr>
          <p:nvPr>
            <p:ph type="body" idx="1"/>
          </p:nvPr>
        </p:nvSpPr>
        <p:spPr/>
        <p:txBody>
          <a:bodyPr/>
          <a:lstStyle/>
          <a:p>
            <a:pPr marL="95250" indent="0">
              <a:buNone/>
            </a:pPr>
            <a:r>
              <a:rPr lang="en-GB" dirty="0"/>
              <a:t>Example:</a:t>
            </a:r>
          </a:p>
          <a:p>
            <a:r>
              <a:rPr lang="en-GB" dirty="0"/>
              <a:t>Data: Sales transactions per day per store</a:t>
            </a:r>
          </a:p>
          <a:p>
            <a:r>
              <a:rPr lang="en-GB" dirty="0"/>
              <a:t>Information: Average daily sales per store; monthly trends </a:t>
            </a:r>
          </a:p>
          <a:p>
            <a:r>
              <a:rPr lang="en-GB" dirty="0"/>
              <a:t>Knowledge: Store X underperforms on weekends due to lack of promotions.</a:t>
            </a:r>
          </a:p>
          <a:p>
            <a:r>
              <a:rPr lang="en-GB" dirty="0"/>
              <a:t>Increase weekend promotions at Store X; forecast +15% revenue</a:t>
            </a:r>
          </a:p>
        </p:txBody>
      </p:sp>
    </p:spTree>
    <p:extLst>
      <p:ext uri="{BB962C8B-B14F-4D97-AF65-F5344CB8AC3E}">
        <p14:creationId xmlns:p14="http://schemas.microsoft.com/office/powerpoint/2010/main" val="106106525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FA991-6BB6-1EE5-D944-0DDA67D74D8E}"/>
              </a:ext>
            </a:extLst>
          </p:cNvPr>
          <p:cNvSpPr>
            <a:spLocks noGrp="1"/>
          </p:cNvSpPr>
          <p:nvPr>
            <p:ph type="title"/>
          </p:nvPr>
        </p:nvSpPr>
        <p:spPr/>
        <p:txBody>
          <a:bodyPr>
            <a:normAutofit fontScale="90000"/>
          </a:bodyPr>
          <a:lstStyle/>
          <a:p>
            <a:r>
              <a:rPr lang="en-GB" dirty="0"/>
              <a:t>Key Elements of a Data Story</a:t>
            </a:r>
            <a:br>
              <a:rPr lang="en-GB" dirty="0"/>
            </a:br>
            <a:endParaRPr lang="en-GB" dirty="0"/>
          </a:p>
        </p:txBody>
      </p:sp>
      <p:sp>
        <p:nvSpPr>
          <p:cNvPr id="3" name="Text Placeholder 2">
            <a:extLst>
              <a:ext uri="{FF2B5EF4-FFF2-40B4-BE49-F238E27FC236}">
                <a16:creationId xmlns:a16="http://schemas.microsoft.com/office/drawing/2014/main" id="{66C5E970-B222-CAAC-8354-4BC72377126E}"/>
              </a:ext>
            </a:extLst>
          </p:cNvPr>
          <p:cNvSpPr>
            <a:spLocks noGrp="1"/>
          </p:cNvSpPr>
          <p:nvPr>
            <p:ph type="body" idx="1"/>
          </p:nvPr>
        </p:nvSpPr>
        <p:spPr/>
        <p:txBody>
          <a:bodyPr>
            <a:normAutofit/>
          </a:bodyPr>
          <a:lstStyle/>
          <a:p>
            <a:r>
              <a:rPr lang="en-GB" dirty="0"/>
              <a:t>Audience: Tailor the story to the audience's knowledge and technical comfort.</a:t>
            </a:r>
          </a:p>
          <a:p>
            <a:r>
              <a:rPr lang="en-GB" dirty="0"/>
              <a:t>Narrative: Connect data points using a clear beginning, middle, and end.</a:t>
            </a:r>
          </a:p>
          <a:p>
            <a:r>
              <a:rPr lang="en-GB" dirty="0"/>
              <a:t>Visuals: Use simple, clean visualizations that highlight key insights, avoiding distractions. </a:t>
            </a:r>
          </a:p>
        </p:txBody>
      </p:sp>
    </p:spTree>
    <p:extLst>
      <p:ext uri="{BB962C8B-B14F-4D97-AF65-F5344CB8AC3E}">
        <p14:creationId xmlns:p14="http://schemas.microsoft.com/office/powerpoint/2010/main" val="2602027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7C0E2-E912-FDB2-C3B7-CD75A6207445}"/>
              </a:ext>
            </a:extLst>
          </p:cNvPr>
          <p:cNvSpPr>
            <a:spLocks noGrp="1"/>
          </p:cNvSpPr>
          <p:nvPr>
            <p:ph type="title"/>
          </p:nvPr>
        </p:nvSpPr>
        <p:spPr/>
        <p:txBody>
          <a:bodyPr>
            <a:normAutofit fontScale="90000"/>
          </a:bodyPr>
          <a:lstStyle/>
          <a:p>
            <a:r>
              <a:rPr lang="en-GB" dirty="0"/>
              <a:t>Resources</a:t>
            </a:r>
          </a:p>
        </p:txBody>
      </p:sp>
      <p:sp>
        <p:nvSpPr>
          <p:cNvPr id="3" name="Text Placeholder 2">
            <a:extLst>
              <a:ext uri="{FF2B5EF4-FFF2-40B4-BE49-F238E27FC236}">
                <a16:creationId xmlns:a16="http://schemas.microsoft.com/office/drawing/2014/main" id="{42EB308C-2C37-2A98-3F18-ECBF7E49CECC}"/>
              </a:ext>
            </a:extLst>
          </p:cNvPr>
          <p:cNvSpPr>
            <a:spLocks noGrp="1"/>
          </p:cNvSpPr>
          <p:nvPr>
            <p:ph type="body" idx="1"/>
          </p:nvPr>
        </p:nvSpPr>
        <p:spPr/>
        <p:txBody>
          <a:bodyPr/>
          <a:lstStyle/>
          <a:p>
            <a:r>
              <a:rPr lang="en-GB" dirty="0">
                <a:hlinkClick r:id="rId2"/>
              </a:rPr>
              <a:t>https://www.storytellingwithdata.com/makeovers</a:t>
            </a:r>
            <a:endParaRPr lang="en-GB" dirty="0"/>
          </a:p>
          <a:p>
            <a:endParaRPr lang="en-GB" dirty="0"/>
          </a:p>
          <a:p>
            <a:r>
              <a:rPr lang="en-GB" dirty="0">
                <a:hlinkClick r:id="rId3"/>
              </a:rPr>
              <a:t>https://www.effectivedatastorytelling.com/post/data-storytelling-101-a-beginners-guide-to-turning-insights-into-action</a:t>
            </a:r>
            <a:endParaRPr lang="en-GB" dirty="0"/>
          </a:p>
          <a:p>
            <a:endParaRPr lang="en-GB" dirty="0"/>
          </a:p>
          <a:p>
            <a:r>
              <a:rPr lang="en-GB" dirty="0">
                <a:hlinkClick r:id="rId4"/>
              </a:rPr>
              <a:t>https://www.dataquest.io/tutorial/telling-data-stories-with-python-using-information-design/</a:t>
            </a:r>
            <a:endParaRPr lang="en-GB" dirty="0"/>
          </a:p>
          <a:p>
            <a:endParaRPr lang="en-GB" dirty="0"/>
          </a:p>
          <a:p>
            <a:endParaRPr lang="en-GB" dirty="0"/>
          </a:p>
          <a:p>
            <a:endParaRPr lang="en-GB" dirty="0"/>
          </a:p>
        </p:txBody>
      </p:sp>
    </p:spTree>
    <p:extLst>
      <p:ext uri="{BB962C8B-B14F-4D97-AF65-F5344CB8AC3E}">
        <p14:creationId xmlns:p14="http://schemas.microsoft.com/office/powerpoint/2010/main" val="198528966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p9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dirty="0"/>
              <a:t>Visualization best practices</a:t>
            </a:r>
            <a:endParaRPr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7B7A6-F48F-5BFD-335E-D57CCAF92CB4}"/>
              </a:ext>
            </a:extLst>
          </p:cNvPr>
          <p:cNvSpPr>
            <a:spLocks noGrp="1"/>
          </p:cNvSpPr>
          <p:nvPr>
            <p:ph type="title"/>
          </p:nvPr>
        </p:nvSpPr>
        <p:spPr/>
        <p:txBody>
          <a:bodyPr>
            <a:normAutofit fontScale="90000"/>
          </a:bodyPr>
          <a:lstStyle/>
          <a:p>
            <a:r>
              <a:rPr lang="en-GB" dirty="0"/>
              <a:t>Lead with Insight &amp; Purpose</a:t>
            </a:r>
            <a:br>
              <a:rPr lang="en-GB" dirty="0"/>
            </a:br>
            <a:endParaRPr lang="en-GB" dirty="0"/>
          </a:p>
        </p:txBody>
      </p:sp>
      <p:sp>
        <p:nvSpPr>
          <p:cNvPr id="3" name="Text Placeholder 2">
            <a:extLst>
              <a:ext uri="{FF2B5EF4-FFF2-40B4-BE49-F238E27FC236}">
                <a16:creationId xmlns:a16="http://schemas.microsoft.com/office/drawing/2014/main" id="{34EA4F9B-E0D8-7D33-8CCE-A8D34A2D8019}"/>
              </a:ext>
            </a:extLst>
          </p:cNvPr>
          <p:cNvSpPr>
            <a:spLocks noGrp="1"/>
          </p:cNvSpPr>
          <p:nvPr>
            <p:ph type="body" idx="1"/>
          </p:nvPr>
        </p:nvSpPr>
        <p:spPr/>
        <p:txBody>
          <a:bodyPr/>
          <a:lstStyle/>
          <a:p>
            <a:r>
              <a:rPr lang="en-GB" b="1" dirty="0"/>
              <a:t>Key Idea:</a:t>
            </a:r>
            <a:r>
              <a:rPr lang="en-GB" dirty="0"/>
              <a:t> Respect your audience’s time and answer the question.</a:t>
            </a:r>
          </a:p>
          <a:p>
            <a:r>
              <a:rPr lang="en-GB" dirty="0"/>
              <a:t>Put the </a:t>
            </a:r>
            <a:r>
              <a:rPr lang="en-GB" b="1" dirty="0"/>
              <a:t>main insight upfront</a:t>
            </a:r>
            <a:r>
              <a:rPr lang="en-GB" dirty="0"/>
              <a:t>. </a:t>
            </a:r>
          </a:p>
          <a:p>
            <a:r>
              <a:rPr lang="en-GB" dirty="0"/>
              <a:t>Every chart should answer a clear question. </a:t>
            </a:r>
          </a:p>
          <a:p>
            <a:r>
              <a:rPr lang="en-GB" dirty="0"/>
              <a:t>Ask: </a:t>
            </a:r>
            <a:r>
              <a:rPr lang="en-GB" i="1" dirty="0"/>
              <a:t>What is this chart trying to show?</a:t>
            </a:r>
            <a:r>
              <a:rPr lang="en-GB" dirty="0"/>
              <a:t> </a:t>
            </a:r>
          </a:p>
          <a:p>
            <a:r>
              <a:rPr lang="en-GB" dirty="0"/>
              <a:t>Sequence charts logically: </a:t>
            </a:r>
            <a:r>
              <a:rPr lang="en-GB" b="1" dirty="0"/>
              <a:t>introduction → insight → action</a:t>
            </a:r>
            <a:endParaRPr lang="en-GB" dirty="0"/>
          </a:p>
          <a:p>
            <a:pPr marL="95250" indent="0">
              <a:buNone/>
            </a:pPr>
            <a:endParaRPr lang="en-GB" dirty="0"/>
          </a:p>
        </p:txBody>
      </p:sp>
    </p:spTree>
    <p:extLst>
      <p:ext uri="{BB962C8B-B14F-4D97-AF65-F5344CB8AC3E}">
        <p14:creationId xmlns:p14="http://schemas.microsoft.com/office/powerpoint/2010/main" val="409926220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9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r>
              <a:rPr lang="en-GB" dirty="0"/>
              <a:t>Provide Context &amp; Meaning</a:t>
            </a:r>
            <a:br>
              <a:rPr lang="en-GB" b="1" dirty="0"/>
            </a:br>
            <a:endParaRPr dirty="0"/>
          </a:p>
        </p:txBody>
      </p:sp>
      <p:sp>
        <p:nvSpPr>
          <p:cNvPr id="534" name="Google Shape;534;p9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r>
              <a:rPr lang="en-GB" b="1" dirty="0"/>
              <a:t>Key Idea:</a:t>
            </a:r>
            <a:r>
              <a:rPr lang="en-GB" dirty="0"/>
              <a:t> Data without context doesn’t tell a story.</a:t>
            </a:r>
          </a:p>
          <a:p>
            <a:r>
              <a:rPr lang="en-GB" dirty="0"/>
              <a:t>Explain </a:t>
            </a:r>
            <a:r>
              <a:rPr lang="en-GB" b="1" dirty="0"/>
              <a:t>what the data means</a:t>
            </a:r>
            <a:r>
              <a:rPr lang="en-GB" dirty="0"/>
              <a:t>, not just what it is. </a:t>
            </a:r>
          </a:p>
          <a:p>
            <a:r>
              <a:rPr lang="en-GB" dirty="0"/>
              <a:t>Highlight patterns and insights clearly. </a:t>
            </a:r>
          </a:p>
          <a:p>
            <a:r>
              <a:rPr lang="en-GB" dirty="0"/>
              <a:t>Guide the viewer to the story—don’t make them hunt for it.</a:t>
            </a:r>
          </a:p>
          <a:p>
            <a:pPr marL="0" lvl="0" indent="0" algn="l" rtl="0">
              <a:spcBef>
                <a:spcPts val="0"/>
              </a:spcBef>
              <a:spcAft>
                <a:spcPts val="1200"/>
              </a:spcAft>
              <a:buNone/>
            </a:pPr>
            <a:endParaRPr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8B52B-3511-4C9B-1F5B-192E80EFC74D}"/>
              </a:ext>
            </a:extLst>
          </p:cNvPr>
          <p:cNvSpPr>
            <a:spLocks noGrp="1"/>
          </p:cNvSpPr>
          <p:nvPr>
            <p:ph type="title"/>
          </p:nvPr>
        </p:nvSpPr>
        <p:spPr/>
        <p:txBody>
          <a:bodyPr>
            <a:normAutofit fontScale="90000"/>
          </a:bodyPr>
          <a:lstStyle/>
          <a:p>
            <a:r>
              <a:rPr lang="en-GB" dirty="0"/>
              <a:t>Choose the Right Chart &amp; Keep it Simple</a:t>
            </a:r>
          </a:p>
        </p:txBody>
      </p:sp>
      <p:sp>
        <p:nvSpPr>
          <p:cNvPr id="3" name="Text Placeholder 2">
            <a:extLst>
              <a:ext uri="{FF2B5EF4-FFF2-40B4-BE49-F238E27FC236}">
                <a16:creationId xmlns:a16="http://schemas.microsoft.com/office/drawing/2014/main" id="{7A880B6B-4480-8492-0E7A-EDE009F69951}"/>
              </a:ext>
            </a:extLst>
          </p:cNvPr>
          <p:cNvSpPr>
            <a:spLocks noGrp="1"/>
          </p:cNvSpPr>
          <p:nvPr>
            <p:ph type="body" idx="1"/>
          </p:nvPr>
        </p:nvSpPr>
        <p:spPr/>
        <p:txBody>
          <a:bodyPr>
            <a:normAutofit/>
          </a:bodyPr>
          <a:lstStyle/>
          <a:p>
            <a:r>
              <a:rPr lang="en-GB" b="1" dirty="0"/>
              <a:t>Key Idea:</a:t>
            </a:r>
            <a:r>
              <a:rPr lang="en-GB" dirty="0"/>
              <a:t> Match visualization to the goal and keep it clear.</a:t>
            </a:r>
          </a:p>
          <a:p>
            <a:r>
              <a:rPr lang="en-GB" dirty="0"/>
              <a:t>Select chart type based on purpose: </a:t>
            </a:r>
          </a:p>
          <a:p>
            <a:pPr lvl="1"/>
            <a:r>
              <a:rPr lang="en-GB" dirty="0"/>
              <a:t>Comparison → Bar/Column </a:t>
            </a:r>
          </a:p>
          <a:p>
            <a:pPr lvl="1"/>
            <a:r>
              <a:rPr lang="en-GB" dirty="0"/>
              <a:t>Trend → Line/Area </a:t>
            </a:r>
          </a:p>
          <a:p>
            <a:pPr lvl="1"/>
            <a:r>
              <a:rPr lang="en-GB" dirty="0"/>
              <a:t>Distribution → Histogram/Box plot </a:t>
            </a:r>
          </a:p>
          <a:p>
            <a:pPr lvl="1"/>
            <a:r>
              <a:rPr lang="en-GB" dirty="0"/>
              <a:t>Relationship → Scatter/Bubble </a:t>
            </a:r>
          </a:p>
          <a:p>
            <a:pPr lvl="1"/>
            <a:r>
              <a:rPr lang="en-GB" dirty="0"/>
              <a:t>Composition → Stacked Bar/Pie (sparingly) </a:t>
            </a:r>
          </a:p>
          <a:p>
            <a:r>
              <a:rPr lang="en-GB" dirty="0"/>
              <a:t>Use clear language; avoid unnecessary jargon. </a:t>
            </a:r>
          </a:p>
          <a:p>
            <a:r>
              <a:rPr lang="en-GB" dirty="0"/>
              <a:t>Show only what matters—</a:t>
            </a:r>
            <a:r>
              <a:rPr lang="en-GB" b="1" dirty="0"/>
              <a:t>less is more</a:t>
            </a:r>
            <a:r>
              <a:rPr lang="en-GB" dirty="0"/>
              <a:t>.</a:t>
            </a:r>
          </a:p>
          <a:p>
            <a:endParaRPr lang="en-GB" dirty="0"/>
          </a:p>
        </p:txBody>
      </p:sp>
    </p:spTree>
    <p:extLst>
      <p:ext uri="{BB962C8B-B14F-4D97-AF65-F5344CB8AC3E}">
        <p14:creationId xmlns:p14="http://schemas.microsoft.com/office/powerpoint/2010/main" val="404948102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7041F-77AE-2E5D-45F8-A9E301023A38}"/>
              </a:ext>
            </a:extLst>
          </p:cNvPr>
          <p:cNvSpPr>
            <a:spLocks noGrp="1"/>
          </p:cNvSpPr>
          <p:nvPr>
            <p:ph type="title"/>
          </p:nvPr>
        </p:nvSpPr>
        <p:spPr/>
        <p:txBody>
          <a:bodyPr>
            <a:normAutofit fontScale="90000"/>
          </a:bodyPr>
          <a:lstStyle/>
          <a:p>
            <a:r>
              <a:rPr lang="en-GB" dirty="0"/>
              <a:t>Declutter &amp; Highlight Key Insights</a:t>
            </a:r>
          </a:p>
        </p:txBody>
      </p:sp>
      <p:sp>
        <p:nvSpPr>
          <p:cNvPr id="3" name="Text Placeholder 2">
            <a:extLst>
              <a:ext uri="{FF2B5EF4-FFF2-40B4-BE49-F238E27FC236}">
                <a16:creationId xmlns:a16="http://schemas.microsoft.com/office/drawing/2014/main" id="{5F8E1F62-6ED2-BC97-3D97-7D39525EABB4}"/>
              </a:ext>
            </a:extLst>
          </p:cNvPr>
          <p:cNvSpPr>
            <a:spLocks noGrp="1"/>
          </p:cNvSpPr>
          <p:nvPr>
            <p:ph type="body" idx="1"/>
          </p:nvPr>
        </p:nvSpPr>
        <p:spPr/>
        <p:txBody>
          <a:bodyPr/>
          <a:lstStyle/>
          <a:p>
            <a:r>
              <a:rPr lang="en-GB" b="1" dirty="0"/>
              <a:t>Key Idea:</a:t>
            </a:r>
            <a:r>
              <a:rPr lang="en-GB" dirty="0"/>
              <a:t> Make visuals easy to understand and focus on the story.</a:t>
            </a:r>
          </a:p>
          <a:p>
            <a:r>
              <a:rPr lang="en-GB" dirty="0"/>
              <a:t>Remove unnecessary elements (3D effects, extra gridlines). </a:t>
            </a:r>
          </a:p>
          <a:p>
            <a:r>
              <a:rPr lang="en-GB" dirty="0"/>
              <a:t>Label axes clearly but concisely. </a:t>
            </a:r>
          </a:p>
          <a:p>
            <a:r>
              <a:rPr lang="en-GB" dirty="0"/>
              <a:t>Use </a:t>
            </a:r>
            <a:r>
              <a:rPr lang="en-GB" b="1" dirty="0" err="1"/>
              <a:t>color</a:t>
            </a:r>
            <a:r>
              <a:rPr lang="en-GB" b="1" dirty="0"/>
              <a:t>, size, or annotations</a:t>
            </a:r>
            <a:r>
              <a:rPr lang="en-GB" dirty="0"/>
              <a:t> to guide attention.</a:t>
            </a:r>
          </a:p>
        </p:txBody>
      </p:sp>
    </p:spTree>
    <p:extLst>
      <p:ext uri="{BB962C8B-B14F-4D97-AF65-F5344CB8AC3E}">
        <p14:creationId xmlns:p14="http://schemas.microsoft.com/office/powerpoint/2010/main" val="395642904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DA983-3E39-23C7-5577-416B55A27282}"/>
              </a:ext>
            </a:extLst>
          </p:cNvPr>
          <p:cNvSpPr>
            <a:spLocks noGrp="1"/>
          </p:cNvSpPr>
          <p:nvPr>
            <p:ph type="title"/>
          </p:nvPr>
        </p:nvSpPr>
        <p:spPr/>
        <p:txBody>
          <a:bodyPr>
            <a:normAutofit fontScale="90000"/>
          </a:bodyPr>
          <a:lstStyle/>
          <a:p>
            <a:r>
              <a:rPr lang="en-GB" dirty="0"/>
              <a:t>Consistency, Scale &amp; Interactivity</a:t>
            </a:r>
          </a:p>
        </p:txBody>
      </p:sp>
      <p:sp>
        <p:nvSpPr>
          <p:cNvPr id="3" name="Text Placeholder 2">
            <a:extLst>
              <a:ext uri="{FF2B5EF4-FFF2-40B4-BE49-F238E27FC236}">
                <a16:creationId xmlns:a16="http://schemas.microsoft.com/office/drawing/2014/main" id="{08E9E072-AB1B-9DEB-42F9-6D0D6EEFEA06}"/>
              </a:ext>
            </a:extLst>
          </p:cNvPr>
          <p:cNvSpPr>
            <a:spLocks noGrp="1"/>
          </p:cNvSpPr>
          <p:nvPr>
            <p:ph type="body" idx="1"/>
          </p:nvPr>
        </p:nvSpPr>
        <p:spPr/>
        <p:txBody>
          <a:bodyPr/>
          <a:lstStyle/>
          <a:p>
            <a:r>
              <a:rPr lang="en-GB" b="1" dirty="0"/>
              <a:t>Key Idea:</a:t>
            </a:r>
            <a:r>
              <a:rPr lang="en-GB" dirty="0"/>
              <a:t> Make charts reliable and easy to compare.</a:t>
            </a:r>
          </a:p>
          <a:p>
            <a:r>
              <a:rPr lang="en-GB" dirty="0"/>
              <a:t>Use </a:t>
            </a:r>
            <a:r>
              <a:rPr lang="en-GB" b="1" dirty="0"/>
              <a:t>consistent </a:t>
            </a:r>
            <a:r>
              <a:rPr lang="en-GB" b="1" dirty="0" err="1"/>
              <a:t>colors</a:t>
            </a:r>
            <a:r>
              <a:rPr lang="en-GB" b="1" dirty="0"/>
              <a:t>, fonts, and scales</a:t>
            </a:r>
            <a:r>
              <a:rPr lang="en-GB" dirty="0"/>
              <a:t>. </a:t>
            </a:r>
          </a:p>
          <a:p>
            <a:r>
              <a:rPr lang="en-GB" dirty="0"/>
              <a:t>Keep category </a:t>
            </a:r>
            <a:r>
              <a:rPr lang="en-GB" dirty="0" err="1"/>
              <a:t>colors</a:t>
            </a:r>
            <a:r>
              <a:rPr lang="en-GB" dirty="0"/>
              <a:t> uniform across charts. </a:t>
            </a:r>
          </a:p>
          <a:p>
            <a:r>
              <a:rPr lang="en-GB" dirty="0"/>
              <a:t>Avoid misleading axes; use meaningful aggregations (sum, average, median). </a:t>
            </a:r>
          </a:p>
          <a:p>
            <a:r>
              <a:rPr lang="en-GB" dirty="0"/>
              <a:t>Interactive features (filters, tooltips) can enhance exploration but keep it simple.</a:t>
            </a:r>
          </a:p>
        </p:txBody>
      </p:sp>
    </p:spTree>
    <p:extLst>
      <p:ext uri="{BB962C8B-B14F-4D97-AF65-F5344CB8AC3E}">
        <p14:creationId xmlns:p14="http://schemas.microsoft.com/office/powerpoint/2010/main" val="262269906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9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a:t>Mini-project: Create a narrative visual report for a business dataset</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9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Quiz</a:t>
            </a:r>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p9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What are these charts called?</a:t>
            </a:r>
            <a:endParaRPr/>
          </a:p>
        </p:txBody>
      </p:sp>
      <p:pic>
        <p:nvPicPr>
          <p:cNvPr id="562" name="Google Shape;562;p96"/>
          <p:cNvPicPr preferRelativeResize="0"/>
          <p:nvPr/>
        </p:nvPicPr>
        <p:blipFill>
          <a:blip r:embed="rId3">
            <a:alphaModFix/>
          </a:blip>
          <a:stretch>
            <a:fillRect/>
          </a:stretch>
        </p:blipFill>
        <p:spPr>
          <a:xfrm>
            <a:off x="1606825" y="1088175"/>
            <a:ext cx="5758449" cy="3838976"/>
          </a:xfrm>
          <a:prstGeom prst="rect">
            <a:avLst/>
          </a:prstGeom>
          <a:noFill/>
          <a:ln>
            <a:noFill/>
          </a:ln>
        </p:spPr>
      </p:pic>
      <p:sp>
        <p:nvSpPr>
          <p:cNvPr id="563" name="Google Shape;563;p96"/>
          <p:cNvSpPr/>
          <p:nvPr/>
        </p:nvSpPr>
        <p:spPr>
          <a:xfrm>
            <a:off x="1752075" y="1707450"/>
            <a:ext cx="5214000" cy="305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
        <p:nvSpPr>
          <p:cNvPr id="564" name="Google Shape;564;p96"/>
          <p:cNvSpPr/>
          <p:nvPr/>
        </p:nvSpPr>
        <p:spPr>
          <a:xfrm>
            <a:off x="1857775" y="3128375"/>
            <a:ext cx="5307900" cy="305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ven Pro"/>
              <a:ea typeface="Maven Pro"/>
              <a:cs typeface="Maven Pro"/>
              <a:sym typeface="Maven Pro"/>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sp>
        <p:nvSpPr>
          <p:cNvPr id="569" name="Google Shape;569;p9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What are these charts called?</a:t>
            </a:r>
            <a:endParaRPr/>
          </a:p>
        </p:txBody>
      </p:sp>
      <p:pic>
        <p:nvPicPr>
          <p:cNvPr id="570" name="Google Shape;570;p97"/>
          <p:cNvPicPr preferRelativeResize="0"/>
          <p:nvPr/>
        </p:nvPicPr>
        <p:blipFill>
          <a:blip r:embed="rId3">
            <a:alphaModFix/>
          </a:blip>
          <a:stretch>
            <a:fillRect/>
          </a:stretch>
        </p:blipFill>
        <p:spPr>
          <a:xfrm>
            <a:off x="1606825" y="1088175"/>
            <a:ext cx="5758449" cy="3838976"/>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9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Questions</a:t>
            </a:r>
            <a:endParaRPr/>
          </a:p>
        </p:txBody>
      </p:sp>
      <p:sp>
        <p:nvSpPr>
          <p:cNvPr id="576" name="Google Shape;576;p9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What kind of the chart would you choose to…</a:t>
            </a:r>
            <a:endParaRPr/>
          </a:p>
          <a:p>
            <a:pPr marL="457200" lvl="0" indent="-361950" algn="l" rtl="0">
              <a:spcBef>
                <a:spcPts val="1200"/>
              </a:spcBef>
              <a:spcAft>
                <a:spcPts val="0"/>
              </a:spcAft>
              <a:buSzPts val="2100"/>
              <a:buAutoNum type="arabicPeriod"/>
            </a:pPr>
            <a:r>
              <a:rPr lang="en"/>
              <a:t>Count the number of times different brands appear in a dataset</a:t>
            </a:r>
            <a:endParaRPr/>
          </a:p>
          <a:p>
            <a:pPr marL="457200" lvl="0" indent="-361950" algn="l" rtl="0">
              <a:spcBef>
                <a:spcPts val="0"/>
              </a:spcBef>
              <a:spcAft>
                <a:spcPts val="0"/>
              </a:spcAft>
              <a:buSzPts val="2100"/>
              <a:buAutoNum type="arabicPeriod"/>
            </a:pPr>
            <a:r>
              <a:rPr lang="en"/>
              <a:t>Show the distribution of ages in a dataset</a:t>
            </a:r>
            <a:endParaRPr/>
          </a:p>
          <a:p>
            <a:pPr marL="457200" lvl="0" indent="-361950" algn="l" rtl="0">
              <a:spcBef>
                <a:spcPts val="0"/>
              </a:spcBef>
              <a:spcAft>
                <a:spcPts val="0"/>
              </a:spcAft>
              <a:buSzPts val="2100"/>
              <a:buAutoNum type="arabicPeriod"/>
            </a:pPr>
            <a:r>
              <a:rPr lang="en"/>
              <a:t>Compare the average study hours of different levels of students</a:t>
            </a:r>
            <a:endParaRPr/>
          </a:p>
          <a:p>
            <a:pPr marL="457200" lvl="0" indent="-361950" algn="l" rtl="0">
              <a:spcBef>
                <a:spcPts val="0"/>
              </a:spcBef>
              <a:spcAft>
                <a:spcPts val="0"/>
              </a:spcAft>
              <a:buSzPts val="2100"/>
              <a:buAutoNum type="arabicPeriod"/>
            </a:pPr>
            <a:r>
              <a:rPr lang="en"/>
              <a:t>See if there is a relationship between study hours and test scores</a:t>
            </a:r>
            <a:endParaRPr/>
          </a:p>
          <a:p>
            <a:pPr marL="457200" lvl="0" indent="-361950" algn="l" rtl="0">
              <a:spcBef>
                <a:spcPts val="0"/>
              </a:spcBef>
              <a:spcAft>
                <a:spcPts val="0"/>
              </a:spcAft>
              <a:buSzPts val="2100"/>
              <a:buAutoNum type="arabicPeriod"/>
            </a:pPr>
            <a:r>
              <a:rPr lang="en"/>
              <a:t>View a stock price over time</a:t>
            </a:r>
            <a:endParaRPr/>
          </a:p>
          <a:p>
            <a:pPr marL="457200" lvl="0" indent="-361950" algn="l" rtl="0">
              <a:spcBef>
                <a:spcPts val="0"/>
              </a:spcBef>
              <a:spcAft>
                <a:spcPts val="0"/>
              </a:spcAft>
              <a:buSzPts val="2100"/>
              <a:buAutoNum type="arabicPeriod"/>
            </a:pPr>
            <a:r>
              <a:rPr lang="en"/>
              <a:t>Find correlations within a dataset</a:t>
            </a:r>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9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Answers</a:t>
            </a:r>
            <a:endParaRPr/>
          </a:p>
        </p:txBody>
      </p:sp>
      <p:sp>
        <p:nvSpPr>
          <p:cNvPr id="582" name="Google Shape;582;p9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What kind of the chart would you choose to…</a:t>
            </a:r>
            <a:endParaRPr/>
          </a:p>
          <a:p>
            <a:pPr marL="457200" lvl="0" indent="-361950" algn="l" rtl="0">
              <a:spcBef>
                <a:spcPts val="1200"/>
              </a:spcBef>
              <a:spcAft>
                <a:spcPts val="0"/>
              </a:spcAft>
              <a:buSzPts val="2100"/>
              <a:buAutoNum type="arabicPeriod"/>
            </a:pPr>
            <a:r>
              <a:rPr lang="en"/>
              <a:t>Count the number of times different brands appear in a dataset</a:t>
            </a:r>
            <a:endParaRPr/>
          </a:p>
          <a:p>
            <a:pPr marL="914400" lvl="1" indent="-342900" algn="l" rtl="0">
              <a:spcBef>
                <a:spcPts val="0"/>
              </a:spcBef>
              <a:spcAft>
                <a:spcPts val="0"/>
              </a:spcAft>
              <a:buSzPts val="1800"/>
              <a:buAutoNum type="alphaLcPeriod"/>
            </a:pPr>
            <a:r>
              <a:rPr lang="en"/>
              <a:t>countplot</a:t>
            </a:r>
            <a:endParaRPr/>
          </a:p>
          <a:p>
            <a:pPr marL="457200" lvl="0" indent="-361950" algn="l" rtl="0">
              <a:spcBef>
                <a:spcPts val="0"/>
              </a:spcBef>
              <a:spcAft>
                <a:spcPts val="0"/>
              </a:spcAft>
              <a:buSzPts val="2100"/>
              <a:buAutoNum type="arabicPeriod"/>
            </a:pPr>
            <a:r>
              <a:rPr lang="en"/>
              <a:t>Show the distribution of ages in a dataset</a:t>
            </a:r>
            <a:endParaRPr/>
          </a:p>
          <a:p>
            <a:pPr marL="914400" lvl="1" indent="-342900" algn="l" rtl="0">
              <a:spcBef>
                <a:spcPts val="0"/>
              </a:spcBef>
              <a:spcAft>
                <a:spcPts val="0"/>
              </a:spcAft>
              <a:buSzPts val="1800"/>
              <a:buAutoNum type="alphaLcPeriod"/>
            </a:pPr>
            <a:r>
              <a:rPr lang="en"/>
              <a:t>histogram</a:t>
            </a:r>
            <a:endParaRPr/>
          </a:p>
          <a:p>
            <a:pPr marL="457200" lvl="0" indent="-361950" algn="l" rtl="0">
              <a:spcBef>
                <a:spcPts val="0"/>
              </a:spcBef>
              <a:spcAft>
                <a:spcPts val="0"/>
              </a:spcAft>
              <a:buSzPts val="2100"/>
              <a:buAutoNum type="arabicPeriod"/>
            </a:pPr>
            <a:r>
              <a:rPr lang="en"/>
              <a:t>Compare the average study hours of different student groups</a:t>
            </a:r>
            <a:endParaRPr/>
          </a:p>
          <a:p>
            <a:pPr marL="914400" lvl="1" indent="-342900" algn="l" rtl="0">
              <a:spcBef>
                <a:spcPts val="0"/>
              </a:spcBef>
              <a:spcAft>
                <a:spcPts val="0"/>
              </a:spcAft>
              <a:buSzPts val="1800"/>
              <a:buAutoNum type="alphaLcPeriod"/>
            </a:pPr>
            <a:r>
              <a:rPr lang="en"/>
              <a:t>Bar plot</a:t>
            </a:r>
            <a:endParaRPr/>
          </a:p>
          <a:p>
            <a:pPr marL="0" lvl="0" indent="0" algn="l" rtl="0">
              <a:spcBef>
                <a:spcPts val="1200"/>
              </a:spcBef>
              <a:spcAft>
                <a:spcPts val="1200"/>
              </a:spcAft>
              <a:buNone/>
            </a:pPr>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10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Answers</a:t>
            </a:r>
            <a:endParaRPr/>
          </a:p>
        </p:txBody>
      </p:sp>
      <p:sp>
        <p:nvSpPr>
          <p:cNvPr id="588" name="Google Shape;588;p10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What kind of the chart would you choose to…</a:t>
            </a:r>
            <a:endParaRPr/>
          </a:p>
          <a:p>
            <a:pPr marL="457200" lvl="0" indent="-361950" algn="l" rtl="0">
              <a:spcBef>
                <a:spcPts val="1200"/>
              </a:spcBef>
              <a:spcAft>
                <a:spcPts val="0"/>
              </a:spcAft>
              <a:buSzPts val="2100"/>
              <a:buAutoNum type="arabicPeriod"/>
            </a:pPr>
            <a:r>
              <a:rPr lang="en"/>
              <a:t>See if there is a relationship between study hours and test scores</a:t>
            </a:r>
            <a:endParaRPr/>
          </a:p>
          <a:p>
            <a:pPr marL="914400" lvl="1" indent="-342900" algn="l" rtl="0">
              <a:spcBef>
                <a:spcPts val="0"/>
              </a:spcBef>
              <a:spcAft>
                <a:spcPts val="0"/>
              </a:spcAft>
              <a:buSzPts val="1800"/>
              <a:buAutoNum type="alphaLcPeriod"/>
            </a:pPr>
            <a:r>
              <a:rPr lang="en"/>
              <a:t>Scatter plot</a:t>
            </a:r>
            <a:endParaRPr/>
          </a:p>
          <a:p>
            <a:pPr marL="457200" lvl="0" indent="-361950" algn="l" rtl="0">
              <a:spcBef>
                <a:spcPts val="0"/>
              </a:spcBef>
              <a:spcAft>
                <a:spcPts val="0"/>
              </a:spcAft>
              <a:buSzPts val="2100"/>
              <a:buAutoNum type="arabicPeriod"/>
            </a:pPr>
            <a:r>
              <a:rPr lang="en"/>
              <a:t>View a stock price over time</a:t>
            </a:r>
            <a:endParaRPr/>
          </a:p>
          <a:p>
            <a:pPr marL="914400" lvl="1" indent="-342900" algn="l" rtl="0">
              <a:spcBef>
                <a:spcPts val="0"/>
              </a:spcBef>
              <a:spcAft>
                <a:spcPts val="0"/>
              </a:spcAft>
              <a:buSzPts val="1800"/>
              <a:buAutoNum type="alphaLcPeriod"/>
            </a:pPr>
            <a:r>
              <a:rPr lang="en"/>
              <a:t>Line plot</a:t>
            </a:r>
            <a:endParaRPr/>
          </a:p>
          <a:p>
            <a:pPr marL="457200" lvl="0" indent="-361950" algn="l" rtl="0">
              <a:spcBef>
                <a:spcPts val="0"/>
              </a:spcBef>
              <a:spcAft>
                <a:spcPts val="0"/>
              </a:spcAft>
              <a:buSzPts val="2100"/>
              <a:buAutoNum type="arabicPeriod"/>
            </a:pPr>
            <a:r>
              <a:rPr lang="en"/>
              <a:t>Find correlations within a dataset</a:t>
            </a:r>
            <a:endParaRPr/>
          </a:p>
          <a:p>
            <a:pPr marL="914400" lvl="1" indent="-342900" algn="l" rtl="0">
              <a:spcBef>
                <a:spcPts val="0"/>
              </a:spcBef>
              <a:spcAft>
                <a:spcPts val="0"/>
              </a:spcAft>
              <a:buSzPts val="1800"/>
              <a:buAutoNum type="alphaLcPeriod"/>
            </a:pPr>
            <a:r>
              <a:rPr lang="en"/>
              <a:t>Heat map</a:t>
            </a:r>
            <a:endParaRPr/>
          </a:p>
        </p:txBody>
      </p:sp>
    </p:spTree>
  </p:cSld>
  <p:clrMapOvr>
    <a:masterClrMapping/>
  </p:clrMapOvr>
</p:sld>
</file>

<file path=ppt/theme/theme1.xml><?xml version="1.0" encoding="utf-8"?>
<a:theme xmlns:a="http://schemas.openxmlformats.org/drawingml/2006/main"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1019</TotalTime>
  <Words>4301</Words>
  <Application>Microsoft Office PowerPoint</Application>
  <PresentationFormat>On-screen Show (16:9)</PresentationFormat>
  <Paragraphs>437</Paragraphs>
  <Slides>112</Slides>
  <Notes>90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112</vt:i4>
      </vt:variant>
    </vt:vector>
  </HeadingPairs>
  <TitlesOfParts>
    <vt:vector size="115" baseType="lpstr">
      <vt:lpstr>Arial</vt:lpstr>
      <vt:lpstr>Maven Pro</vt:lpstr>
      <vt:lpstr>Simple Dark</vt:lpstr>
      <vt:lpstr>Module 6 – Data Visualization &amp; Storytelling</vt:lpstr>
      <vt:lpstr>Charts &amp; Plots  matplotlib, seaborn, plotly </vt:lpstr>
      <vt:lpstr>Class 1  Line plots, bar charts, and histograms - Label plots</vt:lpstr>
      <vt:lpstr>Visualization libraries in Python</vt:lpstr>
      <vt:lpstr>Visualization libraries in Python</vt:lpstr>
      <vt:lpstr>Visualization libraries in Python</vt:lpstr>
      <vt:lpstr>Visualization libraries in Python</vt:lpstr>
      <vt:lpstr>Line Plots</vt:lpstr>
      <vt:lpstr>Line Chart</vt:lpstr>
      <vt:lpstr>Comparing visualization libraries</vt:lpstr>
      <vt:lpstr>Adding labels to seaborn and matplotlib graphs</vt:lpstr>
      <vt:lpstr>Adding labels to plotly graphs</vt:lpstr>
      <vt:lpstr>In your notebook..</vt:lpstr>
      <vt:lpstr>Bar charts</vt:lpstr>
      <vt:lpstr>Bar charts</vt:lpstr>
      <vt:lpstr>Bar charts</vt:lpstr>
      <vt:lpstr>Bar charts</vt:lpstr>
      <vt:lpstr>Histograms</vt:lpstr>
      <vt:lpstr>Histograms</vt:lpstr>
      <vt:lpstr>Histograms</vt:lpstr>
      <vt:lpstr>Histograms</vt:lpstr>
      <vt:lpstr>Exporting the Graph </vt:lpstr>
      <vt:lpstr>Exporting the Graph</vt:lpstr>
      <vt:lpstr>Exporting the Graph</vt:lpstr>
      <vt:lpstr>HOMEWORK</vt:lpstr>
      <vt:lpstr>Resources</vt:lpstr>
      <vt:lpstr>Class 2 Scatterplots, heatmaps, pairplots Explore relationships Add color and style to plots</vt:lpstr>
      <vt:lpstr>Scatter plots</vt:lpstr>
      <vt:lpstr>Scatterplot relationship</vt:lpstr>
      <vt:lpstr>Scatterplot relationship</vt:lpstr>
      <vt:lpstr>Scatterplot relationship</vt:lpstr>
      <vt:lpstr>Scatter plots</vt:lpstr>
      <vt:lpstr>Plot arguments</vt:lpstr>
      <vt:lpstr>Heatmaps</vt:lpstr>
      <vt:lpstr>Heatmaps</vt:lpstr>
      <vt:lpstr>Heatmaps</vt:lpstr>
      <vt:lpstr>Heatmap relationship</vt:lpstr>
      <vt:lpstr>Heatmap relationship</vt:lpstr>
      <vt:lpstr>Heatmap relationship</vt:lpstr>
      <vt:lpstr>Heatmap relationship</vt:lpstr>
      <vt:lpstr>Heatmaps</vt:lpstr>
      <vt:lpstr>Pairplots</vt:lpstr>
      <vt:lpstr>Pairplot relationship</vt:lpstr>
      <vt:lpstr>Pairplot relationship</vt:lpstr>
      <vt:lpstr>Pairplot relationship</vt:lpstr>
      <vt:lpstr>Pairplots</vt:lpstr>
      <vt:lpstr>Extra charts</vt:lpstr>
      <vt:lpstr>Count plots</vt:lpstr>
      <vt:lpstr>Count plots</vt:lpstr>
      <vt:lpstr>Box plots</vt:lpstr>
      <vt:lpstr>Box plots</vt:lpstr>
      <vt:lpstr>Box plots</vt:lpstr>
      <vt:lpstr>Box plots</vt:lpstr>
      <vt:lpstr>Violin plots</vt:lpstr>
      <vt:lpstr>Violin plots</vt:lpstr>
      <vt:lpstr>Improving the visualizations</vt:lpstr>
      <vt:lpstr>Homework</vt:lpstr>
      <vt:lpstr>Resources</vt:lpstr>
      <vt:lpstr>Class 3 Chart selection: Matching visuals to data types Avoid misleading visuals</vt:lpstr>
      <vt:lpstr>Line graph</vt:lpstr>
      <vt:lpstr>Line graph</vt:lpstr>
      <vt:lpstr>Scatter plot</vt:lpstr>
      <vt:lpstr>Scatter plot</vt:lpstr>
      <vt:lpstr>Bar Graph</vt:lpstr>
      <vt:lpstr>Bar Graph</vt:lpstr>
      <vt:lpstr>Count plots </vt:lpstr>
      <vt:lpstr>Count plots </vt:lpstr>
      <vt:lpstr>Histograms</vt:lpstr>
      <vt:lpstr>Histograms</vt:lpstr>
      <vt:lpstr>Heatmaps</vt:lpstr>
      <vt:lpstr>Heatmaps</vt:lpstr>
      <vt:lpstr>Box plots and violin plots</vt:lpstr>
      <vt:lpstr>Quiz</vt:lpstr>
      <vt:lpstr>Quiz</vt:lpstr>
      <vt:lpstr>Answers</vt:lpstr>
      <vt:lpstr>Answers</vt:lpstr>
      <vt:lpstr>Quiz</vt:lpstr>
      <vt:lpstr>Answers</vt:lpstr>
      <vt:lpstr>Avoid misleading values</vt:lpstr>
      <vt:lpstr>Correlation≠ Causation</vt:lpstr>
      <vt:lpstr>Colors</vt:lpstr>
      <vt:lpstr>Chart choice mistakes</vt:lpstr>
      <vt:lpstr>Practice</vt:lpstr>
      <vt:lpstr>Homework</vt:lpstr>
      <vt:lpstr>Resources</vt:lpstr>
      <vt:lpstr>Data storytelling frameworks</vt:lpstr>
      <vt:lpstr>Data Storytelling</vt:lpstr>
      <vt:lpstr>Why do we need it? </vt:lpstr>
      <vt:lpstr>Data Storytelling Frameworks</vt:lpstr>
      <vt:lpstr>Data Storytelling Frameworks</vt:lpstr>
      <vt:lpstr>The OIA Framework Breakdown </vt:lpstr>
      <vt:lpstr>OIA in Action </vt:lpstr>
      <vt:lpstr>SCQA Method</vt:lpstr>
      <vt:lpstr>SCQA Method in Action</vt:lpstr>
      <vt:lpstr>DIKW Framework </vt:lpstr>
      <vt:lpstr>DIKW Framework </vt:lpstr>
      <vt:lpstr>DIKW Framework in Action</vt:lpstr>
      <vt:lpstr>Key Elements of a Data Story </vt:lpstr>
      <vt:lpstr>Resources</vt:lpstr>
      <vt:lpstr>Visualization best practices</vt:lpstr>
      <vt:lpstr>Lead with Insight &amp; Purpose </vt:lpstr>
      <vt:lpstr>Provide Context &amp; Meaning </vt:lpstr>
      <vt:lpstr>Choose the Right Chart &amp; Keep it Simple</vt:lpstr>
      <vt:lpstr>Declutter &amp; Highlight Key Insights</vt:lpstr>
      <vt:lpstr>Consistency, Scale &amp; Interactivity</vt:lpstr>
      <vt:lpstr>Mini-project: Create a narrative visual report for a business dataset</vt:lpstr>
      <vt:lpstr>Quiz</vt:lpstr>
      <vt:lpstr>What are these charts called?</vt:lpstr>
      <vt:lpstr>What are these charts called?</vt:lpstr>
      <vt:lpstr>Questions</vt:lpstr>
      <vt:lpstr>Answers</vt:lpstr>
      <vt:lpstr>Answers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Vaiva Lilionyte</cp:lastModifiedBy>
  <cp:revision>24</cp:revision>
  <dcterms:modified xsi:type="dcterms:W3CDTF">2026-04-07T18:35:51Z</dcterms:modified>
</cp:coreProperties>
</file>