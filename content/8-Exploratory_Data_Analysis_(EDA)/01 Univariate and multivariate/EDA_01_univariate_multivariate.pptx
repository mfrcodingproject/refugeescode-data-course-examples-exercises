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80" d="100"/>
          <a:sy n="80" d="100"/>
        </p:scale>
        <p:origin x="904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498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365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EDA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🔍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7432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8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09728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&amp;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566160" y="4480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 For Refugees · Data Analytics Program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Part 1 fits in the EDA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explore structure before visualising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320040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69748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17320" y="132588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1732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structure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chart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YOU ARE HERE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2606040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43400" y="1325880"/>
            <a:ext cx="594360" cy="5943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4340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7889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distributions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relationships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606040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69480" y="132588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6948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7889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change over 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quantify links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structure → Visualise distributions → Analyse over time. Always in this order.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EDA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axes, one sequence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methods are classified along two axes: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1664208"/>
            <a:ext cx="347472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664208"/>
            <a:ext cx="73152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0665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plots, visual exploration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664208"/>
            <a:ext cx="347472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664208"/>
            <a:ext cx="73152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Non-graphical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0665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Statistics, tables, aggregations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62272" y="175564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97280" y="2606040"/>
            <a:ext cx="347472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97280" y="2606040"/>
            <a:ext cx="73152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80160" y="26791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0083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at a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606040"/>
            <a:ext cx="347472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2606040"/>
            <a:ext cx="73152" cy="8046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26791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0083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variables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62272" y="26974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65760" y="3547872"/>
            <a:ext cx="8412480" cy="1298448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6210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EDA sequence: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977640"/>
            <a:ext cx="2578608" cy="746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4297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patterns, outliers, distributions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81528" y="413308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91840" y="3977640"/>
            <a:ext cx="2578608" cy="746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9184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91840" y="4297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patterns with statistics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70448" y="4133088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080760" y="3977640"/>
            <a:ext cx="2613660" cy="746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08076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080760" y="4297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statistical tests where needed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EDA mindset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should answer — or generate — a question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3931920" cy="457200"/>
          </a:xfrm>
          <a:prstGeom prst="rect">
            <a:avLst/>
          </a:prstGeom>
          <a:solidFill>
            <a:srgbClr val="1B6CA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&amp; 4 approach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.describe() on all columns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.groupby() to aggregate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output and move 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the goal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4206240" cy="338328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188720"/>
            <a:ext cx="420624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Part 1 approach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BEFORE running code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377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every result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971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findings and surprises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566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hypotheses for Parts 2 &amp;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the same. The difference is the questions you ask.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questions you always ask first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.describe(), before any chart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640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👁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135331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unit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observation?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93852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ONE row represent?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Order? Customer? Day? Product?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411480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353312"/>
            <a:ext cx="640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77840" y="135331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time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and granularity?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193852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years of data?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monthly, yearly?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1148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273552"/>
            <a:ext cx="640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43000" y="327355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types of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do I have?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85876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Numerical, categorical,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datetime, free text?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1089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3108960"/>
            <a:ext cx="4114800" cy="91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3273552"/>
            <a:ext cx="640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577840" y="327355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385876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types, outliers?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families of descriptive statistics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tendency, spread, and distribution shape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69748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17320" y="132588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1732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591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centre?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788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0266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÷ n. Sensitive to outliers. Use when data is symmetric.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34472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6850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value when sorted. More robust than the mean for skewed data.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410565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4343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value. Useful for categorical and discrete data.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18872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1188720"/>
            <a:ext cx="2697480" cy="91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97680" y="1325880"/>
            <a:ext cx="594360" cy="5943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768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37560" y="2011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23591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dispersed are the values?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10712" y="2788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/ Variance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10712" y="30266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distance from the mean. Sensitive to outliers.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10712" y="34472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10712" y="36850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Q3 − Q1. More robust than std for skewed distributions — prefer it alongside the median.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10712" y="410565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10712" y="4343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values. Check for impossible values (negative prices, etc.).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118872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1188720"/>
            <a:ext cx="26974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178040" y="132588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7804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17920" y="2011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0" y="23591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distribution symmetric?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91072" y="2788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91072" y="30266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symmetric. Positive = right tail. Negative = left tail.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91072" y="34472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91072" y="36850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= 3. Higher → heavier tails, more extreme outliers. Lower → lighter tails.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91072" y="410565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91072" y="4343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diagnostic — check assumptions before modelling.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874547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and kurtosis are diagnostic tools, not preprocessing steps — fix non-normality first, then standardise for multivariate work.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exploration — Numerical variables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.describe(): add skewness, CV and outlier awareness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compute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37490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719072"/>
            <a:ext cx="64008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17465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/ median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38528" y="17465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mean &gt;&gt; median → right skew → use median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3749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64008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2219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/ IQR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38528" y="22219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Spread: how variable is this column?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670048"/>
            <a:ext cx="37490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2670048"/>
            <a:ext cx="64008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2697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/ max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38528" y="26974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impossible values? (negative prices?)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145536"/>
            <a:ext cx="3749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3145536"/>
            <a:ext cx="64008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31729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skewness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38528" y="31729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+1 or &lt; −1 → non-normal, avoid mean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621024"/>
            <a:ext cx="37490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" y="3621024"/>
            <a:ext cx="64008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" y="36484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CV% = std/mean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38528" y="36484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variability — compare across columns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118872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interpretation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00600" y="1719072"/>
            <a:ext cx="37490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1719072"/>
            <a:ext cx="73152" cy="8046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65192" y="17647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−1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852160" y="17647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Left-skewed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52160" y="2029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values high,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to the left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2679192"/>
            <a:ext cx="37490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00600" y="2679192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65192" y="27249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 to +1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52160" y="27249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normal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52160" y="29900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≈ Median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is reliable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00600" y="3639312"/>
            <a:ext cx="37490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00600" y="3639312"/>
            <a:ext cx="73152" cy="8046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65192" y="36850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+1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852160" y="36850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852160" y="3950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values low,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to the right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4654296"/>
            <a:ext cx="8275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df[cols].describe().T.assign(skewness=df[cols].skew(), cv=df[cols].std()/df[cols].mean()*100)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exploration — Categorical variables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proportions, cardinality and concentration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2340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check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.nunique()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categories? High → likely ID column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219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.value_counts()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are most / least frequent?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normalize=True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Proportions — independent of dataset size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278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categories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with &lt; 1% frequency — data issues?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611880"/>
            <a:ext cx="4023360" cy="123444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6850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vs Low Cardinality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005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cardinality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(Customer Name, Product 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Identifier, not a groupby variable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4074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cardinality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(Category, Region, Segment)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Ideal for groupby and comparison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188720"/>
            <a:ext cx="4160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check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166420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≠ revenue share.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whether a few categories dominate the metric you care about.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423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Superstore Sub-Category: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7614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Binders: 1,523 rows → $0.5M Sales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1455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Copiers: 68 rows → $1.5M Sales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5295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sub-categories = ~40% of revenue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3611880"/>
            <a:ext cx="4160520" cy="123444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3685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Pareto check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40050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business datasets, ~20% of categories drive ~80% of the revenue. Always check this before assuming uniform distribution.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983480"/>
            <a:ext cx="8412480" cy="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5020056"/>
            <a:ext cx="8275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as an analytical tool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aggregation to insight — one call, multiple metrics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114300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upgrade: multiple aggregations in one call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running 4 separate .groupby() calls, use a dictionary inside .agg() to get everything at once.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95144"/>
            <a:ext cx="8412480" cy="13898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827532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 = df.groupby('Category').agg(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        = ('Sales', 'count'),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total_sales  = ('Sales', 'sum'),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median_sales = ('Sales', 'median'),        # use median for skewed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total_profit = ('Profit', 'sum'),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avg_discount = ('Discount', 'mean'),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loss_rate    = ('Profit', lambda x: (x &lt; 0).mean())   # custom aggregation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9476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8679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Name your columns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2245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keyword arguments (rows=, total_sales=) to get clean column names without renaming afterwards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379476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29000" y="38679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median for skewed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42245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column is right-skewed (Sales, Profit), median gives a more representative 'typical' value than mean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79476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38679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lambda for custom aggregations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42245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x: (x &lt; 0).mean() computes the fraction of negative values — loss rate, defect rate, etc.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covariance to correlation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standardise — and what Pearson r really means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Covariance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much two variables change together.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→ both increase together  |  Negative → one increases as the other decreases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291840"/>
            <a:ext cx="4023360" cy="804672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3649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36499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value depends on the scale of the variables. You cannot compare covariance across datasets with different units (e.g. height vs income).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62272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931920" cy="196596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12618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Pearson 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6276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covariance by the product of both standard deviations: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084832"/>
            <a:ext cx="3931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2121408"/>
            <a:ext cx="37947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Cov(X, Y) / (std(X) × std(Y))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6517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falls between −1 and +1, regardless of units.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291840"/>
            <a:ext cx="3931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3364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|r|: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3675888"/>
            <a:ext cx="10058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367588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44768" y="369417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3950208"/>
            <a:ext cx="10058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0" y="395020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 – 0.3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44768" y="39684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4224528"/>
            <a:ext cx="10058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0" y="422452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 – 0.5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44768" y="424281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4498848"/>
            <a:ext cx="100584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0" y="449884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 – 1.0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44768" y="451713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pd.crosstab(): category vs category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distribution of one variable across another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frequency table showing how two categorical variables relate. Think of it as a more powerful version of .value_counts() for two variables at once.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normalization modes: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6916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normalize='index'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28529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%: how is X distributed within each row?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6916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normalize='columns'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3218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%: how is Y distributed within each column?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169164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normalize=True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1720" y="35844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%: each cell as % of grand total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1188720"/>
            <a:ext cx="4160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values + aggfunc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166420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values= and aggfunc= to aggregate a numerical variable instead of just counting.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2304288"/>
            <a:ext cx="41605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2340864"/>
            <a:ext cx="4023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pd.crosstab(df['Region'], df['Category'],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values=df['Discount'], aggfunc='mean')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99923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Average Discount per Region × Category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Immediately shows whether Central applies higher discounts in Furniture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950208"/>
            <a:ext cx="841248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Use row % (normalize='index') by default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3708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counts are misleading when groups have different sizes. Row percentages make comparisons fair.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pd.pivot_table(): the most flexible multivariate tool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one numerical variable across two categorical dimensions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25296"/>
            <a:ext cx="8275320" cy="1344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pd.pivot_table(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  = 'Profit',          # numerical variable to aggregate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  = 'Region',          # 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columns = 'Category',        # columns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aggfunc = 'sum',             # or 'mean', 'median', or a custom function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margins = True               # adds row and column totals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73152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843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values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2194560" cy="2377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values=['Sales', 'Profit']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80360" y="2880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list to values= to aggregate several columns at once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27889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2788920"/>
            <a:ext cx="73152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2843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aggfuncs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51476" y="3099816"/>
            <a:ext cx="22860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aggfunc={'Sales':'sum', 'Profit':'mean'}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28803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dict to aggfunc= for different functions per column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73152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7581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function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018788"/>
            <a:ext cx="2221992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0690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aggfunc=lambda x: (x&lt;0).mean()*100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80360" y="37947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any function that takes a Series and returns a scalar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7033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3703320"/>
            <a:ext cx="73152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83480" y="37581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fill_value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4069080"/>
            <a:ext cx="2194560" cy="2377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83480" y="40690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fill_value=0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0" y="37947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NaN in empty cells with a default value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 Register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output of Part 1 — not a chart, a list of questions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Part 1 EDA, write a hypothesis register: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list of findings, their evidence, and the questions they generate for Parts 2 and 3.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84124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23113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19456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and Bookcases lose money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4688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468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ranking: Tables margin = −8.6%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23560" y="246888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246888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Discount vs Profit for Furniture (Part 2)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12724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0906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090672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in Central has 31% loss 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3649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33649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rate pivot: Central × Furniture = 31.2%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23560" y="336499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33649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of avg discount by region (Part 3)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913632"/>
            <a:ext cx="84124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39867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28800" y="3986784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Copiers: rare but high-value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426110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28800" y="42611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rows but avg Sale = $1,500+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23560" y="426110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42611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Segment distribution for Copier orders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that is not written down does not exist.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avoid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a superficial first look from a rigorous exploration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Running .describe() and moving 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without interpretation are not EDA. Every result needs a reaction.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Confusing row count with revenue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concentration before assuming uniform distribution.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Using mean on skewed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skewness first. If skew &gt; 1, report median, not mean.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24231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514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Groupby with too many dimensions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8803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dimension. Add a second only when you have a specific question.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749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Not documenting findings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114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hypothesis register. If it's not written, it doesn't guide the next steps.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657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749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Jumping to charts too early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4114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should produce hypotheses. Parts 2 and 3 confirm them visually.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53312"/>
            <a:ext cx="20116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structure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353312"/>
            <a:ext cx="2194560" cy="347472"/>
          </a:xfrm>
          <a:prstGeom prst="rect">
            <a:avLst/>
          </a:prstGeom>
          <a:solidFill>
            <a:srgbClr val="0F3A5A"/>
          </a:solidFill>
          <a:ln w="12700">
            <a:solidFill>
              <a:srgbClr val="0F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68880" y="13533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.shape, .dtypes, .head()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3990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observation, variable types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20116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810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snapshot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810512"/>
            <a:ext cx="2194560" cy="347472"/>
          </a:xfrm>
          <a:prstGeom prst="rect">
            <a:avLst/>
          </a:prstGeom>
          <a:solidFill>
            <a:srgbClr val="0F3A5A"/>
          </a:solidFill>
          <a:ln w="12700">
            <a:solidFill>
              <a:srgbClr val="0F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18105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.isnull(), .nunique()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8562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cardinality, duplicates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67712"/>
            <a:ext cx="20116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2677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numerical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267712"/>
            <a:ext cx="2194560" cy="347472"/>
          </a:xfrm>
          <a:prstGeom prst="rect">
            <a:avLst/>
          </a:prstGeom>
          <a:solidFill>
            <a:srgbClr val="0F3A5A"/>
          </a:solidFill>
          <a:ln w="12700">
            <a:solidFill>
              <a:srgbClr val="0F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68880" y="22677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 + skew + CV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3134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Range, centre, spread, skew per variable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24912"/>
            <a:ext cx="20116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7249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categorical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0" y="2724912"/>
            <a:ext cx="2194560" cy="347472"/>
          </a:xfrm>
          <a:prstGeom prst="rect">
            <a:avLst/>
          </a:prstGeom>
          <a:solidFill>
            <a:srgbClr val="0F3A5A"/>
          </a:solidFill>
          <a:ln w="12700">
            <a:solidFill>
              <a:srgbClr val="0F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468880" y="27249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.value_counts(normalize=True)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7706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proportions, rare values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182112"/>
            <a:ext cx="20116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1821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groupby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68880" y="3182112"/>
            <a:ext cx="2194560" cy="347472"/>
          </a:xfrm>
          <a:prstGeom prst="rect">
            <a:avLst/>
          </a:prstGeom>
          <a:solidFill>
            <a:srgbClr val="0F3A5A"/>
          </a:solidFill>
          <a:ln w="12700">
            <a:solidFill>
              <a:srgbClr val="0F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468880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.groupby().agg({...})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2278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Group-level comparison of multiple metrics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639312"/>
            <a:ext cx="20116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36393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Crosstab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3639312"/>
            <a:ext cx="2194560" cy="347472"/>
          </a:xfrm>
          <a:prstGeom prst="rect">
            <a:avLst/>
          </a:prstGeom>
          <a:solidFill>
            <a:srgbClr val="0F3A5A"/>
          </a:solidFill>
          <a:ln w="12700">
            <a:solidFill>
              <a:srgbClr val="0F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468880" y="36393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pd.crosstab()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6850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× category with row % normalisation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20116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40965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68880" y="4096512"/>
            <a:ext cx="2194560" cy="347472"/>
          </a:xfrm>
          <a:prstGeom prst="rect">
            <a:avLst/>
          </a:prstGeom>
          <a:solidFill>
            <a:srgbClr val="0F3A5A"/>
          </a:solidFill>
          <a:ln w="12700">
            <a:solidFill>
              <a:srgbClr val="0F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468880" y="40965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pd.pivot_table()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41422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metric across two dimensions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553712"/>
            <a:ext cx="20116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45537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register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68880" y="4553712"/>
            <a:ext cx="2194560" cy="347472"/>
          </a:xfrm>
          <a:prstGeom prst="rect">
            <a:avLst/>
          </a:prstGeom>
          <a:solidFill>
            <a:srgbClr val="0F3A5A"/>
          </a:solidFill>
          <a:ln w="12700">
            <a:solidFill>
              <a:srgbClr val="0F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468880" y="45537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 / Python dict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54880" y="45994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findings + next steps for Parts 2 &amp; 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5074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gives you the MAP. Parts 2 and 3 give you the images to confirm what the map suggested.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</TotalTime>
  <Words>1989</Words>
  <Application>Microsoft Office PowerPoint</Application>
  <PresentationFormat>Presentación en pantalla (16:9)</PresentationFormat>
  <Paragraphs>323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— Part 1: Univariate &amp; Multivariate Exploration</dc:title>
  <dc:subject>PptxGenJS Presentation</dc:subject>
  <dc:creator>PptxGenJS</dc:creator>
  <cp:lastModifiedBy>Berrone, Pascual</cp:lastModifiedBy>
  <cp:revision>5</cp:revision>
  <dcterms:created xsi:type="dcterms:W3CDTF">2026-05-12T11:09:59Z</dcterms:created>
  <dcterms:modified xsi:type="dcterms:W3CDTF">2026-05-13T07:11:58Z</dcterms:modified>
</cp:coreProperties>
</file>